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72" r:id="rId3"/>
    <p:sldId id="265" r:id="rId4"/>
    <p:sldId id="273" r:id="rId5"/>
    <p:sldId id="267" r:id="rId6"/>
    <p:sldId id="266" r:id="rId7"/>
    <p:sldId id="271" r:id="rId8"/>
    <p:sldId id="261" r:id="rId9"/>
    <p:sldId id="259" r:id="rId10"/>
    <p:sldId id="260" r:id="rId11"/>
    <p:sldId id="262" r:id="rId12"/>
    <p:sldId id="268" r:id="rId13"/>
    <p:sldId id="270" r:id="rId14"/>
    <p:sldId id="258" r:id="rId15"/>
    <p:sldId id="263" r:id="rId16"/>
    <p:sldId id="276" r:id="rId17"/>
    <p:sldId id="277" r:id="rId18"/>
    <p:sldId id="278" r:id="rId19"/>
    <p:sldId id="279" r:id="rId20"/>
    <p:sldId id="280" r:id="rId21"/>
    <p:sldId id="281" r:id="rId22"/>
    <p:sldId id="282" r:id="rId23"/>
    <p:sldId id="283" r:id="rId24"/>
    <p:sldId id="284" r:id="rId25"/>
  </p:sldIdLst>
  <p:sldSz cx="18288000" cy="10287000"/>
  <p:notesSz cx="6858000" cy="9144000"/>
  <p:embeddedFontLst>
    <p:embeddedFont>
      <p:font typeface="Poppins"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jyHu+PG3BS31uLrANHxUbZHjK0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99B79D2-276F-47FF-9ABA-7E0927ABDCBF}">
  <a:tblStyle styleId="{399B79D2-276F-47FF-9ABA-7E0927ABDCB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70"/>
    <p:restoredTop sz="60807"/>
  </p:normalViewPr>
  <p:slideViewPr>
    <p:cSldViewPr snapToGrid="0">
      <p:cViewPr varScale="1">
        <p:scale>
          <a:sx n="46" d="100"/>
          <a:sy n="46" d="100"/>
        </p:scale>
        <p:origin x="3304"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lawtimes.co.kr/news/articleView.html?idxno=226177"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www.korea.kr/news/policyNewsView.do?newsId=148971656" TargetMode="External"/><Relationship Id="rId5" Type="http://schemas.openxmlformats.org/officeDocument/2006/relationships/hyperlink" Target="https://zdnet.co.kr/view/?no=20260601171735" TargetMode="External"/><Relationship Id="rId4" Type="http://schemas.openxmlformats.org/officeDocument/2006/relationships/hyperlink" Target="https://www.lawtimes.co.kr/news/articleView.html?idxno=216853"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안녕하세요, 보고서 엔진 파트를 맡은 송예린입니다.</a:t>
            </a:r>
          </a:p>
          <a:p>
            <a:r>
              <a:t>앞에서 스캐너가 취약점을 찾고, 법적 영향 분석 모듈이 ISMS-P 기준과 법령 조문을 붙였는데요.</a:t>
            </a:r>
          </a:p>
          <a:p>
            <a:r>
              <a:t>제 파트는 그 결과 JSON을 받아서 경영진과 실무진이 바로 읽을 수 있는 보고서 두 종류로 만드는 부분입니다.</a:t>
            </a:r>
          </a:p>
          <a:p>
            <a:r>
              <a:t>문제 제기, 설계 아이디어, 기술 스택과 데이터, 생성 흐름과 검증 코드, 결과물, 정량 결과 순서로 말씀드리겠습니다.</a:t>
            </a: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먼저 왜 보고서 엔진을 따로 만들었는지부터 말씀드리겠습니다.</a:t>
            </a:r>
          </a:p>
          <a:p>
            <a:r>
              <a:t>진단 결과를 LLM에게 통째로 주고 보고서를 써 달라고 하면 문장은 그럴듯하지만, 과징금 금액을 지어내거나, 없는 조문이나 사례를 인용하거나, 취약점 하나를 빠뜨리는 일이 생길 수 있습니다. 보안 진단 보고서에서 숫자와 법 조문이 틀리면 보고서 전체를 믿을 수 없게 됩니다.</a:t>
            </a:r>
          </a:p>
          <a:p>
            <a:r>
              <a:t>그래서 보고서 엔진은 오른쪽처럼 설계했습니다. 원화 금액은 LLM에 아예 넘기지 않고, 취약점·법령·사례는 ID로만 참조하게 한 뒤 코드가 실제 데이터와 대조합니다. 사례는 검색된 후보 안에서만 고를 수 있고, 로드맵에서 빠진 취약점은 코드가 채웁니다.</a:t>
            </a:r>
          </a:p>
          <a:p>
            <a:r>
              <a:t>이 설계가 실제로 어떻게 구현됐는지 다음 장부터 보여드리겠습니다.</a:t>
            </a:r>
          </a:p>
        </p:txBody>
      </p:sp>
      <p:sp>
        <p:nvSpPr>
          <p:cNvPr id="797" name="Google Shape;797;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핵심 아이디어는 '판정은 코드로'입니다. LLM이 판단하면 안 되는 부분을 세 가지로 나눠 코드로 만들었습니다.</a:t>
            </a:r>
          </a:p>
          <a:p>
            <a:r>
              <a:t>첫째, 사례 지식베이스입니다. 개인정보보호위원회 처분 보도자료 15건에서 사례 카드 30장을 만들고, 취약점마다 비슷한 사례를 찾습니다. ISMS-P 기준과 취약점 유형이 둘 다 맞으면 '동일 결함', 유형만 맞으면 '같은 유형', ISMS-P만 맞으면 '관련 통제', 나머지는 '참고'로 등급을 붙여서, 관련 없는 사례가 근거처럼 보이지 않게 했습니다.</a:t>
            </a:r>
          </a:p>
          <a:p>
            <a:r>
              <a:t>둘째, 과징금 노출입니다. 2026년 9월 시행 개정 개인정보 보호법 기준으로 매출의 3%인 법정 상한, 투자 감경 최대 40%, ISMS-P 감경 최대 30%를 계산하고, 유사 사례의 실제 과징금 분포를 함께 보여줍니다. 법정 상한은 최대치일 뿐 예상 부과액이 아니라는 경고도 같이 넣었습니다.</a:t>
            </a:r>
          </a:p>
          <a:p>
            <a:r>
              <a:t>셋째, 조치 우선순위는 심각도, 개인정보 자산 여부, 사례 근거를 곱한 점수로 정합니다. 공식은 실무진용 보고서 부록에 그대로 공개합니다.</a:t>
            </a:r>
          </a:p>
          <a:p>
            <a:r>
              <a:t>정리하면, 판정은 코드가 하고, 문장은 AI가 쓰고, 숫자와 조문은 원본 데이터에서 그대로 가져옵니다.</a:t>
            </a:r>
          </a:p>
        </p:txBody>
      </p:sp>
      <p:sp>
        <p:nvSpPr>
          <p:cNvPr id="386" name="Google Shape;38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사용한 기술입니다.</a:t>
            </a:r>
          </a:p>
          <a:p>
            <a:r>
              <a:t>문장 생성은 OpenAI GPT-4o를 썼습니다. temperature 0.2로 낮게 두고 JSON 모드로 출력 형식을 고정했으며, 진단 한 건당 딱 한 번만 호출합니다. 호출 코드는 call_llm 함수 하나에만 있어서, 환경 변수만 바꾸면 Claude로도 교체할 수 있습니다.</a:t>
            </a:r>
          </a:p>
          <a:p>
            <a:r>
              <a:t>사례 검색은 OpenAI text-embedding-3-small 임베딩과 ChromaDB를 썼습니다. 코사인 유사도에 메타데이터 필터를 함께 걸어서 등급별로 검색합니다.</a:t>
            </a:r>
          </a:p>
          <a:p>
            <a:r>
              <a:t>보고서는 Python과 Jinja2 템플릿으로 HTML을 만든 뒤, WeasyPrint로 PDF를 만듭니다. 한글 폰트는 Pretendard를 임베드했습니다.</a:t>
            </a:r>
          </a:p>
          <a:p>
            <a:r>
              <a:t>사례 시트 변환은 openpyxl, 과징금 계산과 우선순위는 외부 라이브러리 없이 규칙 기반 Python 코드로 작성했습니다.</a:t>
            </a:r>
          </a:p>
        </p:txBody>
      </p:sp>
      <p:sp>
        <p:nvSpPr>
          <p:cNvPr id="875" name="Google Shape;875;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프롬프트는 다섯 가지 원칙으로 설계했습니다.</a:t>
            </a:r>
          </a:p>
          <a:p>
            <a:r>
              <a:t>첫째, 역할 분리입니다. 시스템 프롬프트에 규칙 16개를 두고, 판정은 이미 끝났으니 주어진 사실로 문장만 쓰라고 지시합니다.</a:t>
            </a:r>
          </a:p>
          <a:p>
            <a:r>
              <a:t>둘째, 대조 예시입니다. '보안 강화가 시급합니다' 같은 일반론은 나쁜 예, '주문번호만 알면 남의 배송지를 볼 수 있음'처럼 구체적인 문장은 좋은 예로 넣어서 기대하는 문장 수준을 보여줬습니다. Few-shot 방식입니다.</a:t>
            </a:r>
          </a:p>
          <a:p>
            <a:r>
              <a:t>셋째, 출력은 정해진 JSON 스키마로만 받습니다. 한 줄 결론, 핵심 위험, 로드맵, 경영진 결정 사항, 취약점별 설명 칸이 정해져 있습니다.</a:t>
            </a:r>
          </a:p>
          <a:p>
            <a:r>
              <a:t>넷째, 사례는 벡터 검색으로 찾은 후보만 프롬프트에 넣고 그 안에서만 고르게 했습니다. 검색 결과로 생성을 보강하는 RAG 방식입니다.</a:t>
            </a:r>
          </a:p>
          <a:p>
            <a:r>
              <a:t>다섯째, 원화 금액은 프롬프트에 아예 넣지 않고, 취약점·조문·사례는 ID로만 참조하게 했습니다. 금액은 나중에 템플릿이 원본 데이터에서 직접 채웁니다.</a:t>
            </a:r>
          </a:p>
        </p:txBody>
      </p:sp>
      <p:sp>
        <p:nvSpPr>
          <p:cNvPr id="501" name="Google Shape;50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보고서가 근거로 쓰는 데이터는 이렇게 만들었습니다.</a:t>
            </a:r>
          </a:p>
          <a:p>
            <a:r>
              <a:t>첫째, 사례 카드화입니다. 2023년부터 2026년까지 개인정보보호위원회 처분 보도자료 PDF 15건을 모으고, 엑셀 시트에 처분 사례 카드 30장으로 정리했습니다. 기관, 처분일, 사실관계, 처분 결과, 과징금, 출처 링크를 칸으로 나누고, 취약점 유형·공격 태그·ISMS-P 기준은 드롭다운으로만 고르게 해서 표기를 통일했습니다.</a:t>
            </a:r>
          </a:p>
          <a:p>
            <a:r>
              <a:t>둘째, convert_cases.py가 시트를 검사합니다. 필수값, 날짜 형식, 사례 ID 형식과 중복, 금액 칸, 원본 PDF 존재 여부를 확인하고, 오류가 하나라도 있으면 JSON을 만들지 않습니다.</a:t>
            </a:r>
          </a:p>
          <a:p>
            <a:r>
              <a:t>셋째, 벡터 DB 적재입니다. 사례가 짧아서 청크로 나누지 않고 카드 1장을 문서 1개로 임베딩했습니다. 취약점 유형과 ISMS-P 기준은 메타데이터 플래그로 함께 저장해서, 검색할 때 등급별 필터로 씁니다. 적재는 매번 새로 만들어서 시트에서 지운 내용이 남지 않게 했습니다.</a:t>
            </a:r>
          </a:p>
          <a:p>
            <a:r>
              <a:t>넷째, 실무진용 보고서의 판단 기준과 조치 방법은 KISA 2026 상세가이드의 웹 21개 항목 원문을 JSON 카탈로그로 정리해서 그대로 씁니다.</a:t>
            </a:r>
          </a:p>
        </p:txBody>
      </p:sp>
      <p:sp>
        <p:nvSpPr>
          <p:cNvPr id="441" name="Google Shape;441;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전체 생성 흐름은 네 단계입니다.</a:t>
            </a:r>
          </a:p>
          <a:p>
            <a:r>
              <a:t>첫째, 코드가 판정합니다. 법적 영향 분석 모듈의 출력 JSON을 받아서 취약 항목 통계, 전체 위험 수준, 유사 사례 검색, 과징금 노출액까지 전부 코드로 계산합니다. 예를 들어 개인정보를 처리하는 자산에 위험도 '상' 취약점이 있으면 전체 위험 수준은 '심각'이 됩니다.</a:t>
            </a:r>
          </a:p>
          <a:p>
            <a:r>
              <a:t>둘째, LLM은 딱 한 번만 호출합니다. 판정이 이미 끝난 사실만 넘기고, LLM은 경영진용 한 줄 결론, 핵심 위험, 조치 로드맵 같은 문장만 씁니다.</a:t>
            </a:r>
          </a:p>
          <a:p>
            <a:r>
              <a:t>셋째, 검증 단계에서 LLM이 언급한 취약점, 법령, 사례 ID를 실제 데이터와 대조해서 없는 ID는 지우고, 로드맵에서 빠진 취약점은 코드가 채워 넣습니다.</a:t>
            </a:r>
          </a:p>
          <a:p>
            <a:r>
              <a:t>넷째, 같은 데이터를 템플릿 두 개에 넣어서 경영진용 슬라이드와 실무진용 상세 보고서 PDF를 만듭니다.</a:t>
            </a:r>
          </a:p>
        </p:txBody>
      </p:sp>
      <p:sp>
        <p:nvSpPr>
          <p:cNvPr id="728" name="Google Shape;728;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h32a9095667746e3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세 번째 단계인 검증의 실제 코드입니다.</a:t>
            </a:r>
          </a:p>
          <a:p>
            <a:r>
              <a:t>keep 함수가 LLM이 쓴 ID 목록에서 실제 데이터에 있는 것만 남기고, 나머지는 경고와 함께 지웁니다. 취약점 ID, 법령 코드, 사례 ID에 모두 같은 함수를 씁니다.</a:t>
            </a:r>
          </a:p>
          <a:p>
            <a:r>
              <a:t>사례는 더 엄격합니다. 그 위험에 묶인 취약점의 검색 후보 중, 참고 사례를 뺀 등급 안에 있어야만 인정합니다. 인정되는 사례가 하나도 없으면 코드가 가장 등급이 높은 후보를 대신 연결합니다.</a:t>
            </a:r>
          </a:p>
          <a:p>
            <a:r>
              <a:t>아래쪽은 문장에 원화 금액이 섞였는지 정규식으로 찾는 부분입니다. 금액은 템플릿만 쓰기로 했기 때문에 문장에서 금액이 발견되면 경고로 남깁니다. 이 부분은 자동으로 지우지는 않고 경고만 하기 때문에, 경고가 나오면 사람이 확인해야 합니다.</a:t>
            </a:r>
          </a:p>
          <a:p>
            <a:r>
              <a:t>검증 결과는 run_log.json 파일에 남아서 보고서마다 무엇이 걸렸는지 추적할 수 있습니다.</a:t>
            </a:r>
          </a:p>
        </p:txBody>
      </p:sp>
      <p:sp>
        <p:nvSpPr>
          <p:cNvPr id="246" name="Google Shape;246;h32a9095667746e33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여기서부터는 실제 결과물입니다. 법적 영향 분석 모듈이 만든 SCAN-2026-002 JSON을 그대로 넣었습니다.</a:t>
            </a:r>
          </a:p>
          <a:p>
            <a:r>
              <a:t>화면은 경영진용 보고서의 진단 결론 장표입니다. '다른 수강생의 성적과 개인정보가 노출될 수 있습니다'라는 한 줄 결론은 LLM이 썼고, 그 아래 전체 위험 수준 '심각'과 취약 항목 수는 코드가 판정한 값입니다.</a:t>
            </a:r>
          </a:p>
          <a:p>
            <a:r>
              <a:t>경영진용은 16:9 슬라이드 7장으로 결론, 핵심 위험, 법적 근거와 사례, 과징금 노출, 조치 로드맵, 경영진 결정 사항을 담습니다.</a:t>
            </a:r>
          </a:p>
          <a:p>
            <a:r>
              <a:t>이 진단에서는 법정 상한 1억 5,000만 원이 계산됐고, 같은 유형 결함으로 처분받은 사례 4건이 근거로 인용됐습니다.</a:t>
            </a:r>
          </a:p>
        </p:txBody>
      </p:sp>
      <p:sp>
        <p:nvSpPr>
          <p:cNvPr id="175" name="Google Shape;17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다음은 실무진용 보고서입니다. A4 7쪽으로 진단 개요, 결과 요약, 취약점 상세, 부록 순서입니다.</a:t>
            </a:r>
          </a:p>
          <a:p>
            <a:r>
              <a:t>화면은 취약점 상세 쪽입니다. 불충분한 권한 검증 항목에 대해 설명과 영향은 LLM이 쓴 문장이고, 현황은 진단 근거, 판단 기준과 조치 방법은 KISA 가이드 원문을 그대로 가져왔습니다.</a:t>
            </a:r>
          </a:p>
          <a:p>
            <a:r>
              <a:t>관련 법령 칸에는 법적 영향 분석 모듈이 붙인 조문 원문과 매핑 근거가 들어갑니다. 해당 항이 지정된 조문은 그 항만 잘라서 보여주고, 사람이 아직 검토하지 않은 매핑에는 '검토 전' 표시를 붙여서 단정하지 않게 했습니다.</a:t>
            </a:r>
          </a:p>
        </p:txBody>
      </p:sp>
      <p:sp>
        <p:nvSpPr>
          <p:cNvPr id="211" name="Google Shape;21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h32a9095667746e33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실무진용 보고서 부록입니다. 보고서에 나온 숫자를 믿으려면 그 숫자가 어디서 나왔는지 알 수 있어야 해서, 산정 근거를 부록에 그대로 실었습니다.</a:t>
            </a:r>
          </a:p>
          <a:p>
            <a:r>
              <a:t>4.2 보고서 생성 방식에는 어떤 부분을 코드가 판정했고, 어떤 문장을 AI가 썼고, 어떤 내용을 원문에서 가져왔는지 밝혀 둡니다.</a:t>
            </a:r>
          </a:p>
          <a:p>
            <a:r>
              <a:t>4.3 과징금 노출 산정에는 법정 상한 1억 5,000만 원이 매출 50억 원의 3%라는 계산 근거와 법 조항, 10% 특례 요건 세 가지의 해당 여부, 투자 감경과 ISMS-P 감경 한도가 들어갑니다.</a:t>
            </a:r>
          </a:p>
          <a:p>
            <a:r>
              <a:t>그 뒤 4.4에는 조치 우선순위 점수와 공식, 4.5에는 계산에 쓴 가정과 계산에서 제외한 항목, 그리고 제외한 이유가 들어갑니다.</a:t>
            </a:r>
          </a:p>
        </p:txBody>
      </p:sp>
      <p:sp>
        <p:nvSpPr>
          <p:cNvPr id="281" name="Google Shape;281;h32a9095667746e33_0_3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보고서 엔진 방식이 실제로 효과가 있는지 확인하려고 LLM 단독 작성과 비교 실험을 했습니다.</a:t>
            </a:r>
          </a:p>
          <a:p>
            <a:r>
              <a:t>두 조건 모두 같은 GPT-4o, temperature 0.2, 같은 JSON 출력 형식을 썼고, 진단 3건을 조건마다 5번씩, 총 30번 생성했습니다. 차이는 입력과 규칙뿐입니다. LLM 단독은 진단 JSON 원본, 매출이 들어간 고객사 정보, 과징금이 들어간 사례 카드를 그대로 받고 '과징금 노출과 유사 사례도 포함해 달라'는 단순한 요청을 받았습니다. 보고서 엔진은 실제 파이프라인 그대로 실행했습니다.</a:t>
            </a:r>
          </a:p>
          <a:p>
            <a:r>
              <a:t>결과는 코드로 자동 채점했습니다. LLM 단독은 15건 모두에 오류가 하나 이상 있었습니다. 가장 많은 오류는 '양호'로 판정된 항목을 취약점처럼 보고서에 쓴 경우로 23건이었고, 그 위험과 관련성이 낮은 사례를 근거로 인용한 경우가 13건이었습니다. 원본 어디에도 없는 '423억 원'이라는 금액을 지어낸 경우도 1건 있었습니다.</a:t>
            </a:r>
          </a:p>
          <a:p>
            <a:r>
              <a:t>특히 경영진 요약에 '유사 사례에서 과징금이 최대 213억 원에 달한 바 있다'는 문장이 들어간 경우가 있었는데, 이 고객사의 법정 상한은 1억 5,000만 원입니다. 다른 대기업의 과징금을 이 회사의 위험처럼 읽히게 만드는 문장이라, 보고서 엔진이 LLM에 금액을 아예 넘기지 않는 이유가 바로 이것입니다.</a:t>
            </a:r>
          </a:p>
          <a:p>
            <a:r>
              <a:t>보고서 엔진은 검증 단계를 거치기 전의 LLM 출력에서도 모든 유형이 0건이었습니다. 규칙과 정리된 입력만으로 오류가 막혔고, 검증 단계는 그래도 새어 나오는 경우를 잡는 안전장치 역할입니다.</a:t>
            </a:r>
          </a:p>
        </p:txBody>
      </p:sp>
      <p:sp>
        <p:nvSpPr>
          <p:cNvPr id="575" name="Google Shape;57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마지막으로 정량 결과를 정리하겠습니다. 모두 직접 실행해서 측정한 값입니다.</a:t>
            </a:r>
          </a:p>
          <a:p>
            <a:r>
              <a:t>첫째, 비교 실험에서 보고서 엔진이 만든 보고서 15건은 오류가 0건이었습니다. 같은 조건의 LLM 단독은 15건 모두에 오류가 있었습니다. 이 실험 전에 실제로 GPT-4o를 호출해 만든 보고서 3건도 검증 경고가 모두 0건이었습니다.</a:t>
            </a:r>
          </a:p>
          <a:p>
            <a:r>
              <a:t>둘째, 검증 단계가 실제로 오류를 잡는지 확인하려고, 저장된 LLM 출력에 없는 취약점 ID, 없는 조문, 후보 밖 사례, 근거 없는 위험, 문장 속 금액, 로드맵 누락, 설명 누락, 없는 로드맵 단계까지 8종을 일부러 넣어 봤고, 8종 모두 제거되거나 경고로 잡혔습니다. 다만 문장 속 금액은 지우지 않고 경고만 합니다.</a:t>
            </a:r>
          </a:p>
          <a:p>
            <a:r>
              <a:t>셋째, 보고서 한 건을 만드는 데 약 9.5초가 걸립니다. GPT-4o 응답이 평균 7.9초, 사례 검색과 PDF 두 개 렌더링이 1.6초입니다. 두 값은 따로 측정해서 더한 값입니다.</a:t>
            </a:r>
          </a:p>
          <a:p>
            <a:r>
              <a:t>넷째, LLM에 넘기는 입력은 평균 4,923토큰으로, 원본을 통째로 넘긴 LLM 단독의 8,580토큰보다 43% 적습니다. 필요한 사실만 골라 넘기고 금액은 빼기 때문입니다.</a:t>
            </a:r>
          </a:p>
          <a:p>
            <a:r>
              <a:t>그리고 세 진단의 취약점 8건 중 7건에서 ISMS-P 기준과 취약점 유형이 모두 맞는 '동일 결함' 처분 사례를 찾았습니다.</a:t>
            </a:r>
          </a:p>
          <a:p>
            <a:r>
              <a:t>한계도 말씀드리면, 실험은 진단 3건, 조건당 15번 규모였고 고객사 정보는 가상의 교육 플랫폼 기준입니다. 이상으로 보고서 엔진 발표를 마치겠습니다.</a:t>
            </a:r>
          </a:p>
        </p:txBody>
      </p:sp>
      <p:sp>
        <p:nvSpPr>
          <p:cNvPr id="661" name="Google Shape;661;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여기부터는 질의응답에 대비해 설계를 자세히 정리한 부분입니다.</a:t>
            </a:r>
          </a:p>
          <a:p>
            <a:r>
              <a:t>질문마다 왼쪽에는 실제 코드와 실제 보고서 출력을 근거로 넣었고, 오른쪽에는 질문과 답변 요점을 적었습니다.</a:t>
            </a:r>
          </a:p>
          <a:p>
            <a:r>
              <a:t>코드 줄 번호는 팀 레포 main 브랜치의 vuln_assessment 폴더 기준입니다.</a:t>
            </a:r>
          </a:p>
        </p:txBody>
      </p:sp>
      <p:sp>
        <p:nvSpPr>
          <p:cNvPr id="148" name="Google Shape;14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h32a9095667746e33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LLM이 쓴 ID는 그대로 보고서에 들어가지 않고, engine.py의 validate() 함수가 원본 데이터와 대조한 뒤에만 들어갑니다.</a:t>
            </a:r>
          </a:p>
          <a:p>
            <a:r>
              <a:t>keep() 함수는 LLM이 낸 ID 목록에서 원본 facts에 실제로 있는 ID만 남기고, 나머지는 '존재하지 않는 ID 제거'라는 경고와 함께 버립니다. 취약점 ID, 법령 코드, 사례 ID에 모두 같은 함수를 씁니다.</a:t>
            </a:r>
          </a:p>
          <a:p>
            <a:r>
              <a:t>위험 항목 하나에 유효한 취약점이 하나도 남지 않으면, 그 위험 항목 자체를 보고서에서 지웁니다.</a:t>
            </a:r>
          </a:p>
          <a:p>
            <a:r>
              <a:t>사례는 더 엄격해서, 원본에 있는 사례라도 그 위험에 묶인 취약점의 검색 후보이면서 '참고 사례'보다 높은 등급일 때만 인정합니다.</a:t>
            </a:r>
          </a:p>
          <a:p>
            <a:r>
              <a:t>실제로 가짜 취약점 ID, 가짜 법령 코드, 후보 밖 사례, 근거 없는 위험 등을 넣어 시험했고, 화면 아래 경고처럼 모두 걸러졌습니다. 경고는 run_log.json 파일에 남습니다.</a:t>
            </a:r>
          </a:p>
          <a:p>
            <a:r>
              <a:t>단, 문장 속에 섞인 원화 금액은 자동으로 지우지 않고 경고만 남기므로 사람이 확인해야 합니다.</a:t>
            </a:r>
          </a:p>
        </p:txBody>
      </p:sp>
      <p:sp>
        <p:nvSpPr>
          <p:cNvPr id="316" name="Google Shape;316;h32a9095667746e33_0_6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임베딩 유사도만 쓰면 문장이 비슷할 뿐 결함 종류가 다른 사례가 섞여 나옵니다. 그래서 Chroma의 메타데이터 필터로 등급을 나눈 단계적 폴백 검색을 만들었습니다.</a:t>
            </a:r>
          </a:p>
          <a:p>
            <a:r>
              <a:t>적재할 때 사례 카드의 팀 취약점, 공격 태그, ISMS-P 기준, 위반 조항을 'isms_2_5_3: True' 같은 불리언 플래그로 펼쳐서 메타데이터에 저장합니다. Chroma 메타데이터에는 목록을 넣기 어렵기 때문입니다.</a:t>
            </a:r>
          </a:p>
          <a:p>
            <a:r>
              <a:t>검색할 때는 필터를 바꿔 가며 위에서부터 채웁니다. 1등급 '동일 결함'은 ISMS-P 기준과 팀 취약점이 둘 다 맞는 사례로 $and 조건, 2등급 '같은 취약점 유형'은 팀 취약점만 맞는 사례, 3등급 '관련 통제'는 ISMS-P 기준만 맞는 사례, 4등급 '참고'는 필터 없이 유사도만으로 찾은 사례입니다. 위 등급에서 후보 수가 모자랄 때만 다음 등급으로 내려갑니다.</a:t>
            </a:r>
          </a:p>
          <a:p>
            <a:r>
              <a:t>같은 보도자료에서 나온 카드는 한 건만 고르도록 해서, 비슷한 문장의 쌍둥이 카드가 결과를 독차지하지 않게 했습니다.</a:t>
            </a:r>
          </a:p>
          <a:p>
            <a:r>
              <a:t>4등급 참고 사례는 보고서에 인용하지 못하고, 과징금 분포 계산에서도 뺍니다. 비교 실험에서 LLM 단독은 관련성 낮은 사례를 13번 인용했지만 보고서 엔진은 0번이었습니다.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이 문제를 코드로 감지합니다. exposure.py의 compute()에서 유사 사례 과징금의 중앙값이 고객사 법정 상한보다 크면 median_exceeds_client_cap을 True로 두고, '사례 기업이 더 커서 생긴 차이이므로 사례 금액을 고객사 예상 과징금처럼 쓰면 안 되고, 상한을 넘는 과징금은 불가능하다'는 경고 문장을 만듭니다. 상한을 넘는 사례가 몇 건인지도 함께 셉니다.</a:t>
            </a:r>
          </a:p>
          <a:p>
            <a:r>
              <a:t>이 값은 템플릿 두 곳에서 씁니다. 경영진용 과징금 장표에는 중앙값이 상한을 넘을 때만 '사례 금액이 상한보다 큰 것은 사례 기업의 매출 규모가 더 크기 때문'이라는 각주가 붙고, 실무진용 부록 4.3에는 경고 문장이 그대로 실립니다.</a:t>
            </a:r>
          </a:p>
          <a:p>
            <a:r>
              <a:t>화면은 SCAN-2026-003 실무진용 부록의 실제 출력입니다.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판정과</a:t>
            </a:r>
            <a:r>
              <a:rPr dirty="0"/>
              <a:t> </a:t>
            </a:r>
            <a:r>
              <a:rPr dirty="0" err="1"/>
              <a:t>숫자는</a:t>
            </a:r>
            <a:r>
              <a:rPr dirty="0"/>
              <a:t> </a:t>
            </a:r>
            <a:r>
              <a:rPr dirty="0" err="1"/>
              <a:t>코드가</a:t>
            </a:r>
            <a:r>
              <a:rPr dirty="0"/>
              <a:t>, </a:t>
            </a:r>
            <a:r>
              <a:rPr dirty="0" err="1"/>
              <a:t>문장은</a:t>
            </a:r>
            <a:r>
              <a:rPr dirty="0"/>
              <a:t> </a:t>
            </a:r>
            <a:r>
              <a:rPr dirty="0" err="1"/>
              <a:t>AI가</a:t>
            </a:r>
            <a:r>
              <a:rPr dirty="0"/>
              <a:t> </a:t>
            </a:r>
            <a:r>
              <a:rPr dirty="0" err="1"/>
              <a:t>맡도록</a:t>
            </a:r>
            <a:r>
              <a:rPr dirty="0"/>
              <a:t> </a:t>
            </a:r>
            <a:r>
              <a:rPr dirty="0" err="1"/>
              <a:t>역할을</a:t>
            </a:r>
            <a:r>
              <a:rPr dirty="0"/>
              <a:t> </a:t>
            </a:r>
            <a:r>
              <a:rPr dirty="0" err="1"/>
              <a:t>나눴습니다</a:t>
            </a:r>
            <a:r>
              <a:rPr dirty="0"/>
              <a:t>.</a:t>
            </a:r>
          </a:p>
          <a:p>
            <a:r>
              <a:rPr dirty="0" err="1"/>
              <a:t>facts_for_llm</a:t>
            </a:r>
            <a:r>
              <a:rPr dirty="0"/>
              <a:t>()</a:t>
            </a:r>
            <a:r>
              <a:rPr dirty="0" err="1"/>
              <a:t>에서</a:t>
            </a:r>
            <a:r>
              <a:rPr dirty="0"/>
              <a:t> </a:t>
            </a:r>
            <a:r>
              <a:rPr dirty="0" err="1"/>
              <a:t>매출</a:t>
            </a:r>
            <a:r>
              <a:rPr dirty="0"/>
              <a:t>, </a:t>
            </a:r>
            <a:r>
              <a:rPr dirty="0" err="1"/>
              <a:t>사례</a:t>
            </a:r>
            <a:r>
              <a:rPr dirty="0"/>
              <a:t> </a:t>
            </a:r>
            <a:r>
              <a:rPr dirty="0" err="1"/>
              <a:t>과징금</a:t>
            </a:r>
            <a:r>
              <a:rPr dirty="0"/>
              <a:t>, </a:t>
            </a:r>
            <a:r>
              <a:rPr dirty="0" err="1"/>
              <a:t>노출액</a:t>
            </a:r>
            <a:r>
              <a:rPr dirty="0"/>
              <a:t> </a:t>
            </a:r>
            <a:r>
              <a:rPr dirty="0" err="1"/>
              <a:t>같은</a:t>
            </a:r>
            <a:r>
              <a:rPr dirty="0"/>
              <a:t> </a:t>
            </a:r>
            <a:r>
              <a:rPr dirty="0" err="1"/>
              <a:t>금액은</a:t>
            </a:r>
            <a:r>
              <a:rPr dirty="0"/>
              <a:t> LLM </a:t>
            </a:r>
            <a:r>
              <a:rPr dirty="0" err="1"/>
              <a:t>입력에서</a:t>
            </a:r>
            <a:r>
              <a:rPr dirty="0"/>
              <a:t> </a:t>
            </a:r>
            <a:r>
              <a:rPr dirty="0" err="1"/>
              <a:t>아예</a:t>
            </a:r>
            <a:r>
              <a:rPr dirty="0"/>
              <a:t> </a:t>
            </a:r>
            <a:r>
              <a:rPr dirty="0" err="1"/>
              <a:t>뺍니다</a:t>
            </a:r>
            <a:r>
              <a:rPr dirty="0"/>
              <a:t>. </a:t>
            </a:r>
            <a:r>
              <a:rPr dirty="0" err="1"/>
              <a:t>LLM은</a:t>
            </a:r>
            <a:r>
              <a:rPr dirty="0"/>
              <a:t> </a:t>
            </a:r>
            <a:r>
              <a:rPr dirty="0" err="1"/>
              <a:t>취약점·법령·사례를</a:t>
            </a:r>
            <a:r>
              <a:rPr dirty="0"/>
              <a:t> </a:t>
            </a:r>
            <a:r>
              <a:rPr dirty="0" err="1"/>
              <a:t>ID로만</a:t>
            </a:r>
            <a:r>
              <a:rPr dirty="0"/>
              <a:t> </a:t>
            </a:r>
            <a:r>
              <a:rPr dirty="0" err="1"/>
              <a:t>고르고</a:t>
            </a:r>
            <a:r>
              <a:rPr dirty="0"/>
              <a:t> </a:t>
            </a:r>
            <a:r>
              <a:rPr dirty="0" err="1"/>
              <a:t>문장만</a:t>
            </a:r>
            <a:r>
              <a:rPr dirty="0"/>
              <a:t> </a:t>
            </a:r>
            <a:r>
              <a:rPr dirty="0" err="1"/>
              <a:t>씁니다</a:t>
            </a:r>
            <a:r>
              <a:rPr dirty="0"/>
              <a:t>.</a:t>
            </a:r>
          </a:p>
          <a:p>
            <a:r>
              <a:rPr dirty="0" err="1"/>
              <a:t>렌더링</a:t>
            </a:r>
            <a:r>
              <a:rPr dirty="0"/>
              <a:t> </a:t>
            </a:r>
            <a:r>
              <a:rPr dirty="0" err="1"/>
              <a:t>직전에</a:t>
            </a:r>
            <a:r>
              <a:rPr dirty="0"/>
              <a:t> enrich() </a:t>
            </a:r>
            <a:r>
              <a:rPr dirty="0" err="1"/>
              <a:t>함수가</a:t>
            </a:r>
            <a:r>
              <a:rPr dirty="0"/>
              <a:t> </a:t>
            </a:r>
            <a:r>
              <a:rPr dirty="0" err="1"/>
              <a:t>LLM이</a:t>
            </a:r>
            <a:r>
              <a:rPr dirty="0"/>
              <a:t> </a:t>
            </a:r>
            <a:r>
              <a:rPr dirty="0" err="1"/>
              <a:t>고른</a:t>
            </a:r>
            <a:r>
              <a:rPr dirty="0"/>
              <a:t> </a:t>
            </a:r>
            <a:r>
              <a:rPr dirty="0" err="1"/>
              <a:t>법령</a:t>
            </a:r>
            <a:r>
              <a:rPr dirty="0"/>
              <a:t> </a:t>
            </a:r>
            <a:r>
              <a:rPr dirty="0" err="1"/>
              <a:t>코드와</a:t>
            </a:r>
            <a:r>
              <a:rPr dirty="0"/>
              <a:t> </a:t>
            </a:r>
            <a:r>
              <a:rPr dirty="0" err="1"/>
              <a:t>사례</a:t>
            </a:r>
            <a:r>
              <a:rPr dirty="0"/>
              <a:t> </a:t>
            </a:r>
            <a:r>
              <a:rPr dirty="0" err="1"/>
              <a:t>ID에</a:t>
            </a:r>
            <a:r>
              <a:rPr dirty="0"/>
              <a:t> </a:t>
            </a:r>
            <a:r>
              <a:rPr dirty="0" err="1"/>
              <a:t>원본</a:t>
            </a:r>
            <a:r>
              <a:rPr dirty="0"/>
              <a:t> </a:t>
            </a:r>
            <a:r>
              <a:rPr dirty="0" err="1"/>
              <a:t>데이터</a:t>
            </a:r>
            <a:r>
              <a:rPr dirty="0"/>
              <a:t>, </a:t>
            </a:r>
            <a:r>
              <a:rPr dirty="0" err="1"/>
              <a:t>즉</a:t>
            </a:r>
            <a:r>
              <a:rPr dirty="0"/>
              <a:t> </a:t>
            </a:r>
            <a:r>
              <a:rPr dirty="0" err="1"/>
              <a:t>조문</a:t>
            </a:r>
            <a:r>
              <a:rPr dirty="0"/>
              <a:t> </a:t>
            </a:r>
            <a:r>
              <a:rPr dirty="0" err="1"/>
              <a:t>이름과</a:t>
            </a:r>
            <a:r>
              <a:rPr dirty="0"/>
              <a:t> </a:t>
            </a:r>
            <a:r>
              <a:rPr dirty="0" err="1"/>
              <a:t>원문</a:t>
            </a:r>
            <a:r>
              <a:rPr dirty="0"/>
              <a:t>, </a:t>
            </a:r>
            <a:r>
              <a:rPr dirty="0" err="1"/>
              <a:t>사례</a:t>
            </a:r>
            <a:r>
              <a:rPr dirty="0"/>
              <a:t> </a:t>
            </a:r>
            <a:r>
              <a:rPr dirty="0" err="1"/>
              <a:t>정보와</a:t>
            </a:r>
            <a:r>
              <a:rPr dirty="0"/>
              <a:t> </a:t>
            </a:r>
            <a:r>
              <a:rPr dirty="0" err="1"/>
              <a:t>처분</a:t>
            </a:r>
            <a:r>
              <a:rPr dirty="0"/>
              <a:t> </a:t>
            </a:r>
            <a:r>
              <a:rPr dirty="0" err="1"/>
              <a:t>결과를</a:t>
            </a:r>
            <a:r>
              <a:rPr dirty="0"/>
              <a:t> </a:t>
            </a:r>
            <a:r>
              <a:rPr dirty="0" err="1"/>
              <a:t>다시</a:t>
            </a:r>
            <a:r>
              <a:rPr dirty="0"/>
              <a:t> </a:t>
            </a:r>
            <a:r>
              <a:rPr dirty="0" err="1"/>
              <a:t>붙입니다</a:t>
            </a:r>
            <a:r>
              <a:rPr dirty="0"/>
              <a:t>.</a:t>
            </a:r>
          </a:p>
          <a:p>
            <a:r>
              <a:rPr dirty="0" err="1"/>
              <a:t>금액은</a:t>
            </a:r>
            <a:r>
              <a:rPr dirty="0"/>
              <a:t> </a:t>
            </a:r>
            <a:r>
              <a:rPr dirty="0" err="1"/>
              <a:t>템플릿이</a:t>
            </a:r>
            <a:r>
              <a:rPr dirty="0"/>
              <a:t> exposure </a:t>
            </a:r>
            <a:r>
              <a:rPr dirty="0" err="1"/>
              <a:t>계산</a:t>
            </a:r>
            <a:r>
              <a:rPr dirty="0"/>
              <a:t> </a:t>
            </a:r>
            <a:r>
              <a:rPr dirty="0" err="1"/>
              <a:t>결과에서</a:t>
            </a:r>
            <a:r>
              <a:rPr dirty="0"/>
              <a:t> </a:t>
            </a:r>
            <a:r>
              <a:rPr dirty="0" err="1"/>
              <a:t>직접</a:t>
            </a:r>
            <a:r>
              <a:rPr dirty="0"/>
              <a:t> </a:t>
            </a:r>
            <a:r>
              <a:rPr dirty="0" err="1"/>
              <a:t>꺼내</a:t>
            </a:r>
            <a:r>
              <a:rPr dirty="0"/>
              <a:t> </a:t>
            </a:r>
            <a:r>
              <a:rPr dirty="0" err="1"/>
              <a:t>씁니다</a:t>
            </a:r>
            <a:r>
              <a:rPr dirty="0"/>
              <a:t>. </a:t>
            </a:r>
            <a:r>
              <a:rPr dirty="0" err="1"/>
              <a:t>예를</a:t>
            </a:r>
            <a:r>
              <a:rPr dirty="0"/>
              <a:t> </a:t>
            </a:r>
            <a:r>
              <a:rPr dirty="0" err="1"/>
              <a:t>들어</a:t>
            </a:r>
            <a:r>
              <a:rPr dirty="0"/>
              <a:t> </a:t>
            </a:r>
            <a:r>
              <a:rPr dirty="0" err="1"/>
              <a:t>법정</a:t>
            </a:r>
            <a:r>
              <a:rPr dirty="0"/>
              <a:t> </a:t>
            </a:r>
            <a:r>
              <a:rPr dirty="0" err="1"/>
              <a:t>상한은</a:t>
            </a:r>
            <a:r>
              <a:rPr dirty="0"/>
              <a:t> </a:t>
            </a:r>
            <a:r>
              <a:rPr dirty="0" err="1"/>
              <a:t>cap.cap_krw</a:t>
            </a:r>
            <a:r>
              <a:rPr dirty="0"/>
              <a:t> </a:t>
            </a:r>
            <a:r>
              <a:rPr dirty="0" err="1"/>
              <a:t>값을</a:t>
            </a:r>
            <a:r>
              <a:rPr dirty="0"/>
              <a:t> </a:t>
            </a:r>
            <a:r>
              <a:rPr dirty="0" err="1"/>
              <a:t>krw</a:t>
            </a:r>
            <a:r>
              <a:rPr dirty="0"/>
              <a:t> </a:t>
            </a:r>
            <a:r>
              <a:rPr dirty="0" err="1"/>
              <a:t>필터에</a:t>
            </a:r>
            <a:r>
              <a:rPr dirty="0"/>
              <a:t> </a:t>
            </a:r>
            <a:r>
              <a:rPr dirty="0" err="1"/>
              <a:t>넣어</a:t>
            </a:r>
            <a:r>
              <a:rPr dirty="0"/>
              <a:t> '1억 5,000만 </a:t>
            </a:r>
            <a:r>
              <a:rPr dirty="0" err="1"/>
              <a:t>원'으로</a:t>
            </a:r>
            <a:r>
              <a:rPr dirty="0"/>
              <a:t> </a:t>
            </a:r>
            <a:r>
              <a:rPr dirty="0" err="1"/>
              <a:t>표기만</a:t>
            </a:r>
            <a:r>
              <a:rPr dirty="0"/>
              <a:t> </a:t>
            </a:r>
            <a:r>
              <a:rPr dirty="0" err="1"/>
              <a:t>바꿉니다</a:t>
            </a:r>
            <a:r>
              <a:rPr dirty="0"/>
              <a:t>. </a:t>
            </a:r>
            <a:r>
              <a:rPr dirty="0" err="1"/>
              <a:t>그래서</a:t>
            </a:r>
            <a:r>
              <a:rPr dirty="0"/>
              <a:t> </a:t>
            </a:r>
            <a:r>
              <a:rPr dirty="0" err="1"/>
              <a:t>보고서의</a:t>
            </a:r>
            <a:r>
              <a:rPr dirty="0"/>
              <a:t> </a:t>
            </a:r>
            <a:r>
              <a:rPr dirty="0" err="1"/>
              <a:t>모든</a:t>
            </a:r>
            <a:r>
              <a:rPr dirty="0"/>
              <a:t> </a:t>
            </a:r>
            <a:r>
              <a:rPr dirty="0" err="1"/>
              <a:t>금액은</a:t>
            </a:r>
            <a:r>
              <a:rPr dirty="0"/>
              <a:t> </a:t>
            </a:r>
            <a:r>
              <a:rPr dirty="0" err="1"/>
              <a:t>코드가</a:t>
            </a:r>
            <a:r>
              <a:rPr dirty="0"/>
              <a:t> </a:t>
            </a:r>
            <a:r>
              <a:rPr dirty="0" err="1"/>
              <a:t>계산한</a:t>
            </a:r>
            <a:r>
              <a:rPr dirty="0"/>
              <a:t> </a:t>
            </a:r>
            <a:r>
              <a:rPr dirty="0" err="1"/>
              <a:t>원본</a:t>
            </a:r>
            <a:r>
              <a:rPr dirty="0"/>
              <a:t> </a:t>
            </a:r>
            <a:r>
              <a:rPr dirty="0" err="1"/>
              <a:t>값과</a:t>
            </a:r>
            <a:r>
              <a:rPr dirty="0"/>
              <a:t> </a:t>
            </a:r>
            <a:r>
              <a:rPr dirty="0" err="1"/>
              <a:t>항상</a:t>
            </a:r>
            <a:r>
              <a:rPr dirty="0"/>
              <a:t> </a:t>
            </a:r>
            <a:r>
              <a:rPr dirty="0" err="1"/>
              <a:t>같습니다</a:t>
            </a:r>
            <a:r>
              <a:rPr dirty="0"/>
              <a:t>.</a:t>
            </a:r>
            <a:endParaRPr lang="en-US" dirty="0"/>
          </a:p>
          <a:p>
            <a:endParaRPr lang="en-US" dirty="0"/>
          </a:p>
          <a:p>
            <a:endParaRPr lang="en-US" dirty="0"/>
          </a:p>
          <a:p>
            <a:endParaRPr lang="en-US" dirty="0"/>
          </a:p>
          <a:p>
            <a:endParaRPr lang="en-US" dirty="0"/>
          </a:p>
          <a:p>
            <a:endParaRPr lang="en-US" dirty="0"/>
          </a:p>
          <a:p>
            <a:endParaRPr lang="en-US" dirty="0"/>
          </a:p>
          <a:p>
            <a:pPr rtl="0"/>
            <a:r>
              <a:rPr lang="ko-KR" altLang="ko-KR" dirty="0"/>
              <a:t>은 질문이야. 슬라이드에 나오는 "</a:t>
            </a:r>
            <a:r>
              <a:rPr lang="ko-KR" altLang="ko-KR" dirty="0" err="1"/>
              <a:t>상한"은</a:t>
            </a:r>
            <a:r>
              <a:rPr lang="ko-KR" altLang="ko-KR" dirty="0"/>
              <a:t> </a:t>
            </a:r>
            <a:r>
              <a:rPr lang="ko-KR" altLang="ko-KR" b="1" dirty="0"/>
              <a:t>고객사가 법적으로 맞을 수 있는 과징금의 천장</a:t>
            </a:r>
            <a:r>
              <a:rPr lang="ko-KR" altLang="ko-KR" dirty="0"/>
              <a:t>, 즉 코드 속 </a:t>
            </a:r>
            <a:r>
              <a:rPr lang="ko-KR" altLang="ko-KR" sz="1100" b="0" i="0" u="none" strike="noStrike" cap="none" spc="0" dirty="0" err="1">
                <a:solidFill>
                  <a:srgbClr val="000000"/>
                </a:solidFill>
                <a:latin typeface="Arial"/>
                <a:ea typeface="Arial"/>
                <a:cs typeface="Arial"/>
                <a:sym typeface="Arial"/>
              </a:rPr>
              <a:t>cap_krw</a:t>
            </a:r>
            <a:r>
              <a:rPr lang="ko-KR" altLang="ko-KR" dirty="0" err="1"/>
              <a:t>야</a:t>
            </a:r>
            <a:r>
              <a:rPr lang="ko-KR" altLang="ko-KR" dirty="0"/>
              <a:t>. 개인정보보호법 제64조의2(과징금의 부과)에서 나오는 그 상한.</a:t>
            </a:r>
          </a:p>
          <a:p>
            <a:pPr rtl="0"/>
            <a:r>
              <a:rPr lang="ko-KR" altLang="ko-KR" b="1" dirty="0"/>
              <a:t>왜 이 비교를 하냐</a:t>
            </a:r>
          </a:p>
          <a:p>
            <a:pPr rtl="0"/>
            <a:r>
              <a:rPr lang="ko-KR" altLang="ko-KR" dirty="0"/>
              <a:t>과징금은 정액이 아니라 </a:t>
            </a:r>
            <a:r>
              <a:rPr lang="ko-KR" altLang="ko-KR" b="1" dirty="0"/>
              <a:t>매출 연동</a:t>
            </a:r>
            <a:r>
              <a:rPr lang="ko-KR" altLang="ko-KR" dirty="0"/>
              <a:t>이야. 그래서 유사 처분 사례들(SKT, 카카오 같은 대기업)의 과징금 중앙값 20억은 "위반이 그만큼 </a:t>
            </a:r>
            <a:r>
              <a:rPr lang="ko-KR" altLang="ko-KR" dirty="0" err="1"/>
              <a:t>심각해서"가</a:t>
            </a:r>
            <a:r>
              <a:rPr lang="ko-KR" altLang="ko-KR" dirty="0"/>
              <a:t> 아니라 "그 회사 매출이 커서" 나온 숫자인 경우가 많아.</a:t>
            </a:r>
          </a:p>
          <a:p>
            <a:pPr rtl="0"/>
            <a:r>
              <a:rPr lang="ko-KR" altLang="ko-KR" dirty="0"/>
              <a:t>고객사가 중소 교육 플랫폼이면 매출 자체가 작으니까 상한도 낮게 잡히거든. 이때 보고서에 "유사 사례 중앙값 20억" 적어놓고 경영진이 이걸 자기 회사 예상 과징금으로 읽으면 → </a:t>
            </a:r>
            <a:r>
              <a:rPr lang="ko-KR" altLang="ko-KR" b="1" dirty="0"/>
              <a:t>법적으로 나올 수 없는 금액을 겁주기용으로 쓴 셈</a:t>
            </a:r>
            <a:r>
              <a:rPr lang="ko-KR" altLang="ko-KR" dirty="0"/>
              <a:t>이 돼. 질문자가 "신뢰도 떨어지지 </a:t>
            </a:r>
            <a:r>
              <a:rPr lang="ko-KR" altLang="ko-KR" dirty="0" err="1"/>
              <a:t>않냐"고</a:t>
            </a:r>
            <a:r>
              <a:rPr lang="ko-KR" altLang="ko-KR" dirty="0"/>
              <a:t> 묻는 게 정확히 이 지점이고, 네 코드는 </a:t>
            </a:r>
            <a:r>
              <a:rPr lang="ko-KR" altLang="ko-KR" sz="1100" b="0" i="0" u="none" strike="noStrike" cap="none" spc="0" dirty="0" err="1">
                <a:solidFill>
                  <a:srgbClr val="000000"/>
                </a:solidFill>
                <a:latin typeface="Arial"/>
                <a:ea typeface="Arial"/>
                <a:cs typeface="Arial"/>
                <a:sym typeface="Arial"/>
              </a:rPr>
              <a:t>median_krw</a:t>
            </a:r>
            <a:r>
              <a:rPr lang="ko-KR" altLang="ko-KR" sz="1100" b="0" i="0" u="none" strike="noStrike" cap="none" spc="0" dirty="0">
                <a:solidFill>
                  <a:srgbClr val="000000"/>
                </a:solidFill>
                <a:latin typeface="Arial"/>
                <a:ea typeface="Arial"/>
                <a:cs typeface="Arial"/>
                <a:sym typeface="Arial"/>
              </a:rPr>
              <a:t> &gt; </a:t>
            </a:r>
            <a:r>
              <a:rPr lang="ko-KR" altLang="ko-KR" sz="1100" b="0" i="0" u="none" strike="noStrike" cap="none" spc="0" dirty="0" err="1">
                <a:solidFill>
                  <a:srgbClr val="000000"/>
                </a:solidFill>
                <a:latin typeface="Arial"/>
                <a:ea typeface="Arial"/>
                <a:cs typeface="Arial"/>
                <a:sym typeface="Arial"/>
              </a:rPr>
              <a:t>cap_krw</a:t>
            </a:r>
            <a:r>
              <a:rPr lang="ko-KR" altLang="ko-KR" dirty="0" err="1"/>
              <a:t>일</a:t>
            </a:r>
            <a:r>
              <a:rPr lang="ko-KR" altLang="ko-KR" dirty="0"/>
              <a:t> 때 플래그를 세워서 "이건 사례 기업 규모 차이 </a:t>
            </a:r>
            <a:r>
              <a:rPr lang="ko-KR" altLang="ko-KR" dirty="0" err="1"/>
              <a:t>때문"이라고</a:t>
            </a:r>
            <a:r>
              <a:rPr lang="ko-KR" altLang="ko-KR" dirty="0"/>
              <a:t> 미리 자백하는 구조인 거지.</a:t>
            </a:r>
          </a:p>
          <a:p>
            <a:pPr rtl="0"/>
            <a:r>
              <a:rPr lang="ko-KR" altLang="ko-KR" b="1" dirty="0"/>
              <a:t>상한이 어떻게 계산되냐 (여기가 중요)</a:t>
            </a:r>
          </a:p>
          <a:p>
            <a:pPr rtl="0"/>
            <a:r>
              <a:rPr lang="ko-KR" altLang="ko-KR" dirty="0"/>
              <a:t>원칙은 전체 매출액의 3%, 매출액이 없거나 산정이 곤란하면 20억 원이야. 그런데 개정법은 세 경우에 한해 전체 매출액의 10%(산정 곤란 시 50억 원)까지 부과할 수 있게 했어. 그 세 경우는 (</a:t>
            </a:r>
            <a:r>
              <a:rPr lang="ko-KR" altLang="ko-KR" dirty="0" err="1"/>
              <a:t>i</a:t>
            </a:r>
            <a:r>
              <a:rPr lang="ko-KR" altLang="ko-KR" dirty="0"/>
              <a:t>) 과징금 부과일로부터 3년 이내 </a:t>
            </a:r>
            <a:r>
              <a:rPr lang="ko-KR" altLang="ko-KR" dirty="0" err="1"/>
              <a:t>재위반</a:t>
            </a:r>
            <a:r>
              <a:rPr lang="ko-KR" altLang="ko-KR" dirty="0"/>
              <a:t>(</a:t>
            </a:r>
            <a:r>
              <a:rPr lang="ko-KR" altLang="ko-KR" dirty="0" err="1"/>
              <a:t>고의·중과실</a:t>
            </a:r>
            <a:r>
              <a:rPr lang="ko-KR" altLang="ko-KR" dirty="0"/>
              <a:t>), (</a:t>
            </a:r>
            <a:r>
              <a:rPr lang="ko-KR" altLang="ko-KR" dirty="0" err="1"/>
              <a:t>ii</a:t>
            </a:r>
            <a:r>
              <a:rPr lang="ko-KR" altLang="ko-KR" dirty="0"/>
              <a:t>) </a:t>
            </a:r>
            <a:r>
              <a:rPr lang="ko-KR" altLang="ko-KR" dirty="0" err="1"/>
              <a:t>고의·중과실로</a:t>
            </a:r>
            <a:r>
              <a:rPr lang="ko-KR" altLang="ko-KR" dirty="0"/>
              <a:t> 인한 피해 규모 1천만 명 이상, (</a:t>
            </a:r>
            <a:r>
              <a:rPr lang="ko-KR" altLang="ko-KR" dirty="0" err="1"/>
              <a:t>iii</a:t>
            </a:r>
            <a:r>
              <a:rPr lang="ko-KR" altLang="ko-KR" dirty="0"/>
              <a:t>) 시정명령 불이행으로 유출 발생. </a:t>
            </a:r>
            <a:r>
              <a:rPr lang="ko-KR" altLang="ko-KR" dirty="0" err="1">
                <a:hlinkClick r:id="rId3"/>
              </a:rPr>
              <a:t>lawtimes</a:t>
            </a:r>
            <a:r>
              <a:rPr lang="ko-KR" altLang="ko-KR" dirty="0" err="1">
                <a:hlinkClick r:id="rId4"/>
              </a:rPr>
              <a:t>lawtimes</a:t>
            </a:r>
            <a:endParaRPr lang="ko-KR" altLang="ko-KR" dirty="0"/>
          </a:p>
          <a:p>
            <a:pPr rtl="0"/>
            <a:r>
              <a:rPr lang="ko-KR" altLang="ko-KR" b="1" dirty="0"/>
              <a:t>그리고 이거 아주 최근 일이야</a:t>
            </a:r>
            <a:r>
              <a:rPr lang="ko-KR" altLang="ko-KR" dirty="0"/>
              <a:t> — 2026년 3월 10일 공포, 9월 11일 시행. 지난달에 바뀐 거라 네 프로젝트 타이밍상 반드시 반영돼야 하는 부분. </a:t>
            </a:r>
            <a:r>
              <a:rPr lang="ko-KR" altLang="ko-KR" dirty="0">
                <a:hlinkClick r:id="rId5"/>
              </a:rPr>
              <a:t>zdnet</a:t>
            </a:r>
            <a:endParaRPr lang="ko-KR" altLang="ko-KR" dirty="0"/>
          </a:p>
          <a:p>
            <a:pPr rtl="0"/>
            <a:r>
              <a:rPr lang="ko-KR" altLang="ko-KR" dirty="0"/>
              <a:t>산정 기준도 전체 매출 그대로가 아니라 전체 매출액에서 위반행위와 관련 없는 매출액을 제외한 금액이고, 정당한 사유 없이 매출 자료 제출을 거부하거나 거짓 자료를 내면 전체 매출액 기준으로 산정돼. </a:t>
            </a:r>
            <a:r>
              <a:rPr lang="ko-KR" altLang="ko-KR" dirty="0">
                <a:hlinkClick r:id="rId3"/>
              </a:rPr>
              <a:t>lawtimes</a:t>
            </a:r>
            <a:endParaRPr lang="ko-KR" altLang="ko-KR" dirty="0"/>
          </a:p>
          <a:p>
            <a:pPr rtl="0"/>
            <a:r>
              <a:rPr lang="ko-KR" altLang="ko-KR" b="1" dirty="0"/>
              <a:t>네 </a:t>
            </a:r>
            <a:r>
              <a:rPr lang="ko-KR" altLang="ko-KR" b="1" dirty="0" err="1"/>
              <a:t>report_engine</a:t>
            </a:r>
            <a:r>
              <a:rPr lang="ko-KR" altLang="ko-KR" b="1" dirty="0"/>
              <a:t> 입장에서 짚을 포인트 두 개</a:t>
            </a:r>
          </a:p>
          <a:p>
            <a:pPr rtl="0"/>
            <a:r>
              <a:rPr lang="ko-KR" altLang="ko-KR" b="1" dirty="0"/>
              <a:t>1. </a:t>
            </a:r>
            <a:r>
              <a:rPr lang="ko-KR" altLang="ko-KR" sz="1100" b="1" i="0" u="none" strike="noStrike" cap="none" spc="0" dirty="0" err="1">
                <a:solidFill>
                  <a:srgbClr val="000000"/>
                </a:solidFill>
                <a:latin typeface="Arial"/>
                <a:ea typeface="Arial"/>
                <a:cs typeface="Arial"/>
                <a:sym typeface="Arial"/>
              </a:rPr>
              <a:t>cap_krw</a:t>
            </a:r>
            <a:r>
              <a:rPr lang="ko-KR" altLang="ko-KR" b="1" dirty="0" err="1"/>
              <a:t>가</a:t>
            </a:r>
            <a:r>
              <a:rPr lang="ko-KR" altLang="ko-KR" b="1" dirty="0"/>
              <a:t> </a:t>
            </a:r>
            <a:r>
              <a:rPr lang="ko-KR" altLang="ko-KR" b="1" dirty="0" err="1"/>
              <a:t>하나뿐이면</a:t>
            </a:r>
            <a:r>
              <a:rPr lang="ko-KR" altLang="ko-KR" b="1" dirty="0"/>
              <a:t> 구멍이 생겨.</a:t>
            </a:r>
            <a:r>
              <a:rPr lang="ko-KR" altLang="ko-KR" dirty="0"/>
              <a:t> 3% 상한과 10% 특례 상한은 적용 요건이 완전히 달라서, 재용님 쪽 </a:t>
            </a:r>
            <a:r>
              <a:rPr lang="ko-KR" altLang="ko-KR" dirty="0" err="1"/>
              <a:t>JSON에</a:t>
            </a:r>
            <a:r>
              <a:rPr lang="ko-KR" altLang="ko-KR" dirty="0"/>
              <a:t> "반복 위반 여부 / 피해 규모 / 시정명령 이력" 같은 플래그가 안 넘어오면 어느 쪽을 써야 할지 판단이 안 돼. </a:t>
            </a:r>
            <a:r>
              <a:rPr lang="ko-KR" altLang="ko-KR" sz="1100" b="0" i="0" u="none" strike="noStrike" cap="none" spc="0" dirty="0" err="1">
                <a:solidFill>
                  <a:srgbClr val="000000"/>
                </a:solidFill>
                <a:latin typeface="Arial"/>
                <a:ea typeface="Arial"/>
                <a:cs typeface="Arial"/>
                <a:sym typeface="Arial"/>
              </a:rPr>
              <a:t>cap_basic</a:t>
            </a:r>
            <a:r>
              <a:rPr lang="ko-KR" altLang="ko-KR" dirty="0"/>
              <a:t> / </a:t>
            </a:r>
            <a:r>
              <a:rPr lang="ko-KR" altLang="ko-KR" sz="1100" b="0" i="0" u="none" strike="noStrike" cap="none" spc="0" dirty="0" err="1">
                <a:solidFill>
                  <a:srgbClr val="000000"/>
                </a:solidFill>
                <a:latin typeface="Arial"/>
                <a:ea typeface="Arial"/>
                <a:cs typeface="Arial"/>
                <a:sym typeface="Arial"/>
              </a:rPr>
              <a:t>cap_punitive</a:t>
            </a:r>
            <a:r>
              <a:rPr lang="ko-KR" altLang="ko-KR" dirty="0" err="1"/>
              <a:t>로</a:t>
            </a:r>
            <a:r>
              <a:rPr lang="ko-KR" altLang="ko-KR" dirty="0"/>
              <a:t> 쪼개고, 요건 미상이면 3% 기준에 "특례 적용 시 상한 ○○억" 주석을 다는 게 안전해.</a:t>
            </a:r>
          </a:p>
          <a:p>
            <a:pPr rtl="0"/>
            <a:r>
              <a:rPr lang="ko-KR" altLang="ko-KR" b="1" dirty="0"/>
              <a:t>2. 더 중요한 건 — 상한은 예상액이 아니야.</a:t>
            </a:r>
            <a:r>
              <a:rPr lang="ko-KR" altLang="ko-KR" dirty="0"/>
              <a:t> 실제 부과는 기준금액 산정 후 </a:t>
            </a:r>
            <a:r>
              <a:rPr lang="ko-KR" altLang="ko-KR" dirty="0" err="1"/>
              <a:t>가중·감경을</a:t>
            </a:r>
            <a:r>
              <a:rPr lang="ko-KR" altLang="ko-KR" dirty="0"/>
              <a:t> 거치는데, 사전 예방 투자를 했으면 기준금액의 40% 범위에서 </a:t>
            </a:r>
            <a:r>
              <a:rPr lang="ko-KR" altLang="ko-KR" dirty="0" err="1"/>
              <a:t>감경되고</a:t>
            </a:r>
            <a:r>
              <a:rPr lang="ko-KR" altLang="ko-KR" dirty="0"/>
              <a:t>, 위반 </a:t>
            </a:r>
            <a:r>
              <a:rPr lang="ko-KR" altLang="ko-KR" dirty="0" err="1"/>
              <a:t>내용·피해</a:t>
            </a:r>
            <a:r>
              <a:rPr lang="ko-KR" altLang="ko-KR" dirty="0"/>
              <a:t> 규모를 고려해 추가로 최대 50%까지 더 </a:t>
            </a:r>
            <a:r>
              <a:rPr lang="ko-KR" altLang="ko-KR" dirty="0" err="1"/>
              <a:t>감경될</a:t>
            </a:r>
            <a:r>
              <a:rPr lang="ko-KR" altLang="ko-KR" dirty="0"/>
              <a:t> 수 있어. 10% 상한 사안에서도 가중비율이 8.91%를 넘을 수 없고. 그래서 </a:t>
            </a:r>
            <a:r>
              <a:rPr lang="ko-KR" altLang="ko-KR" sz="1100" b="0" i="0" u="none" strike="noStrike" cap="none" spc="0" dirty="0" err="1">
                <a:solidFill>
                  <a:srgbClr val="000000"/>
                </a:solidFill>
                <a:latin typeface="Arial"/>
                <a:ea typeface="Arial"/>
                <a:cs typeface="Arial"/>
                <a:sym typeface="Arial"/>
              </a:rPr>
              <a:t>median</a:t>
            </a:r>
            <a:r>
              <a:rPr lang="ko-KR" altLang="ko-KR" sz="1100" b="0" i="0" u="none" strike="noStrike" cap="none" spc="0" dirty="0">
                <a:solidFill>
                  <a:srgbClr val="000000"/>
                </a:solidFill>
                <a:latin typeface="Arial"/>
                <a:ea typeface="Arial"/>
                <a:cs typeface="Arial"/>
                <a:sym typeface="Arial"/>
              </a:rPr>
              <a:t> &lt; </a:t>
            </a:r>
            <a:r>
              <a:rPr lang="ko-KR" altLang="ko-KR" sz="1100" b="0" i="0" u="none" strike="noStrike" cap="none" spc="0" dirty="0" err="1">
                <a:solidFill>
                  <a:srgbClr val="000000"/>
                </a:solidFill>
                <a:latin typeface="Arial"/>
                <a:ea typeface="Arial"/>
                <a:cs typeface="Arial"/>
                <a:sym typeface="Arial"/>
              </a:rPr>
              <a:t>cap</a:t>
            </a:r>
            <a:r>
              <a:rPr lang="ko-KR" altLang="ko-KR" dirty="0" err="1"/>
              <a:t>이라고</a:t>
            </a:r>
            <a:r>
              <a:rPr lang="ko-KR" altLang="ko-KR" dirty="0"/>
              <a:t> 해서 "그럼 중앙값은 안전하게 써도 </a:t>
            </a:r>
            <a:r>
              <a:rPr lang="ko-KR" altLang="ko-KR" dirty="0" err="1"/>
              <a:t>됨"이</a:t>
            </a:r>
            <a:r>
              <a:rPr lang="ko-KR" altLang="ko-KR" dirty="0"/>
              <a:t> 되진 않아. 상한 미만이어도 여전히 과대추정일 수 있거든. </a:t>
            </a:r>
            <a:r>
              <a:rPr lang="ko-KR" altLang="ko-KR" dirty="0" err="1">
                <a:hlinkClick r:id="rId6"/>
              </a:rPr>
              <a:t>korea</a:t>
            </a:r>
            <a:r>
              <a:rPr lang="ko-KR" altLang="ko-KR" dirty="0" err="1">
                <a:hlinkClick r:id="rId3"/>
              </a:rPr>
              <a:t>lawtimes</a:t>
            </a:r>
            <a:endParaRPr lang="ko-KR" altLang="ko-KR" dirty="0"/>
          </a:p>
          <a:p>
            <a:pPr rtl="0"/>
            <a:r>
              <a:rPr lang="ko-KR" altLang="ko-KR" dirty="0"/>
              <a:t>Q3 답변할 때 이 두 번째 포인트를 덧붙이면 방어가 훨씬 </a:t>
            </a:r>
            <a:r>
              <a:rPr lang="ko-KR" altLang="ko-KR" dirty="0" err="1"/>
              <a:t>단단해져</a:t>
            </a:r>
            <a:r>
              <a:rPr lang="ko-KR" altLang="ko-KR" dirty="0"/>
              <a:t>. "상한 초과 시 </a:t>
            </a:r>
            <a:r>
              <a:rPr lang="ko-KR" altLang="ko-KR" dirty="0" err="1"/>
              <a:t>경고"만</a:t>
            </a:r>
            <a:r>
              <a:rPr lang="ko-KR" altLang="ko-KR" dirty="0"/>
              <a:t> 말하면 "그럼 상한 아래면 그 숫자 믿어도 </a:t>
            </a:r>
            <a:r>
              <a:rPr lang="ko-KR" altLang="ko-KR" dirty="0" err="1"/>
              <a:t>되냐"는</a:t>
            </a:r>
            <a:r>
              <a:rPr lang="ko-KR" altLang="ko-KR" dirty="0"/>
              <a:t> 후속 질문에 막히는데, "상한은 천장일 뿐이고 실제 부과액은 </a:t>
            </a:r>
            <a:r>
              <a:rPr lang="ko-KR" altLang="ko-KR" dirty="0" err="1"/>
              <a:t>감경</a:t>
            </a:r>
            <a:r>
              <a:rPr lang="ko-KR" altLang="ko-KR" dirty="0"/>
              <a:t> 구조 때문에 더 낮으므로 사례 금액은 참고 지표로만 </a:t>
            </a:r>
            <a:r>
              <a:rPr lang="ko-KR" altLang="ko-KR" dirty="0" err="1"/>
              <a:t>제시한다"까지</a:t>
            </a:r>
            <a:r>
              <a:rPr lang="ko-KR" altLang="ko-KR" dirty="0"/>
              <a:t> 가면 깔끔하게 닫혀.</a:t>
            </a:r>
          </a:p>
          <a:p>
            <a:pPr rtl="0"/>
            <a:r>
              <a:rPr lang="ko-KR" altLang="ko-KR" dirty="0"/>
              <a:t>보고서 템플릿에 상한 산정 근거(3% </a:t>
            </a:r>
            <a:r>
              <a:rPr lang="ko-KR" altLang="ko-KR" dirty="0" err="1"/>
              <a:t>vs</a:t>
            </a:r>
            <a:r>
              <a:rPr lang="ko-KR" altLang="ko-KR" dirty="0"/>
              <a:t> 10%, 적용 조항, 매출 기준 연도)</a:t>
            </a:r>
            <a:r>
              <a:rPr lang="ko-KR" altLang="ko-KR" dirty="0" err="1"/>
              <a:t>를</a:t>
            </a:r>
            <a:r>
              <a:rPr lang="ko-KR" altLang="ko-KR" dirty="0"/>
              <a:t> 각주로 명시하는 것도 추천해. 컨설팅 보고서에서 숫자 근거 못 대면 그게 제일 먼저 깨지는 부분이라.</a:t>
            </a:r>
          </a:p>
          <a:p>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err="1"/>
              <a:t>멈추지</a:t>
            </a:r>
            <a:r>
              <a:rPr dirty="0"/>
              <a:t> </a:t>
            </a:r>
            <a:r>
              <a:rPr dirty="0" err="1"/>
              <a:t>않습니다</a:t>
            </a:r>
            <a:r>
              <a:rPr dirty="0"/>
              <a:t>. </a:t>
            </a:r>
            <a:r>
              <a:rPr dirty="0" err="1"/>
              <a:t>engine.py의</a:t>
            </a:r>
            <a:r>
              <a:rPr dirty="0"/>
              <a:t> </a:t>
            </a:r>
            <a:r>
              <a:rPr dirty="0" err="1"/>
              <a:t>resolve_catalog</a:t>
            </a:r>
            <a:r>
              <a:rPr dirty="0"/>
              <a:t>()</a:t>
            </a:r>
            <a:r>
              <a:rPr dirty="0" err="1"/>
              <a:t>가</a:t>
            </a:r>
            <a:r>
              <a:rPr dirty="0"/>
              <a:t> </a:t>
            </a:r>
            <a:r>
              <a:rPr dirty="0" err="1"/>
              <a:t>카탈로그에</a:t>
            </a:r>
            <a:r>
              <a:rPr dirty="0"/>
              <a:t> </a:t>
            </a:r>
            <a:r>
              <a:rPr dirty="0" err="1"/>
              <a:t>없는</a:t>
            </a:r>
            <a:r>
              <a:rPr dirty="0"/>
              <a:t> </a:t>
            </a:r>
            <a:r>
              <a:rPr dirty="0" err="1"/>
              <a:t>항목</a:t>
            </a:r>
            <a:r>
              <a:rPr dirty="0"/>
              <a:t> </a:t>
            </a:r>
            <a:r>
              <a:rPr dirty="0" err="1"/>
              <a:t>ID를</a:t>
            </a:r>
            <a:r>
              <a:rPr dirty="0"/>
              <a:t> </a:t>
            </a:r>
            <a:r>
              <a:rPr dirty="0" err="1"/>
              <a:t>두</a:t>
            </a:r>
            <a:r>
              <a:rPr dirty="0"/>
              <a:t> </a:t>
            </a:r>
            <a:r>
              <a:rPr dirty="0" err="1"/>
              <a:t>단계로</a:t>
            </a:r>
            <a:r>
              <a:rPr dirty="0"/>
              <a:t> </a:t>
            </a:r>
            <a:r>
              <a:rPr dirty="0" err="1"/>
              <a:t>연결합니다</a:t>
            </a:r>
            <a:r>
              <a:rPr dirty="0"/>
              <a:t>.</a:t>
            </a:r>
          </a:p>
          <a:p>
            <a:r>
              <a:rPr dirty="0" err="1"/>
              <a:t>먼저</a:t>
            </a:r>
            <a:r>
              <a:rPr dirty="0"/>
              <a:t> </a:t>
            </a:r>
            <a:r>
              <a:rPr dirty="0" err="1"/>
              <a:t>점검</a:t>
            </a:r>
            <a:r>
              <a:rPr dirty="0"/>
              <a:t> </a:t>
            </a:r>
            <a:r>
              <a:rPr dirty="0" err="1"/>
              <a:t>항목</a:t>
            </a:r>
            <a:r>
              <a:rPr dirty="0"/>
              <a:t> </a:t>
            </a:r>
            <a:r>
              <a:rPr dirty="0" err="1"/>
              <a:t>이름이</a:t>
            </a:r>
            <a:r>
              <a:rPr dirty="0"/>
              <a:t> </a:t>
            </a:r>
            <a:r>
              <a:rPr dirty="0" err="1"/>
              <a:t>같은</a:t>
            </a:r>
            <a:r>
              <a:rPr dirty="0"/>
              <a:t> </a:t>
            </a:r>
            <a:r>
              <a:rPr dirty="0" err="1"/>
              <a:t>카탈로그</a:t>
            </a:r>
            <a:r>
              <a:rPr dirty="0"/>
              <a:t> </a:t>
            </a:r>
            <a:r>
              <a:rPr dirty="0" err="1"/>
              <a:t>항목을</a:t>
            </a:r>
            <a:r>
              <a:rPr dirty="0"/>
              <a:t> </a:t>
            </a:r>
            <a:r>
              <a:rPr dirty="0" err="1"/>
              <a:t>찾습니다</a:t>
            </a:r>
            <a:r>
              <a:rPr dirty="0"/>
              <a:t>. </a:t>
            </a:r>
            <a:r>
              <a:rPr dirty="0" err="1"/>
              <a:t>예를</a:t>
            </a:r>
            <a:r>
              <a:rPr dirty="0"/>
              <a:t> </a:t>
            </a:r>
            <a:r>
              <a:rPr dirty="0" err="1"/>
              <a:t>들어</a:t>
            </a:r>
            <a:r>
              <a:rPr dirty="0"/>
              <a:t> W-03 '</a:t>
            </a:r>
            <a:r>
              <a:rPr dirty="0" err="1"/>
              <a:t>불충분한</a:t>
            </a:r>
            <a:r>
              <a:rPr dirty="0"/>
              <a:t> </a:t>
            </a:r>
            <a:r>
              <a:rPr dirty="0" err="1"/>
              <a:t>권한</a:t>
            </a:r>
            <a:r>
              <a:rPr dirty="0"/>
              <a:t> </a:t>
            </a:r>
            <a:r>
              <a:rPr dirty="0" err="1"/>
              <a:t>검증'은</a:t>
            </a:r>
            <a:r>
              <a:rPr dirty="0"/>
              <a:t> </a:t>
            </a:r>
            <a:r>
              <a:rPr dirty="0" err="1"/>
              <a:t>이름이</a:t>
            </a:r>
            <a:r>
              <a:rPr dirty="0"/>
              <a:t> </a:t>
            </a:r>
            <a:r>
              <a:rPr dirty="0" err="1"/>
              <a:t>같은</a:t>
            </a:r>
            <a:r>
              <a:rPr dirty="0"/>
              <a:t> KISA </a:t>
            </a:r>
            <a:r>
              <a:rPr dirty="0" err="1"/>
              <a:t>항목</a:t>
            </a:r>
            <a:r>
              <a:rPr dirty="0"/>
              <a:t> </a:t>
            </a:r>
            <a:r>
              <a:rPr dirty="0" err="1"/>
              <a:t>IN으로</a:t>
            </a:r>
            <a:r>
              <a:rPr dirty="0"/>
              <a:t> </a:t>
            </a:r>
            <a:r>
              <a:rPr dirty="0" err="1"/>
              <a:t>연결됩니다</a:t>
            </a:r>
            <a:r>
              <a:rPr dirty="0"/>
              <a:t>. </a:t>
            </a:r>
            <a:r>
              <a:rPr dirty="0" err="1"/>
              <a:t>이름으로</a:t>
            </a:r>
            <a:r>
              <a:rPr dirty="0"/>
              <a:t> </a:t>
            </a:r>
            <a:r>
              <a:rPr dirty="0" err="1"/>
              <a:t>못</a:t>
            </a:r>
            <a:r>
              <a:rPr dirty="0"/>
              <a:t> </a:t>
            </a:r>
            <a:r>
              <a:rPr dirty="0" err="1"/>
              <a:t>찾으면</a:t>
            </a:r>
            <a:r>
              <a:rPr dirty="0"/>
              <a:t> ID </a:t>
            </a:r>
            <a:r>
              <a:rPr dirty="0" err="1"/>
              <a:t>앞부분으로</a:t>
            </a:r>
            <a:r>
              <a:rPr dirty="0"/>
              <a:t> </a:t>
            </a:r>
            <a:r>
              <a:rPr dirty="0" err="1"/>
              <a:t>찾습니다</a:t>
            </a:r>
            <a:r>
              <a:rPr dirty="0"/>
              <a:t>. IL-COMMENT-01은 IL </a:t>
            </a:r>
            <a:r>
              <a:rPr dirty="0" err="1"/>
              <a:t>항목으로</a:t>
            </a:r>
            <a:r>
              <a:rPr dirty="0"/>
              <a:t> </a:t>
            </a:r>
            <a:r>
              <a:rPr dirty="0" err="1"/>
              <a:t>연결됩니다</a:t>
            </a:r>
            <a:r>
              <a:rPr dirty="0"/>
              <a:t>.</a:t>
            </a:r>
          </a:p>
          <a:p>
            <a:r>
              <a:rPr dirty="0" err="1"/>
              <a:t>둘</a:t>
            </a:r>
            <a:r>
              <a:rPr dirty="0"/>
              <a:t> </a:t>
            </a:r>
            <a:r>
              <a:rPr dirty="0" err="1"/>
              <a:t>다</a:t>
            </a:r>
            <a:r>
              <a:rPr dirty="0"/>
              <a:t> </a:t>
            </a:r>
            <a:r>
              <a:rPr dirty="0" err="1"/>
              <a:t>실패해도</a:t>
            </a:r>
            <a:r>
              <a:rPr dirty="0"/>
              <a:t> </a:t>
            </a:r>
            <a:r>
              <a:rPr dirty="0" err="1"/>
              <a:t>예외를</a:t>
            </a:r>
            <a:r>
              <a:rPr dirty="0"/>
              <a:t> </a:t>
            </a:r>
            <a:r>
              <a:rPr dirty="0" err="1"/>
              <a:t>던지지</a:t>
            </a:r>
            <a:r>
              <a:rPr dirty="0"/>
              <a:t> </a:t>
            </a:r>
            <a:r>
              <a:rPr dirty="0" err="1"/>
              <a:t>않고</a:t>
            </a:r>
            <a:r>
              <a:rPr dirty="0"/>
              <a:t>, '</a:t>
            </a:r>
            <a:r>
              <a:rPr dirty="0" err="1"/>
              <a:t>카탈로그에</a:t>
            </a:r>
            <a:r>
              <a:rPr dirty="0"/>
              <a:t> </a:t>
            </a:r>
            <a:r>
              <a:rPr dirty="0" err="1"/>
              <a:t>없음</a:t>
            </a:r>
            <a:r>
              <a:rPr dirty="0"/>
              <a:t>, </a:t>
            </a:r>
            <a:r>
              <a:rPr dirty="0" err="1"/>
              <a:t>판단</a:t>
            </a:r>
            <a:r>
              <a:rPr dirty="0"/>
              <a:t> </a:t>
            </a:r>
            <a:r>
              <a:rPr dirty="0" err="1"/>
              <a:t>기준·조치</a:t>
            </a:r>
            <a:r>
              <a:rPr dirty="0"/>
              <a:t> </a:t>
            </a:r>
            <a:r>
              <a:rPr dirty="0" err="1"/>
              <a:t>방법</a:t>
            </a:r>
            <a:r>
              <a:rPr dirty="0"/>
              <a:t> </a:t>
            </a:r>
            <a:r>
              <a:rPr dirty="0" err="1"/>
              <a:t>칸이</a:t>
            </a:r>
            <a:r>
              <a:rPr dirty="0"/>
              <a:t> </a:t>
            </a:r>
            <a:r>
              <a:rPr dirty="0" err="1"/>
              <a:t>비어</a:t>
            </a:r>
            <a:r>
              <a:rPr dirty="0"/>
              <a:t> </a:t>
            </a:r>
            <a:r>
              <a:rPr dirty="0" err="1"/>
              <a:t>나옴'이라는</a:t>
            </a:r>
            <a:r>
              <a:rPr dirty="0"/>
              <a:t> </a:t>
            </a:r>
            <a:r>
              <a:rPr dirty="0" err="1"/>
              <a:t>안내만</a:t>
            </a:r>
            <a:r>
              <a:rPr dirty="0"/>
              <a:t> </a:t>
            </a:r>
            <a:r>
              <a:rPr dirty="0" err="1"/>
              <a:t>콘솔에</a:t>
            </a:r>
            <a:r>
              <a:rPr dirty="0"/>
              <a:t> </a:t>
            </a:r>
            <a:r>
              <a:rPr dirty="0" err="1"/>
              <a:t>남깁니다</a:t>
            </a:r>
            <a:r>
              <a:rPr dirty="0"/>
              <a:t>. </a:t>
            </a:r>
            <a:r>
              <a:rPr dirty="0" err="1"/>
              <a:t>템플릿은</a:t>
            </a:r>
            <a:r>
              <a:rPr dirty="0"/>
              <a:t> </a:t>
            </a:r>
            <a:r>
              <a:rPr dirty="0" err="1"/>
              <a:t>카탈로그</a:t>
            </a:r>
            <a:r>
              <a:rPr dirty="0"/>
              <a:t> </a:t>
            </a:r>
            <a:r>
              <a:rPr dirty="0" err="1"/>
              <a:t>값이</a:t>
            </a:r>
            <a:r>
              <a:rPr dirty="0"/>
              <a:t> </a:t>
            </a:r>
            <a:r>
              <a:rPr dirty="0" err="1"/>
              <a:t>없으면</a:t>
            </a:r>
            <a:r>
              <a:rPr dirty="0"/>
              <a:t> </a:t>
            </a:r>
            <a:r>
              <a:rPr dirty="0" err="1"/>
              <a:t>빈</a:t>
            </a:r>
            <a:r>
              <a:rPr dirty="0"/>
              <a:t> </a:t>
            </a:r>
            <a:r>
              <a:rPr dirty="0" err="1"/>
              <a:t>값으로</a:t>
            </a:r>
            <a:r>
              <a:rPr dirty="0"/>
              <a:t> </a:t>
            </a:r>
            <a:r>
              <a:rPr dirty="0" err="1"/>
              <a:t>처리합니다</a:t>
            </a:r>
            <a:r>
              <a:rPr dirty="0"/>
              <a:t>.</a:t>
            </a:r>
          </a:p>
          <a:p>
            <a:r>
              <a:rPr dirty="0" err="1"/>
              <a:t>실제로</a:t>
            </a:r>
            <a:r>
              <a:rPr dirty="0"/>
              <a:t> </a:t>
            </a:r>
            <a:r>
              <a:rPr dirty="0" err="1"/>
              <a:t>진단</a:t>
            </a:r>
            <a:r>
              <a:rPr dirty="0"/>
              <a:t> </a:t>
            </a:r>
            <a:r>
              <a:rPr dirty="0" err="1"/>
              <a:t>JSON의</a:t>
            </a:r>
            <a:r>
              <a:rPr dirty="0"/>
              <a:t> </a:t>
            </a:r>
            <a:r>
              <a:rPr dirty="0" err="1"/>
              <a:t>항목을</a:t>
            </a:r>
            <a:r>
              <a:rPr dirty="0"/>
              <a:t> W-99 '</a:t>
            </a:r>
            <a:r>
              <a:rPr dirty="0" err="1"/>
              <a:t>신규</a:t>
            </a:r>
            <a:r>
              <a:rPr dirty="0"/>
              <a:t> </a:t>
            </a:r>
            <a:r>
              <a:rPr dirty="0" err="1"/>
              <a:t>스캐너</a:t>
            </a:r>
            <a:r>
              <a:rPr dirty="0"/>
              <a:t> </a:t>
            </a:r>
            <a:r>
              <a:rPr dirty="0" err="1"/>
              <a:t>점검</a:t>
            </a:r>
            <a:r>
              <a:rPr dirty="0"/>
              <a:t> </a:t>
            </a:r>
            <a:r>
              <a:rPr dirty="0" err="1"/>
              <a:t>항목'으로</a:t>
            </a:r>
            <a:r>
              <a:rPr dirty="0"/>
              <a:t> </a:t>
            </a:r>
            <a:r>
              <a:rPr dirty="0" err="1"/>
              <a:t>바꿔</a:t>
            </a:r>
            <a:r>
              <a:rPr dirty="0"/>
              <a:t> </a:t>
            </a:r>
            <a:r>
              <a:rPr dirty="0" err="1"/>
              <a:t>실행해</a:t>
            </a:r>
            <a:r>
              <a:rPr dirty="0"/>
              <a:t> </a:t>
            </a:r>
            <a:r>
              <a:rPr dirty="0" err="1"/>
              <a:t>봤고</a:t>
            </a:r>
            <a:r>
              <a:rPr dirty="0"/>
              <a:t>, </a:t>
            </a:r>
            <a:r>
              <a:rPr dirty="0" err="1"/>
              <a:t>엔진은</a:t>
            </a:r>
            <a:r>
              <a:rPr dirty="0"/>
              <a:t> </a:t>
            </a:r>
            <a:r>
              <a:rPr dirty="0" err="1"/>
              <a:t>정상</a:t>
            </a:r>
            <a:r>
              <a:rPr dirty="0"/>
              <a:t> </a:t>
            </a:r>
            <a:r>
              <a:rPr dirty="0" err="1"/>
              <a:t>종료하고</a:t>
            </a:r>
            <a:r>
              <a:rPr dirty="0"/>
              <a:t> PDF </a:t>
            </a:r>
            <a:r>
              <a:rPr dirty="0" err="1"/>
              <a:t>두</a:t>
            </a:r>
            <a:r>
              <a:rPr dirty="0"/>
              <a:t> </a:t>
            </a:r>
            <a:r>
              <a:rPr dirty="0" err="1"/>
              <a:t>개를</a:t>
            </a:r>
            <a:r>
              <a:rPr dirty="0"/>
              <a:t> </a:t>
            </a:r>
            <a:r>
              <a:rPr dirty="0" err="1"/>
              <a:t>만들었습니다</a:t>
            </a:r>
            <a:r>
              <a:rPr dirty="0"/>
              <a:t>. </a:t>
            </a:r>
            <a:r>
              <a:rPr dirty="0" err="1"/>
              <a:t>해당</a:t>
            </a:r>
            <a:r>
              <a:rPr dirty="0"/>
              <a:t> </a:t>
            </a:r>
            <a:r>
              <a:rPr dirty="0" err="1"/>
              <a:t>칸만</a:t>
            </a:r>
            <a:r>
              <a:rPr dirty="0"/>
              <a:t> </a:t>
            </a:r>
            <a:r>
              <a:rPr dirty="0" err="1"/>
              <a:t>비어</a:t>
            </a:r>
            <a:r>
              <a:rPr dirty="0"/>
              <a:t> </a:t>
            </a:r>
            <a:r>
              <a:rPr dirty="0" err="1"/>
              <a:t>있었습니다</a:t>
            </a:r>
            <a:r>
              <a:rPr dirty="0"/>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우선순위 점수는 심각도 점수 곱하기 개인정보 자산 가중치 곱하기 1 더하기 0.5 곱하기 사례 근거 점수입니다.</a:t>
            </a:r>
          </a:p>
          <a:p>
            <a:r>
              <a:t>심각도는 상 3, 중 2, 하 1이고, 개인정보를 처리하는 자산이면 1.0, 아니면 0.3입니다. 사례 근거는 가장 좋은 검색 결과의 등급으로, 동일 결함 1.0, 같은 유형 0.7, 관련 통제 0.5, 참고 0.3, 없음 0.2입니다.</a:t>
            </a:r>
          </a:p>
          <a:p>
            <a:r>
              <a:t>SCAN-2026-003에서 '주석 내 정보 누출'은 심각도 상, 개인정보 자산, 동일 결함 사례가 있어서 3 × 1.0 × 1.5 = 4.5점입니다. '에러페이지 정보 노출'도 개인정보 자산이고 동일 결함 사례가 있지만 심각도가 중이라 2 × 1.0 × 1.5 = 3.0점입니다.</a:t>
            </a:r>
          </a:p>
          <a:p>
            <a:r>
              <a:t>사례 근거는 최대 1.5배까지만 올라가도록 해서, 심각도가 '상'인 항목은 근거가 약해도 '중'보다 뒤로 가지 않게 했습니다. 공식은 부록에 그대로 공개합니다.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과징금은 법 조항 위반을 근거로 매겨지기 때문에, 관련 법 조항이 없는 취약점은 법적 노출액에 넣지 않습니다.</a:t>
            </a:r>
          </a:p>
          <a:p>
            <a:r>
              <a:t>'에러페이지 정보 노출'은 법적 영향 분석 모듈에서 ISMS-P 2.10.3 공개서버 보안에만 매핑되었고, 관련 법 조항(violated_laws)은 없었습니다. 그래서 exposure.py의 classify()가 '관련 법 조항이 없어 법적 노출액에서 제외, ISMS-P 심사 리스크로만 다룸'으로 분류했습니다.</a:t>
            </a:r>
          </a:p>
          <a:p>
            <a:r>
              <a:t>같은 함수가 상태가 양호인 항목, 개인정보를 처리하지 않는 자산, 아직 시행 전인 조문, 민간 기업에 적용되지 않는 공공기관 의무 조항도 제외합니다.</a:t>
            </a:r>
          </a:p>
          <a:p>
            <a:r>
              <a:t>제외한 항목과 이유는 모두 실무진용 부록 4.5에 표로 남겨서, 왜 빠졌는지 확인할 수 있습니다.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SCAN-2026-003 경영진용 보고서의 실제 장표입니다. 고객사의 법정 상한은 매출 50억 원의 3%인 1억 5,000만 원이고, 같은 유형 결함으로 처분받은 사례 6건의 중앙값은 20억 3,550만 원입니다.</a:t>
            </a:r>
          </a:p>
          <a:p>
            <a:r>
              <a:t>이 차이는 코드가 감지합니다. 중앙값이 상한을 넘으면 장표 아래에 '유사 사례 금액이 상한보다 큰 것은 사례 기업의 매출 규모가 더 크기 때문이며, 같은 결함이 실제로 처분받은 규모를 보여주기 위한 참고값'이라는 각주가 자동으로 붙습니다.</a:t>
            </a:r>
          </a:p>
          <a:p>
            <a:r>
              <a:t>또 사례 금액은 표 안에서만 보여주고, 경영진용 결론 문장에는 들어가지 않습니다. LLM이 금액을 모르기 때문입니다. 비교 실험에서 LLM 단독은 요약에 '최대 213억 원'처럼 사례 금액을 쓴 경우가 5번 있었지만 보고서 엔진은 0번이었습니다.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개정 개인정보 보호법은 원칙적으로 매출의 3%가 상한이지만, 고의·중과실로 3년 내 같은 유형을 반복 위반하거나, 1천만 명 이상 피해가 나거나, 시정명령을 이행하지 않아 유출되면 10%까지 올라갑니다. 이 고객사라면 매출 50억 원의 10%인 5억 원입니다.</a:t>
            </a:r>
          </a:p>
          <a:p>
            <a:r>
              <a:t>exposure.py의 legal_cap()이 세 요건을 고객사 프로필로 점검합니다. 지금은 위반 이력도 없고 정보주체도 12만 명이라 해당하지 않아서, 장표에는 숫자를 회색으로 두고 '현재 요건 해당 없음'이라고 씁니다. 고의·중과실 여부는 도구가 판단하지 않는다는 점도 부록에 밝혔습니다.</a:t>
            </a:r>
          </a:p>
          <a:p>
            <a:r>
              <a:t>보여주는 이유는, 지금 대응을 미루다 시정명령을 이행하지 못하는 등 상황이 나빠지면 상한이 1억 5,000만 원에서 5억 원으로 올라간다는 것을 경영진이 함께 보고 조치 시점을 판단할 수 있게 하려는 것입니다. 예상 부과액이 아니라 '이 조건이 붙으면'이라는 시나리오로만 표기합니다.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법적 책임과 관련된 내용이라 자동 매핑을 그대로 확정하지 않고, 사람이 확인하는 단계를 남겨 두었습니다.</a:t>
            </a:r>
          </a:p>
          <a:p>
            <a:r>
              <a:t>법령과 ISMS-P 매핑은 팀의 법적 영향 분석 모듈인 module3가 하는데, 모든 매핑을 reviewed: False로 넘깁니다. 담당자가 확인한 뒤에 True로 바꾸는 구조입니다.</a:t>
            </a:r>
          </a:p>
          <a:p>
            <a:r>
              <a:t>보고서 엔진은 이 값을 세 군데에서 씁니다. 첫째, 템플릿이 검토하지 않은 매핑에 주황색 '검토 전' 배지를 붙입니다. 둘째, LLM 프롬프트 규칙 3번으로, reviewed가 false인 법령은 단정하지 말고 '위반 소지'로 쓰게 합니다. 셋째, 검토 전 매핑 건수를 세어 실무진용 1.3절과 경영진용 결정 사항 장표에 적고, 경영진용 법령 장표에는 '확정 전까지는 위반 소지로 보아야 한다'는 각주를 붙입니다.</a:t>
            </a:r>
          </a:p>
          <a:p>
            <a:r>
              <a:t>자동화로 빠르게 초안을 만들면서도, 법적 판단의 최종 확인은 사람에게 남기는 장치입니다.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9"/>
          <p:cNvSpPr>
            <a:spLocks noGrp="1"/>
          </p:cNvSpPr>
          <p:nvPr>
            <p:ph type="pic" idx="2"/>
          </p:nvPr>
        </p:nvSpPr>
        <p:spPr>
          <a:xfrm>
            <a:off x="1792288" y="612775"/>
            <a:ext cx="5486400" cy="4114800"/>
          </a:xfrm>
          <a:prstGeom prst="rect">
            <a:avLst/>
          </a:prstGeom>
          <a:noFill/>
          <a:ln>
            <a:noFill/>
          </a:ln>
        </p:spPr>
      </p:sp>
      <p:sp>
        <p:nvSpPr>
          <p:cNvPr id="64" name="Google Shape;64;p2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
          <p:cNvGrpSpPr/>
          <p:nvPr/>
        </p:nvGrpSpPr>
        <p:grpSpPr>
          <a:xfrm>
            <a:off x="-1081198" y="3274348"/>
            <a:ext cx="20615256" cy="7012652"/>
            <a:chOff x="-99237" y="-1"/>
            <a:chExt cx="27487007" cy="9350203"/>
          </a:xfrm>
        </p:grpSpPr>
        <p:grpSp>
          <p:nvGrpSpPr>
            <p:cNvPr id="85" name="Google Shape;85;p1"/>
            <p:cNvGrpSpPr/>
            <p:nvPr/>
          </p:nvGrpSpPr>
          <p:grpSpPr>
            <a:xfrm rot="-5400000">
              <a:off x="11107419" y="-11206657"/>
              <a:ext cx="4770675" cy="27183987"/>
              <a:chOff x="0" y="-38100"/>
              <a:chExt cx="1831597" cy="10436700"/>
            </a:xfrm>
          </p:grpSpPr>
          <p:sp>
            <p:nvSpPr>
              <p:cNvPr id="86" name="Google Shape;86;p1"/>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87" name="Google Shape;87;p1"/>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8" name="Google Shape;88;p1"/>
            <p:cNvGrpSpPr/>
            <p:nvPr/>
          </p:nvGrpSpPr>
          <p:grpSpPr>
            <a:xfrm rot="-5400000">
              <a:off x="11636974" y="-6400594"/>
              <a:ext cx="4579528" cy="26922063"/>
              <a:chOff x="0" y="-38100"/>
              <a:chExt cx="1758210" cy="10336140"/>
            </a:xfrm>
          </p:grpSpPr>
          <p:sp>
            <p:nvSpPr>
              <p:cNvPr id="89" name="Google Shape;89;p1"/>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90" name="Google Shape;90;p1"/>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91" name="Google Shape;91;p1"/>
          <p:cNvGrpSpPr/>
          <p:nvPr/>
        </p:nvGrpSpPr>
        <p:grpSpPr>
          <a:xfrm>
            <a:off x="731085" y="622849"/>
            <a:ext cx="16825832" cy="9050183"/>
            <a:chOff x="0" y="-108814"/>
            <a:chExt cx="22434442" cy="12066910"/>
          </a:xfrm>
        </p:grpSpPr>
        <p:grpSp>
          <p:nvGrpSpPr>
            <p:cNvPr id="92" name="Google Shape;92;p1"/>
            <p:cNvGrpSpPr/>
            <p:nvPr/>
          </p:nvGrpSpPr>
          <p:grpSpPr>
            <a:xfrm>
              <a:off x="26537" y="10214890"/>
              <a:ext cx="22386981" cy="1743206"/>
              <a:chOff x="0" y="-47625"/>
              <a:chExt cx="9809754" cy="763855"/>
            </a:xfrm>
          </p:grpSpPr>
          <p:sp>
            <p:nvSpPr>
              <p:cNvPr id="93" name="Google Shape;93;p1"/>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94" name="Google Shape;94;p1"/>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5" name="Google Shape;95;p1"/>
            <p:cNvGrpSpPr/>
            <p:nvPr/>
          </p:nvGrpSpPr>
          <p:grpSpPr>
            <a:xfrm>
              <a:off x="0" y="-108814"/>
              <a:ext cx="22434442" cy="11946255"/>
              <a:chOff x="0" y="-47625"/>
              <a:chExt cx="9818922" cy="5228539"/>
            </a:xfrm>
          </p:grpSpPr>
          <p:sp>
            <p:nvSpPr>
              <p:cNvPr id="96" name="Google Shape;96;p1"/>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97" name="Google Shape;97;p1"/>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98" name="Google Shape;98;p1"/>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cxnSp>
        <p:nvCxnSpPr>
          <p:cNvPr id="99" name="Google Shape;99;p1"/>
          <p:cNvCxnSpPr/>
          <p:nvPr/>
        </p:nvCxnSpPr>
        <p:spPr>
          <a:xfrm>
            <a:off x="13581160" y="7532590"/>
            <a:ext cx="3028389" cy="0"/>
          </a:xfrm>
          <a:prstGeom prst="straightConnector1">
            <a:avLst/>
          </a:prstGeom>
          <a:noFill/>
          <a:ln w="19050" cap="flat" cmpd="sng">
            <a:solidFill>
              <a:srgbClr val="94B6DA"/>
            </a:solidFill>
            <a:prstDash val="solid"/>
            <a:round/>
            <a:headEnd type="none" w="sm" len="sm"/>
            <a:tailEnd type="none" w="sm" len="sm"/>
          </a:ln>
        </p:spPr>
      </p:cxnSp>
      <p:cxnSp>
        <p:nvCxnSpPr>
          <p:cNvPr id="100" name="Google Shape;100;p1"/>
          <p:cNvCxnSpPr/>
          <p:nvPr/>
        </p:nvCxnSpPr>
        <p:spPr>
          <a:xfrm>
            <a:off x="13581160" y="9122392"/>
            <a:ext cx="3028389" cy="0"/>
          </a:xfrm>
          <a:prstGeom prst="straightConnector1">
            <a:avLst/>
          </a:prstGeom>
          <a:noFill/>
          <a:ln w="19050" cap="flat" cmpd="sng">
            <a:solidFill>
              <a:srgbClr val="94B6DA"/>
            </a:solidFill>
            <a:prstDash val="solid"/>
            <a:round/>
            <a:headEnd type="none" w="sm" len="sm"/>
            <a:tailEnd type="none" w="sm" len="sm"/>
          </a:ln>
        </p:spPr>
      </p:cxnSp>
      <p:sp>
        <p:nvSpPr>
          <p:cNvPr id="101" name="Google Shape;101;p1"/>
          <p:cNvSpPr txBox="1"/>
          <p:nvPr/>
        </p:nvSpPr>
        <p:spPr>
          <a:xfrm>
            <a:off x="5031533" y="4194175"/>
            <a:ext cx="8224934" cy="1708151"/>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None/>
            </a:pPr>
            <a:r>
              <a:rPr lang="en-US" sz="9999" b="1" i="0" u="none" strike="noStrike" cap="none">
                <a:solidFill>
                  <a:srgbClr val="20538B"/>
                </a:solidFill>
                <a:latin typeface="Arial"/>
                <a:ea typeface="Arial"/>
                <a:cs typeface="Arial"/>
                <a:sym typeface="Arial"/>
              </a:rPr>
              <a:t>보고서 엔진</a:t>
            </a:r>
            <a:endParaRPr/>
          </a:p>
        </p:txBody>
      </p:sp>
      <p:sp>
        <p:nvSpPr>
          <p:cNvPr id="102" name="Google Shape;102;p1"/>
          <p:cNvSpPr txBox="1"/>
          <p:nvPr/>
        </p:nvSpPr>
        <p:spPr>
          <a:xfrm>
            <a:off x="5405924" y="6209075"/>
            <a:ext cx="7641000" cy="2772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20538B"/>
                </a:solidFill>
                <a:latin typeface="Arial"/>
                <a:ea typeface="Arial"/>
                <a:cs typeface="Arial"/>
                <a:sym typeface="Arial"/>
              </a:rPr>
              <a:t>진단 결과 JSON → 경영진용·실무진용 보고서 자동 생성</a:t>
            </a:r>
            <a:endParaRPr/>
          </a:p>
        </p:txBody>
      </p:sp>
      <p:sp>
        <p:nvSpPr>
          <p:cNvPr id="103" name="Google Shape;103;p1"/>
          <p:cNvSpPr txBox="1"/>
          <p:nvPr/>
        </p:nvSpPr>
        <p:spPr>
          <a:xfrm>
            <a:off x="13256476" y="7771200"/>
            <a:ext cx="4073400" cy="918300"/>
          </a:xfrm>
          <a:prstGeom prst="rect">
            <a:avLst/>
          </a:prstGeom>
          <a:noFill/>
          <a:ln>
            <a:noFill/>
          </a:ln>
        </p:spPr>
        <p:txBody>
          <a:bodyPr spcFirstLastPara="1" wrap="square" lIns="0" tIns="0" rIns="0" bIns="0" anchor="t" anchorCtr="0">
            <a:spAutoFit/>
          </a:bodyPr>
          <a:lstStyle/>
          <a:p>
            <a:pPr marL="0" marR="0" lvl="0" indent="0" algn="l" rtl="0">
              <a:lnSpc>
                <a:spcPct val="191972"/>
              </a:lnSpc>
              <a:spcBef>
                <a:spcPts val="0"/>
              </a:spcBef>
              <a:spcAft>
                <a:spcPts val="0"/>
              </a:spcAft>
              <a:buNone/>
            </a:pPr>
            <a:r>
              <a:rPr lang="en-US" sz="2043" b="0" i="0" u="none" strike="noStrike" cap="none">
                <a:solidFill>
                  <a:srgbClr val="20538B"/>
                </a:solidFill>
                <a:latin typeface="Arial"/>
                <a:ea typeface="Arial"/>
                <a:cs typeface="Arial"/>
                <a:sym typeface="Arial"/>
              </a:rPr>
              <a:t>발표자 : 송예린</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grpSp>
        <p:nvGrpSpPr>
          <p:cNvPr id="799" name="Google Shape;799;p16"/>
          <p:cNvGrpSpPr/>
          <p:nvPr/>
        </p:nvGrpSpPr>
        <p:grpSpPr>
          <a:xfrm>
            <a:off x="-1081198" y="3274348"/>
            <a:ext cx="20615256" cy="7012652"/>
            <a:chOff x="-99237" y="-1"/>
            <a:chExt cx="27487007" cy="9350203"/>
          </a:xfrm>
        </p:grpSpPr>
        <p:grpSp>
          <p:nvGrpSpPr>
            <p:cNvPr id="800" name="Google Shape;800;p16"/>
            <p:cNvGrpSpPr/>
            <p:nvPr/>
          </p:nvGrpSpPr>
          <p:grpSpPr>
            <a:xfrm rot="-5400000">
              <a:off x="11107419" y="-11206657"/>
              <a:ext cx="4770675" cy="27183987"/>
              <a:chOff x="0" y="-38100"/>
              <a:chExt cx="1831597" cy="10436700"/>
            </a:xfrm>
          </p:grpSpPr>
          <p:sp>
            <p:nvSpPr>
              <p:cNvPr id="801" name="Google Shape;801;p16"/>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802" name="Google Shape;802;p16"/>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3" name="Google Shape;803;p16"/>
            <p:cNvGrpSpPr/>
            <p:nvPr/>
          </p:nvGrpSpPr>
          <p:grpSpPr>
            <a:xfrm rot="-5400000">
              <a:off x="11636974" y="-6400594"/>
              <a:ext cx="4579528" cy="26922063"/>
              <a:chOff x="0" y="-38100"/>
              <a:chExt cx="1758210" cy="10336140"/>
            </a:xfrm>
          </p:grpSpPr>
          <p:sp>
            <p:nvSpPr>
              <p:cNvPr id="804" name="Google Shape;804;p16"/>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805" name="Google Shape;805;p16"/>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06" name="Google Shape;806;p16"/>
          <p:cNvGrpSpPr/>
          <p:nvPr/>
        </p:nvGrpSpPr>
        <p:grpSpPr>
          <a:xfrm>
            <a:off x="731085" y="622849"/>
            <a:ext cx="16825832" cy="9050183"/>
            <a:chOff x="0" y="-108814"/>
            <a:chExt cx="22434442" cy="12066910"/>
          </a:xfrm>
        </p:grpSpPr>
        <p:grpSp>
          <p:nvGrpSpPr>
            <p:cNvPr id="807" name="Google Shape;807;p16"/>
            <p:cNvGrpSpPr/>
            <p:nvPr/>
          </p:nvGrpSpPr>
          <p:grpSpPr>
            <a:xfrm>
              <a:off x="26537" y="10214890"/>
              <a:ext cx="22386981" cy="1743206"/>
              <a:chOff x="0" y="-47625"/>
              <a:chExt cx="9809754" cy="763855"/>
            </a:xfrm>
          </p:grpSpPr>
          <p:sp>
            <p:nvSpPr>
              <p:cNvPr id="808" name="Google Shape;808;p16"/>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809" name="Google Shape;809;p16"/>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0" name="Google Shape;810;p16"/>
            <p:cNvGrpSpPr/>
            <p:nvPr/>
          </p:nvGrpSpPr>
          <p:grpSpPr>
            <a:xfrm>
              <a:off x="0" y="-108814"/>
              <a:ext cx="22434442" cy="11946255"/>
              <a:chOff x="0" y="-47625"/>
              <a:chExt cx="9818922" cy="5228539"/>
            </a:xfrm>
          </p:grpSpPr>
          <p:sp>
            <p:nvSpPr>
              <p:cNvPr id="811" name="Google Shape;811;p16"/>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812" name="Google Shape;812;p16"/>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13" name="Google Shape;813;p16"/>
          <p:cNvGrpSpPr/>
          <p:nvPr/>
        </p:nvGrpSpPr>
        <p:grpSpPr>
          <a:xfrm>
            <a:off x="763743" y="662703"/>
            <a:ext cx="16760151" cy="1561172"/>
            <a:chOff x="0" y="-38100"/>
            <a:chExt cx="8581180" cy="799319"/>
          </a:xfrm>
        </p:grpSpPr>
        <p:sp>
          <p:nvSpPr>
            <p:cNvPr id="814" name="Google Shape;814;p16"/>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815" name="Google Shape;815;p16"/>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16" name="Google Shape;816;p16"/>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817" name="Google Shape;817;p16"/>
          <p:cNvSpPr txBox="1"/>
          <p:nvPr/>
        </p:nvSpPr>
        <p:spPr>
          <a:xfrm>
            <a:off x="2394993" y="893156"/>
            <a:ext cx="7519287" cy="1114425"/>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LLM 환각 차단</a:t>
            </a:r>
            <a:endParaRPr/>
          </a:p>
        </p:txBody>
      </p:sp>
      <p:sp>
        <p:nvSpPr>
          <p:cNvPr id="818" name="Google Shape;818;p16"/>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dirty="0">
                <a:solidFill>
                  <a:srgbClr val="CBDDEF"/>
                </a:solidFill>
                <a:latin typeface="Arial"/>
                <a:ea typeface="Arial"/>
                <a:cs typeface="Arial"/>
                <a:sym typeface="Arial"/>
              </a:rPr>
              <a:t>01</a:t>
            </a:r>
            <a:endParaRPr dirty="0"/>
          </a:p>
        </p:txBody>
      </p:sp>
      <p:sp>
        <p:nvSpPr>
          <p:cNvPr id="819" name="Google Shape;819;p16"/>
          <p:cNvSpPr/>
          <p:nvPr/>
        </p:nvSpPr>
        <p:spPr>
          <a:xfrm>
            <a:off x="2962908" y="8277145"/>
            <a:ext cx="212179" cy="205813"/>
          </a:xfrm>
          <a:custGeom>
            <a:avLst/>
            <a:gdLst/>
            <a:ahLst/>
            <a:cxnLst/>
            <a:rect l="l" t="t" r="r" b="b"/>
            <a:pathLst>
              <a:path w="212179" h="205813" extrusionOk="0">
                <a:moveTo>
                  <a:pt x="0" y="0"/>
                </a:moveTo>
                <a:lnTo>
                  <a:pt x="212179" y="0"/>
                </a:lnTo>
                <a:lnTo>
                  <a:pt x="212179" y="205813"/>
                </a:lnTo>
                <a:lnTo>
                  <a:pt x="0" y="205813"/>
                </a:lnTo>
                <a:lnTo>
                  <a:pt x="0" y="0"/>
                </a:lnTo>
                <a:close/>
              </a:path>
            </a:pathLst>
          </a:custGeom>
          <a:blipFill rotWithShape="1">
            <a:blip r:embed="rId4">
              <a:alphaModFix/>
            </a:blip>
            <a:stretch>
              <a:fillRect/>
            </a:stretch>
          </a:blipFill>
          <a:ln>
            <a:noFill/>
          </a:ln>
        </p:spPr>
      </p:sp>
      <p:grpSp>
        <p:nvGrpSpPr>
          <p:cNvPr id="820" name="Google Shape;820;p16"/>
          <p:cNvGrpSpPr/>
          <p:nvPr/>
        </p:nvGrpSpPr>
        <p:grpSpPr>
          <a:xfrm>
            <a:off x="1995654" y="2979180"/>
            <a:ext cx="6249471" cy="5698234"/>
            <a:chOff x="0" y="-47625"/>
            <a:chExt cx="1412350" cy="1287773"/>
          </a:xfrm>
        </p:grpSpPr>
        <p:sp>
          <p:nvSpPr>
            <p:cNvPr id="821" name="Google Shape;821;p16"/>
            <p:cNvSpPr/>
            <p:nvPr/>
          </p:nvSpPr>
          <p:spPr>
            <a:xfrm>
              <a:off x="0" y="0"/>
              <a:ext cx="1412350" cy="1240148"/>
            </a:xfrm>
            <a:custGeom>
              <a:avLst/>
              <a:gdLst/>
              <a:ahLst/>
              <a:cxnLst/>
              <a:rect l="l" t="t" r="r" b="b"/>
              <a:pathLst>
                <a:path w="1412350" h="1240148" extrusionOk="0">
                  <a:moveTo>
                    <a:pt x="0" y="0"/>
                  </a:moveTo>
                  <a:lnTo>
                    <a:pt x="1412350" y="0"/>
                  </a:lnTo>
                  <a:lnTo>
                    <a:pt x="1412350" y="1240148"/>
                  </a:lnTo>
                  <a:lnTo>
                    <a:pt x="0" y="1240148"/>
                  </a:lnTo>
                  <a:close/>
                </a:path>
              </a:pathLst>
            </a:custGeom>
            <a:solidFill>
              <a:srgbClr val="94B6DA"/>
            </a:solidFill>
            <a:ln w="9525" cap="sq" cmpd="sng">
              <a:solidFill>
                <a:srgbClr val="20538B"/>
              </a:solidFill>
              <a:prstDash val="solid"/>
              <a:miter lim="8000"/>
              <a:headEnd type="none" w="sm" len="sm"/>
              <a:tailEnd type="none" w="sm" len="sm"/>
            </a:ln>
          </p:spPr>
        </p:sp>
        <p:sp>
          <p:nvSpPr>
            <p:cNvPr id="822" name="Google Shape;822;p16"/>
            <p:cNvSpPr txBox="1"/>
            <p:nvPr/>
          </p:nvSpPr>
          <p:spPr>
            <a:xfrm>
              <a:off x="0" y="-47625"/>
              <a:ext cx="1412350" cy="1287773"/>
            </a:xfrm>
            <a:prstGeom prst="rect">
              <a:avLst/>
            </a:prstGeom>
            <a:noFill/>
            <a:ln>
              <a:noFill/>
            </a:ln>
          </p:spPr>
          <p:txBody>
            <a:bodyPr spcFirstLastPara="1" wrap="square" lIns="54850" tIns="54850" rIns="54850" bIns="54850" anchor="ctr" anchorCtr="0">
              <a:noAutofit/>
            </a:bodyPr>
            <a:lstStyle/>
            <a:p>
              <a:pPr marL="0" marR="0" lvl="0" indent="0" algn="ctr" rtl="0">
                <a:lnSpc>
                  <a:spcPct val="17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3" name="Google Shape;823;p16"/>
          <p:cNvGrpSpPr/>
          <p:nvPr/>
        </p:nvGrpSpPr>
        <p:grpSpPr>
          <a:xfrm>
            <a:off x="2547590" y="4845651"/>
            <a:ext cx="5145597" cy="655596"/>
            <a:chOff x="0" y="-47625"/>
            <a:chExt cx="3563521" cy="454025"/>
          </a:xfrm>
        </p:grpSpPr>
        <p:sp>
          <p:nvSpPr>
            <p:cNvPr id="824" name="Google Shape;824;p16"/>
            <p:cNvSpPr/>
            <p:nvPr/>
          </p:nvSpPr>
          <p:spPr>
            <a:xfrm>
              <a:off x="0" y="0"/>
              <a:ext cx="3563521" cy="406400"/>
            </a:xfrm>
            <a:custGeom>
              <a:avLst/>
              <a:gdLst/>
              <a:ahLst/>
              <a:cxnLst/>
              <a:rect l="l" t="t" r="r" b="b"/>
              <a:pathLst>
                <a:path w="3563521" h="406400" extrusionOk="0">
                  <a:moveTo>
                    <a:pt x="3360321" y="0"/>
                  </a:moveTo>
                  <a:cubicBezTo>
                    <a:pt x="3472545" y="0"/>
                    <a:pt x="3563521" y="90976"/>
                    <a:pt x="3563521" y="203200"/>
                  </a:cubicBezTo>
                  <a:cubicBezTo>
                    <a:pt x="3563521" y="315424"/>
                    <a:pt x="3472545" y="406400"/>
                    <a:pt x="3360321" y="406400"/>
                  </a:cubicBezTo>
                  <a:lnTo>
                    <a:pt x="203200" y="406400"/>
                  </a:lnTo>
                  <a:cubicBezTo>
                    <a:pt x="90976" y="406400"/>
                    <a:pt x="0" y="315424"/>
                    <a:pt x="0" y="203200"/>
                  </a:cubicBezTo>
                  <a:cubicBezTo>
                    <a:pt x="0" y="90976"/>
                    <a:pt x="90976" y="0"/>
                    <a:pt x="2032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6"/>
            <p:cNvSpPr txBox="1"/>
            <p:nvPr/>
          </p:nvSpPr>
          <p:spPr>
            <a:xfrm>
              <a:off x="0" y="-47625"/>
              <a:ext cx="356352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7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6" name="Google Shape;826;p16"/>
          <p:cNvGrpSpPr/>
          <p:nvPr/>
        </p:nvGrpSpPr>
        <p:grpSpPr>
          <a:xfrm>
            <a:off x="2547590" y="5738243"/>
            <a:ext cx="5145597" cy="655596"/>
            <a:chOff x="0" y="-47625"/>
            <a:chExt cx="3563521" cy="454025"/>
          </a:xfrm>
        </p:grpSpPr>
        <p:sp>
          <p:nvSpPr>
            <p:cNvPr id="827" name="Google Shape;827;p16"/>
            <p:cNvSpPr/>
            <p:nvPr/>
          </p:nvSpPr>
          <p:spPr>
            <a:xfrm>
              <a:off x="0" y="0"/>
              <a:ext cx="3563521" cy="406400"/>
            </a:xfrm>
            <a:custGeom>
              <a:avLst/>
              <a:gdLst/>
              <a:ahLst/>
              <a:cxnLst/>
              <a:rect l="l" t="t" r="r" b="b"/>
              <a:pathLst>
                <a:path w="3563521" h="406400" extrusionOk="0">
                  <a:moveTo>
                    <a:pt x="3360321" y="0"/>
                  </a:moveTo>
                  <a:cubicBezTo>
                    <a:pt x="3472545" y="0"/>
                    <a:pt x="3563521" y="90976"/>
                    <a:pt x="3563521" y="203200"/>
                  </a:cubicBezTo>
                  <a:cubicBezTo>
                    <a:pt x="3563521" y="315424"/>
                    <a:pt x="3472545" y="406400"/>
                    <a:pt x="3360321" y="406400"/>
                  </a:cubicBezTo>
                  <a:lnTo>
                    <a:pt x="203200" y="406400"/>
                  </a:lnTo>
                  <a:cubicBezTo>
                    <a:pt x="90976" y="406400"/>
                    <a:pt x="0" y="315424"/>
                    <a:pt x="0" y="203200"/>
                  </a:cubicBezTo>
                  <a:cubicBezTo>
                    <a:pt x="0" y="90976"/>
                    <a:pt x="90976" y="0"/>
                    <a:pt x="2032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6"/>
            <p:cNvSpPr txBox="1"/>
            <p:nvPr/>
          </p:nvSpPr>
          <p:spPr>
            <a:xfrm>
              <a:off x="0" y="-47625"/>
              <a:ext cx="356352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7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9" name="Google Shape;829;p16"/>
          <p:cNvGrpSpPr/>
          <p:nvPr/>
        </p:nvGrpSpPr>
        <p:grpSpPr>
          <a:xfrm>
            <a:off x="2547590" y="6629124"/>
            <a:ext cx="5145597" cy="655596"/>
            <a:chOff x="0" y="-47625"/>
            <a:chExt cx="3563521" cy="454025"/>
          </a:xfrm>
        </p:grpSpPr>
        <p:sp>
          <p:nvSpPr>
            <p:cNvPr id="830" name="Google Shape;830;p16"/>
            <p:cNvSpPr/>
            <p:nvPr/>
          </p:nvSpPr>
          <p:spPr>
            <a:xfrm>
              <a:off x="0" y="0"/>
              <a:ext cx="3563521" cy="406400"/>
            </a:xfrm>
            <a:custGeom>
              <a:avLst/>
              <a:gdLst/>
              <a:ahLst/>
              <a:cxnLst/>
              <a:rect l="l" t="t" r="r" b="b"/>
              <a:pathLst>
                <a:path w="3563521" h="406400" extrusionOk="0">
                  <a:moveTo>
                    <a:pt x="3360321" y="0"/>
                  </a:moveTo>
                  <a:cubicBezTo>
                    <a:pt x="3472545" y="0"/>
                    <a:pt x="3563521" y="90976"/>
                    <a:pt x="3563521" y="203200"/>
                  </a:cubicBezTo>
                  <a:cubicBezTo>
                    <a:pt x="3563521" y="315424"/>
                    <a:pt x="3472545" y="406400"/>
                    <a:pt x="3360321" y="406400"/>
                  </a:cubicBezTo>
                  <a:lnTo>
                    <a:pt x="203200" y="406400"/>
                  </a:lnTo>
                  <a:cubicBezTo>
                    <a:pt x="90976" y="406400"/>
                    <a:pt x="0" y="315424"/>
                    <a:pt x="0" y="203200"/>
                  </a:cubicBezTo>
                  <a:cubicBezTo>
                    <a:pt x="0" y="90976"/>
                    <a:pt x="90976" y="0"/>
                    <a:pt x="2032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6"/>
            <p:cNvSpPr txBox="1"/>
            <p:nvPr/>
          </p:nvSpPr>
          <p:spPr>
            <a:xfrm>
              <a:off x="0" y="-47625"/>
              <a:ext cx="356352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7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832" name="Google Shape;832;p16"/>
          <p:cNvCxnSpPr/>
          <p:nvPr/>
        </p:nvCxnSpPr>
        <p:spPr>
          <a:xfrm>
            <a:off x="2715909" y="4500905"/>
            <a:ext cx="4977279" cy="0"/>
          </a:xfrm>
          <a:prstGeom prst="straightConnector1">
            <a:avLst/>
          </a:prstGeom>
          <a:noFill/>
          <a:ln w="19050" cap="flat" cmpd="sng">
            <a:solidFill>
              <a:srgbClr val="20538B"/>
            </a:solidFill>
            <a:prstDash val="dot"/>
            <a:round/>
            <a:headEnd type="none" w="sm" len="sm"/>
            <a:tailEnd type="none" w="sm" len="sm"/>
          </a:ln>
        </p:spPr>
      </p:cxnSp>
      <p:grpSp>
        <p:nvGrpSpPr>
          <p:cNvPr id="833" name="Google Shape;833;p16"/>
          <p:cNvGrpSpPr/>
          <p:nvPr/>
        </p:nvGrpSpPr>
        <p:grpSpPr>
          <a:xfrm>
            <a:off x="2547590" y="7520005"/>
            <a:ext cx="5145597" cy="655596"/>
            <a:chOff x="0" y="-47625"/>
            <a:chExt cx="3563521" cy="454025"/>
          </a:xfrm>
        </p:grpSpPr>
        <p:sp>
          <p:nvSpPr>
            <p:cNvPr id="834" name="Google Shape;834;p16"/>
            <p:cNvSpPr/>
            <p:nvPr/>
          </p:nvSpPr>
          <p:spPr>
            <a:xfrm>
              <a:off x="0" y="0"/>
              <a:ext cx="3563521" cy="406400"/>
            </a:xfrm>
            <a:custGeom>
              <a:avLst/>
              <a:gdLst/>
              <a:ahLst/>
              <a:cxnLst/>
              <a:rect l="l" t="t" r="r" b="b"/>
              <a:pathLst>
                <a:path w="3563521" h="406400" extrusionOk="0">
                  <a:moveTo>
                    <a:pt x="3360321" y="0"/>
                  </a:moveTo>
                  <a:cubicBezTo>
                    <a:pt x="3472545" y="0"/>
                    <a:pt x="3563521" y="90976"/>
                    <a:pt x="3563521" y="203200"/>
                  </a:cubicBezTo>
                  <a:cubicBezTo>
                    <a:pt x="3563521" y="315424"/>
                    <a:pt x="3472545" y="406400"/>
                    <a:pt x="3360321" y="406400"/>
                  </a:cubicBezTo>
                  <a:lnTo>
                    <a:pt x="203200" y="406400"/>
                  </a:lnTo>
                  <a:cubicBezTo>
                    <a:pt x="90976" y="406400"/>
                    <a:pt x="0" y="315424"/>
                    <a:pt x="0" y="203200"/>
                  </a:cubicBezTo>
                  <a:cubicBezTo>
                    <a:pt x="0" y="90976"/>
                    <a:pt x="90976" y="0"/>
                    <a:pt x="2032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6"/>
            <p:cNvSpPr txBox="1"/>
            <p:nvPr/>
          </p:nvSpPr>
          <p:spPr>
            <a:xfrm>
              <a:off x="0" y="-47625"/>
              <a:ext cx="356352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7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6" name="Google Shape;836;p16"/>
          <p:cNvGrpSpPr/>
          <p:nvPr/>
        </p:nvGrpSpPr>
        <p:grpSpPr>
          <a:xfrm>
            <a:off x="10042875" y="2979180"/>
            <a:ext cx="6249471" cy="5698234"/>
            <a:chOff x="0" y="-47625"/>
            <a:chExt cx="1412350" cy="1287773"/>
          </a:xfrm>
        </p:grpSpPr>
        <p:sp>
          <p:nvSpPr>
            <p:cNvPr id="837" name="Google Shape;837;p16"/>
            <p:cNvSpPr/>
            <p:nvPr/>
          </p:nvSpPr>
          <p:spPr>
            <a:xfrm>
              <a:off x="0" y="0"/>
              <a:ext cx="1412350" cy="1240148"/>
            </a:xfrm>
            <a:custGeom>
              <a:avLst/>
              <a:gdLst/>
              <a:ahLst/>
              <a:cxnLst/>
              <a:rect l="l" t="t" r="r" b="b"/>
              <a:pathLst>
                <a:path w="1412350" h="1240148" extrusionOk="0">
                  <a:moveTo>
                    <a:pt x="0" y="0"/>
                  </a:moveTo>
                  <a:lnTo>
                    <a:pt x="1412350" y="0"/>
                  </a:lnTo>
                  <a:lnTo>
                    <a:pt x="1412350" y="1240148"/>
                  </a:lnTo>
                  <a:lnTo>
                    <a:pt x="0" y="1240148"/>
                  </a:lnTo>
                  <a:close/>
                </a:path>
              </a:pathLst>
            </a:custGeom>
            <a:solidFill>
              <a:srgbClr val="CBDDEF"/>
            </a:solidFill>
            <a:ln w="9525" cap="sq" cmpd="sng">
              <a:solidFill>
                <a:srgbClr val="20538B"/>
              </a:solidFill>
              <a:prstDash val="solid"/>
              <a:miter lim="8000"/>
              <a:headEnd type="none" w="sm" len="sm"/>
              <a:tailEnd type="none" w="sm" len="sm"/>
            </a:ln>
          </p:spPr>
        </p:sp>
        <p:sp>
          <p:nvSpPr>
            <p:cNvPr id="838" name="Google Shape;838;p16"/>
            <p:cNvSpPr txBox="1"/>
            <p:nvPr/>
          </p:nvSpPr>
          <p:spPr>
            <a:xfrm>
              <a:off x="0" y="-47625"/>
              <a:ext cx="1412350" cy="1287773"/>
            </a:xfrm>
            <a:prstGeom prst="rect">
              <a:avLst/>
            </a:prstGeom>
            <a:noFill/>
            <a:ln>
              <a:noFill/>
            </a:ln>
          </p:spPr>
          <p:txBody>
            <a:bodyPr spcFirstLastPara="1" wrap="square" lIns="54850" tIns="54850" rIns="54850" bIns="54850" anchor="ctr" anchorCtr="0">
              <a:noAutofit/>
            </a:bodyPr>
            <a:lstStyle/>
            <a:p>
              <a:pPr marL="0" marR="0" lvl="0" indent="0" algn="ctr" rtl="0">
                <a:lnSpc>
                  <a:spcPct val="17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9" name="Google Shape;839;p16"/>
          <p:cNvGrpSpPr/>
          <p:nvPr/>
        </p:nvGrpSpPr>
        <p:grpSpPr>
          <a:xfrm>
            <a:off x="10594812" y="4803637"/>
            <a:ext cx="5145597" cy="655596"/>
            <a:chOff x="0" y="-47625"/>
            <a:chExt cx="3563521" cy="454025"/>
          </a:xfrm>
        </p:grpSpPr>
        <p:sp>
          <p:nvSpPr>
            <p:cNvPr id="840" name="Google Shape;840;p16"/>
            <p:cNvSpPr/>
            <p:nvPr/>
          </p:nvSpPr>
          <p:spPr>
            <a:xfrm>
              <a:off x="0" y="0"/>
              <a:ext cx="3563521" cy="406400"/>
            </a:xfrm>
            <a:custGeom>
              <a:avLst/>
              <a:gdLst/>
              <a:ahLst/>
              <a:cxnLst/>
              <a:rect l="l" t="t" r="r" b="b"/>
              <a:pathLst>
                <a:path w="3563521" h="406400" extrusionOk="0">
                  <a:moveTo>
                    <a:pt x="3360321" y="0"/>
                  </a:moveTo>
                  <a:cubicBezTo>
                    <a:pt x="3472545" y="0"/>
                    <a:pt x="3563521" y="90976"/>
                    <a:pt x="3563521" y="203200"/>
                  </a:cubicBezTo>
                  <a:cubicBezTo>
                    <a:pt x="3563521" y="315424"/>
                    <a:pt x="3472545" y="406400"/>
                    <a:pt x="3360321" y="406400"/>
                  </a:cubicBezTo>
                  <a:lnTo>
                    <a:pt x="203200" y="406400"/>
                  </a:lnTo>
                  <a:cubicBezTo>
                    <a:pt x="90976" y="406400"/>
                    <a:pt x="0" y="315424"/>
                    <a:pt x="0" y="203200"/>
                  </a:cubicBezTo>
                  <a:cubicBezTo>
                    <a:pt x="0" y="90976"/>
                    <a:pt x="90976" y="0"/>
                    <a:pt x="2032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6"/>
            <p:cNvSpPr txBox="1"/>
            <p:nvPr/>
          </p:nvSpPr>
          <p:spPr>
            <a:xfrm>
              <a:off x="0" y="-47625"/>
              <a:ext cx="356352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7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42" name="Google Shape;842;p16"/>
          <p:cNvGrpSpPr/>
          <p:nvPr/>
        </p:nvGrpSpPr>
        <p:grpSpPr>
          <a:xfrm>
            <a:off x="10594812" y="5693290"/>
            <a:ext cx="5145597" cy="655596"/>
            <a:chOff x="0" y="-47625"/>
            <a:chExt cx="3563521" cy="454025"/>
          </a:xfrm>
        </p:grpSpPr>
        <p:sp>
          <p:nvSpPr>
            <p:cNvPr id="843" name="Google Shape;843;p16"/>
            <p:cNvSpPr/>
            <p:nvPr/>
          </p:nvSpPr>
          <p:spPr>
            <a:xfrm>
              <a:off x="0" y="0"/>
              <a:ext cx="3563521" cy="406400"/>
            </a:xfrm>
            <a:custGeom>
              <a:avLst/>
              <a:gdLst/>
              <a:ahLst/>
              <a:cxnLst/>
              <a:rect l="l" t="t" r="r" b="b"/>
              <a:pathLst>
                <a:path w="3563521" h="406400" extrusionOk="0">
                  <a:moveTo>
                    <a:pt x="3360321" y="0"/>
                  </a:moveTo>
                  <a:cubicBezTo>
                    <a:pt x="3472545" y="0"/>
                    <a:pt x="3563521" y="90976"/>
                    <a:pt x="3563521" y="203200"/>
                  </a:cubicBezTo>
                  <a:cubicBezTo>
                    <a:pt x="3563521" y="315424"/>
                    <a:pt x="3472545" y="406400"/>
                    <a:pt x="3360321" y="406400"/>
                  </a:cubicBezTo>
                  <a:lnTo>
                    <a:pt x="203200" y="406400"/>
                  </a:lnTo>
                  <a:cubicBezTo>
                    <a:pt x="90976" y="406400"/>
                    <a:pt x="0" y="315424"/>
                    <a:pt x="0" y="203200"/>
                  </a:cubicBezTo>
                  <a:cubicBezTo>
                    <a:pt x="0" y="90976"/>
                    <a:pt x="90976" y="0"/>
                    <a:pt x="2032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6"/>
            <p:cNvSpPr txBox="1"/>
            <p:nvPr/>
          </p:nvSpPr>
          <p:spPr>
            <a:xfrm>
              <a:off x="0" y="-47625"/>
              <a:ext cx="356352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7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45" name="Google Shape;845;p16"/>
          <p:cNvGrpSpPr/>
          <p:nvPr/>
        </p:nvGrpSpPr>
        <p:grpSpPr>
          <a:xfrm>
            <a:off x="10594812" y="6584172"/>
            <a:ext cx="5145597" cy="655596"/>
            <a:chOff x="0" y="-47625"/>
            <a:chExt cx="3563521" cy="454025"/>
          </a:xfrm>
        </p:grpSpPr>
        <p:sp>
          <p:nvSpPr>
            <p:cNvPr id="846" name="Google Shape;846;p16"/>
            <p:cNvSpPr/>
            <p:nvPr/>
          </p:nvSpPr>
          <p:spPr>
            <a:xfrm>
              <a:off x="0" y="0"/>
              <a:ext cx="3563521" cy="406400"/>
            </a:xfrm>
            <a:custGeom>
              <a:avLst/>
              <a:gdLst/>
              <a:ahLst/>
              <a:cxnLst/>
              <a:rect l="l" t="t" r="r" b="b"/>
              <a:pathLst>
                <a:path w="3563521" h="406400" extrusionOk="0">
                  <a:moveTo>
                    <a:pt x="3360321" y="0"/>
                  </a:moveTo>
                  <a:cubicBezTo>
                    <a:pt x="3472545" y="0"/>
                    <a:pt x="3563521" y="90976"/>
                    <a:pt x="3563521" y="203200"/>
                  </a:cubicBezTo>
                  <a:cubicBezTo>
                    <a:pt x="3563521" y="315424"/>
                    <a:pt x="3472545" y="406400"/>
                    <a:pt x="3360321" y="406400"/>
                  </a:cubicBezTo>
                  <a:lnTo>
                    <a:pt x="203200" y="406400"/>
                  </a:lnTo>
                  <a:cubicBezTo>
                    <a:pt x="90976" y="406400"/>
                    <a:pt x="0" y="315424"/>
                    <a:pt x="0" y="203200"/>
                  </a:cubicBezTo>
                  <a:cubicBezTo>
                    <a:pt x="0" y="90976"/>
                    <a:pt x="90976" y="0"/>
                    <a:pt x="2032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6"/>
            <p:cNvSpPr txBox="1"/>
            <p:nvPr/>
          </p:nvSpPr>
          <p:spPr>
            <a:xfrm>
              <a:off x="0" y="-47625"/>
              <a:ext cx="356352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7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48" name="Google Shape;848;p16"/>
          <p:cNvGrpSpPr/>
          <p:nvPr/>
        </p:nvGrpSpPr>
        <p:grpSpPr>
          <a:xfrm>
            <a:off x="10594812" y="7475053"/>
            <a:ext cx="5145597" cy="655596"/>
            <a:chOff x="0" y="-47625"/>
            <a:chExt cx="3563521" cy="454025"/>
          </a:xfrm>
        </p:grpSpPr>
        <p:sp>
          <p:nvSpPr>
            <p:cNvPr id="849" name="Google Shape;849;p16"/>
            <p:cNvSpPr/>
            <p:nvPr/>
          </p:nvSpPr>
          <p:spPr>
            <a:xfrm>
              <a:off x="0" y="0"/>
              <a:ext cx="3563521" cy="406400"/>
            </a:xfrm>
            <a:custGeom>
              <a:avLst/>
              <a:gdLst/>
              <a:ahLst/>
              <a:cxnLst/>
              <a:rect l="l" t="t" r="r" b="b"/>
              <a:pathLst>
                <a:path w="3563521" h="406400" extrusionOk="0">
                  <a:moveTo>
                    <a:pt x="3360321" y="0"/>
                  </a:moveTo>
                  <a:cubicBezTo>
                    <a:pt x="3472545" y="0"/>
                    <a:pt x="3563521" y="90976"/>
                    <a:pt x="3563521" y="203200"/>
                  </a:cubicBezTo>
                  <a:cubicBezTo>
                    <a:pt x="3563521" y="315424"/>
                    <a:pt x="3472545" y="406400"/>
                    <a:pt x="3360321" y="406400"/>
                  </a:cubicBezTo>
                  <a:lnTo>
                    <a:pt x="203200" y="406400"/>
                  </a:lnTo>
                  <a:cubicBezTo>
                    <a:pt x="90976" y="406400"/>
                    <a:pt x="0" y="315424"/>
                    <a:pt x="0" y="203200"/>
                  </a:cubicBezTo>
                  <a:cubicBezTo>
                    <a:pt x="0" y="90976"/>
                    <a:pt x="90976" y="0"/>
                    <a:pt x="2032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6"/>
            <p:cNvSpPr txBox="1"/>
            <p:nvPr/>
          </p:nvSpPr>
          <p:spPr>
            <a:xfrm>
              <a:off x="0" y="-47625"/>
              <a:ext cx="356352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7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851" name="Google Shape;851;p16"/>
          <p:cNvCxnSpPr/>
          <p:nvPr/>
        </p:nvCxnSpPr>
        <p:spPr>
          <a:xfrm>
            <a:off x="10594812" y="4419943"/>
            <a:ext cx="4977279" cy="0"/>
          </a:xfrm>
          <a:prstGeom prst="straightConnector1">
            <a:avLst/>
          </a:prstGeom>
          <a:noFill/>
          <a:ln w="19050" cap="flat" cmpd="sng">
            <a:solidFill>
              <a:srgbClr val="20538B"/>
            </a:solidFill>
            <a:prstDash val="dot"/>
            <a:round/>
            <a:headEnd type="none" w="sm" len="sm"/>
            <a:tailEnd type="none" w="sm" len="sm"/>
          </a:ln>
        </p:spPr>
      </p:cxnSp>
      <p:sp>
        <p:nvSpPr>
          <p:cNvPr id="852" name="Google Shape;852;p16"/>
          <p:cNvSpPr/>
          <p:nvPr/>
        </p:nvSpPr>
        <p:spPr>
          <a:xfrm flipH="1">
            <a:off x="8868189" y="5713015"/>
            <a:ext cx="551623" cy="441298"/>
          </a:xfrm>
          <a:custGeom>
            <a:avLst/>
            <a:gdLst/>
            <a:ahLst/>
            <a:cxnLst/>
            <a:rect l="l" t="t" r="r" b="b"/>
            <a:pathLst>
              <a:path w="551623" h="441298" extrusionOk="0">
                <a:moveTo>
                  <a:pt x="551622" y="0"/>
                </a:moveTo>
                <a:lnTo>
                  <a:pt x="0" y="0"/>
                </a:lnTo>
                <a:lnTo>
                  <a:pt x="0" y="441298"/>
                </a:lnTo>
                <a:lnTo>
                  <a:pt x="551622" y="441298"/>
                </a:lnTo>
                <a:lnTo>
                  <a:pt x="551622" y="0"/>
                </a:lnTo>
                <a:close/>
              </a:path>
            </a:pathLst>
          </a:custGeom>
          <a:blipFill rotWithShape="1">
            <a:blip r:embed="rId5">
              <a:alphaModFix/>
            </a:blip>
            <a:stretch>
              <a:fillRect/>
            </a:stretch>
          </a:blipFill>
          <a:ln>
            <a:noFill/>
          </a:ln>
        </p:spPr>
      </p:sp>
      <p:grpSp>
        <p:nvGrpSpPr>
          <p:cNvPr id="853" name="Google Shape;853;p16"/>
          <p:cNvGrpSpPr/>
          <p:nvPr/>
        </p:nvGrpSpPr>
        <p:grpSpPr>
          <a:xfrm>
            <a:off x="10775369" y="3299100"/>
            <a:ext cx="827620" cy="1011895"/>
            <a:chOff x="0" y="-245700"/>
            <a:chExt cx="1103493" cy="1349193"/>
          </a:xfrm>
        </p:grpSpPr>
        <p:grpSp>
          <p:nvGrpSpPr>
            <p:cNvPr id="854" name="Google Shape;854;p16"/>
            <p:cNvGrpSpPr/>
            <p:nvPr/>
          </p:nvGrpSpPr>
          <p:grpSpPr>
            <a:xfrm>
              <a:off x="0" y="-245700"/>
              <a:ext cx="1103493" cy="1349193"/>
              <a:chOff x="0" y="-180975"/>
              <a:chExt cx="812800" cy="993775"/>
            </a:xfrm>
          </p:grpSpPr>
          <p:sp>
            <p:nvSpPr>
              <p:cNvPr id="855" name="Google Shape;855;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53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6"/>
              <p:cNvSpPr txBox="1"/>
              <p:nvPr/>
            </p:nvSpPr>
            <p:spPr>
              <a:xfrm>
                <a:off x="76200" y="-180975"/>
                <a:ext cx="660400" cy="917575"/>
              </a:xfrm>
              <a:prstGeom prst="rect">
                <a:avLst/>
              </a:prstGeom>
              <a:noFill/>
              <a:ln>
                <a:noFill/>
              </a:ln>
            </p:spPr>
            <p:txBody>
              <a:bodyPr spcFirstLastPara="1" wrap="square" lIns="50800" tIns="50800" rIns="50800" bIns="50800" anchor="ctr" anchorCtr="0">
                <a:noAutofit/>
              </a:bodyPr>
              <a:lstStyle/>
              <a:p>
                <a:pPr marL="0" marR="0" lvl="0" indent="0" algn="ctr" rtl="0">
                  <a:lnSpc>
                    <a:spcPct val="277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57" name="Google Shape;857;p16"/>
            <p:cNvSpPr/>
            <p:nvPr/>
          </p:nvSpPr>
          <p:spPr>
            <a:xfrm>
              <a:off x="208777" y="214661"/>
              <a:ext cx="684438" cy="674172"/>
            </a:xfrm>
            <a:custGeom>
              <a:avLst/>
              <a:gdLst/>
              <a:ahLst/>
              <a:cxnLst/>
              <a:rect l="l" t="t" r="r" b="b"/>
              <a:pathLst>
                <a:path w="684438" h="674172" extrusionOk="0">
                  <a:moveTo>
                    <a:pt x="0" y="0"/>
                  </a:moveTo>
                  <a:lnTo>
                    <a:pt x="684439" y="0"/>
                  </a:lnTo>
                  <a:lnTo>
                    <a:pt x="684439" y="674172"/>
                  </a:lnTo>
                  <a:lnTo>
                    <a:pt x="0" y="674172"/>
                  </a:lnTo>
                  <a:lnTo>
                    <a:pt x="0" y="0"/>
                  </a:lnTo>
                  <a:close/>
                </a:path>
              </a:pathLst>
            </a:custGeom>
            <a:blipFill rotWithShape="1">
              <a:blip r:embed="rId6">
                <a:alphaModFix/>
              </a:blip>
              <a:stretch>
                <a:fillRect/>
              </a:stretch>
            </a:blipFill>
            <a:ln>
              <a:noFill/>
            </a:ln>
          </p:spPr>
        </p:sp>
      </p:grpSp>
      <p:grpSp>
        <p:nvGrpSpPr>
          <p:cNvPr id="858" name="Google Shape;858;p16"/>
          <p:cNvGrpSpPr/>
          <p:nvPr/>
        </p:nvGrpSpPr>
        <p:grpSpPr>
          <a:xfrm>
            <a:off x="2715909" y="3341113"/>
            <a:ext cx="827620" cy="1011895"/>
            <a:chOff x="0" y="-245700"/>
            <a:chExt cx="1103493" cy="1349193"/>
          </a:xfrm>
        </p:grpSpPr>
        <p:grpSp>
          <p:nvGrpSpPr>
            <p:cNvPr id="859" name="Google Shape;859;p16"/>
            <p:cNvGrpSpPr/>
            <p:nvPr/>
          </p:nvGrpSpPr>
          <p:grpSpPr>
            <a:xfrm>
              <a:off x="0" y="-245700"/>
              <a:ext cx="1103493" cy="1349193"/>
              <a:chOff x="0" y="-180975"/>
              <a:chExt cx="812800" cy="993775"/>
            </a:xfrm>
          </p:grpSpPr>
          <p:sp>
            <p:nvSpPr>
              <p:cNvPr id="860" name="Google Shape;860;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6"/>
              <p:cNvSpPr txBox="1"/>
              <p:nvPr/>
            </p:nvSpPr>
            <p:spPr>
              <a:xfrm>
                <a:off x="76200" y="-180975"/>
                <a:ext cx="660400" cy="917575"/>
              </a:xfrm>
              <a:prstGeom prst="rect">
                <a:avLst/>
              </a:prstGeom>
              <a:noFill/>
              <a:ln>
                <a:noFill/>
              </a:ln>
            </p:spPr>
            <p:txBody>
              <a:bodyPr spcFirstLastPara="1" wrap="square" lIns="50800" tIns="50800" rIns="50800" bIns="50800" anchor="ctr" anchorCtr="0">
                <a:noAutofit/>
              </a:bodyPr>
              <a:lstStyle/>
              <a:p>
                <a:pPr marL="0" marR="0" lvl="0" indent="0" algn="ctr" rtl="0">
                  <a:lnSpc>
                    <a:spcPct val="277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62" name="Google Shape;862;p16"/>
            <p:cNvSpPr/>
            <p:nvPr/>
          </p:nvSpPr>
          <p:spPr>
            <a:xfrm>
              <a:off x="175565" y="263967"/>
              <a:ext cx="752364" cy="575559"/>
            </a:xfrm>
            <a:custGeom>
              <a:avLst/>
              <a:gdLst/>
              <a:ahLst/>
              <a:cxnLst/>
              <a:rect l="l" t="t" r="r" b="b"/>
              <a:pathLst>
                <a:path w="752364" h="575559" extrusionOk="0">
                  <a:moveTo>
                    <a:pt x="0" y="0"/>
                  </a:moveTo>
                  <a:lnTo>
                    <a:pt x="752364" y="0"/>
                  </a:lnTo>
                  <a:lnTo>
                    <a:pt x="752364" y="575559"/>
                  </a:lnTo>
                  <a:lnTo>
                    <a:pt x="0" y="575559"/>
                  </a:lnTo>
                  <a:lnTo>
                    <a:pt x="0" y="0"/>
                  </a:lnTo>
                  <a:close/>
                </a:path>
              </a:pathLst>
            </a:custGeom>
            <a:blipFill rotWithShape="1">
              <a:blip r:embed="rId7">
                <a:alphaModFix/>
              </a:blip>
              <a:stretch>
                <a:fillRect/>
              </a:stretch>
            </a:blipFill>
            <a:ln>
              <a:noFill/>
            </a:ln>
          </p:spPr>
        </p:sp>
      </p:grpSp>
      <p:sp>
        <p:nvSpPr>
          <p:cNvPr id="863" name="Google Shape;863;p16"/>
          <p:cNvSpPr txBox="1"/>
          <p:nvPr/>
        </p:nvSpPr>
        <p:spPr>
          <a:xfrm>
            <a:off x="4095634" y="3637127"/>
            <a:ext cx="2049509" cy="50736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n-US" sz="2899" b="1" i="0" u="none" strike="noStrike" cap="none">
                <a:solidFill>
                  <a:srgbClr val="FFFFFF"/>
                </a:solidFill>
                <a:latin typeface="Arial"/>
                <a:ea typeface="Arial"/>
                <a:cs typeface="Arial"/>
                <a:sym typeface="Arial"/>
              </a:rPr>
              <a:t>LLM 단독</a:t>
            </a:r>
            <a:endParaRPr/>
          </a:p>
        </p:txBody>
      </p:sp>
      <p:sp>
        <p:nvSpPr>
          <p:cNvPr id="864" name="Google Shape;864;p16"/>
          <p:cNvSpPr txBox="1"/>
          <p:nvPr/>
        </p:nvSpPr>
        <p:spPr>
          <a:xfrm>
            <a:off x="3235034" y="4809438"/>
            <a:ext cx="3761083" cy="555625"/>
          </a:xfrm>
          <a:prstGeom prst="rect">
            <a:avLst/>
          </a:prstGeom>
          <a:noFill/>
          <a:ln>
            <a:noFill/>
          </a:ln>
        </p:spPr>
        <p:txBody>
          <a:bodyPr spcFirstLastPara="1" wrap="square" lIns="0" tIns="0" rIns="0" bIns="0" anchor="t" anchorCtr="0">
            <a:spAutoFit/>
          </a:bodyPr>
          <a:lstStyle/>
          <a:p>
            <a:pPr marL="0" marR="0" lvl="0" indent="0" algn="ctr" rtl="0">
              <a:lnSpc>
                <a:spcPct val="250000"/>
              </a:lnSpc>
              <a:spcBef>
                <a:spcPts val="0"/>
              </a:spcBef>
              <a:spcAft>
                <a:spcPts val="0"/>
              </a:spcAft>
              <a:buNone/>
            </a:pPr>
            <a:r>
              <a:rPr lang="en-US" sz="2000" b="0" i="0" u="none" strike="noStrike" cap="none">
                <a:solidFill>
                  <a:srgbClr val="20538B"/>
                </a:solidFill>
                <a:latin typeface="Arial"/>
                <a:ea typeface="Arial"/>
                <a:cs typeface="Arial"/>
                <a:sym typeface="Arial"/>
              </a:rPr>
              <a:t>과징금 금액을 지어냄</a:t>
            </a:r>
            <a:endParaRPr/>
          </a:p>
        </p:txBody>
      </p:sp>
      <p:sp>
        <p:nvSpPr>
          <p:cNvPr id="865" name="Google Shape;865;p16"/>
          <p:cNvSpPr txBox="1"/>
          <p:nvPr/>
        </p:nvSpPr>
        <p:spPr>
          <a:xfrm>
            <a:off x="3195485" y="5723421"/>
            <a:ext cx="3707219" cy="555625"/>
          </a:xfrm>
          <a:prstGeom prst="rect">
            <a:avLst/>
          </a:prstGeom>
          <a:noFill/>
          <a:ln>
            <a:noFill/>
          </a:ln>
        </p:spPr>
        <p:txBody>
          <a:bodyPr spcFirstLastPara="1" wrap="square" lIns="0" tIns="0" rIns="0" bIns="0" anchor="t" anchorCtr="0">
            <a:spAutoFit/>
          </a:bodyPr>
          <a:lstStyle/>
          <a:p>
            <a:pPr marL="0" marR="0" lvl="0" indent="0" algn="ctr" rtl="0">
              <a:lnSpc>
                <a:spcPct val="250000"/>
              </a:lnSpc>
              <a:spcBef>
                <a:spcPts val="0"/>
              </a:spcBef>
              <a:spcAft>
                <a:spcPts val="0"/>
              </a:spcAft>
              <a:buNone/>
            </a:pPr>
            <a:r>
              <a:rPr lang="en-US" sz="2000" b="0" i="0" u="none" strike="noStrike" cap="none">
                <a:solidFill>
                  <a:srgbClr val="20538B"/>
                </a:solidFill>
                <a:latin typeface="Arial"/>
                <a:ea typeface="Arial"/>
                <a:cs typeface="Arial"/>
                <a:sym typeface="Arial"/>
              </a:rPr>
              <a:t>없는 조문·사례 인용</a:t>
            </a:r>
            <a:endParaRPr/>
          </a:p>
        </p:txBody>
      </p:sp>
      <p:sp>
        <p:nvSpPr>
          <p:cNvPr id="866" name="Google Shape;866;p16"/>
          <p:cNvSpPr txBox="1"/>
          <p:nvPr/>
        </p:nvSpPr>
        <p:spPr>
          <a:xfrm>
            <a:off x="3195485" y="6614302"/>
            <a:ext cx="3800632" cy="555625"/>
          </a:xfrm>
          <a:prstGeom prst="rect">
            <a:avLst/>
          </a:prstGeom>
          <a:noFill/>
          <a:ln>
            <a:noFill/>
          </a:ln>
        </p:spPr>
        <p:txBody>
          <a:bodyPr spcFirstLastPara="1" wrap="square" lIns="0" tIns="0" rIns="0" bIns="0" anchor="t" anchorCtr="0">
            <a:spAutoFit/>
          </a:bodyPr>
          <a:lstStyle/>
          <a:p>
            <a:pPr marL="0" marR="0" lvl="0" indent="0" algn="ctr" rtl="0">
              <a:lnSpc>
                <a:spcPct val="250000"/>
              </a:lnSpc>
              <a:spcBef>
                <a:spcPts val="0"/>
              </a:spcBef>
              <a:spcAft>
                <a:spcPts val="0"/>
              </a:spcAft>
              <a:buNone/>
            </a:pPr>
            <a:r>
              <a:rPr lang="en-US" sz="2000" b="0" i="0" u="none" strike="noStrike" cap="none">
                <a:solidFill>
                  <a:srgbClr val="20538B"/>
                </a:solidFill>
                <a:latin typeface="Arial"/>
                <a:ea typeface="Arial"/>
                <a:cs typeface="Arial"/>
                <a:sym typeface="Arial"/>
              </a:rPr>
              <a:t>무관한 사례 연결</a:t>
            </a:r>
            <a:endParaRPr/>
          </a:p>
        </p:txBody>
      </p:sp>
      <p:sp>
        <p:nvSpPr>
          <p:cNvPr id="867" name="Google Shape;867;p16"/>
          <p:cNvSpPr txBox="1"/>
          <p:nvPr/>
        </p:nvSpPr>
        <p:spPr>
          <a:xfrm>
            <a:off x="3195485" y="7505183"/>
            <a:ext cx="3800632" cy="555625"/>
          </a:xfrm>
          <a:prstGeom prst="rect">
            <a:avLst/>
          </a:prstGeom>
          <a:noFill/>
          <a:ln>
            <a:noFill/>
          </a:ln>
        </p:spPr>
        <p:txBody>
          <a:bodyPr spcFirstLastPara="1" wrap="square" lIns="0" tIns="0" rIns="0" bIns="0" anchor="t" anchorCtr="0">
            <a:spAutoFit/>
          </a:bodyPr>
          <a:lstStyle/>
          <a:p>
            <a:pPr marL="0" marR="0" lvl="0" indent="0" algn="ctr" rtl="0">
              <a:lnSpc>
                <a:spcPct val="250000"/>
              </a:lnSpc>
              <a:spcBef>
                <a:spcPts val="0"/>
              </a:spcBef>
              <a:spcAft>
                <a:spcPts val="0"/>
              </a:spcAft>
              <a:buNone/>
            </a:pPr>
            <a:r>
              <a:rPr lang="en-US" sz="2000" b="0" i="0" u="none" strike="noStrike" cap="none">
                <a:solidFill>
                  <a:srgbClr val="20538B"/>
                </a:solidFill>
                <a:latin typeface="Arial"/>
                <a:ea typeface="Arial"/>
                <a:cs typeface="Arial"/>
                <a:sym typeface="Arial"/>
              </a:rPr>
              <a:t>빠뜨린 취약점 발생</a:t>
            </a:r>
            <a:endParaRPr/>
          </a:p>
        </p:txBody>
      </p:sp>
      <p:sp>
        <p:nvSpPr>
          <p:cNvPr id="868" name="Google Shape;868;p16"/>
          <p:cNvSpPr txBox="1"/>
          <p:nvPr/>
        </p:nvSpPr>
        <p:spPr>
          <a:xfrm>
            <a:off x="12041543" y="3595113"/>
            <a:ext cx="2252135" cy="50736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n-US" sz="2899" b="1" i="0" u="none" strike="noStrike" cap="none">
                <a:solidFill>
                  <a:srgbClr val="20538B"/>
                </a:solidFill>
                <a:latin typeface="Arial"/>
                <a:ea typeface="Arial"/>
                <a:cs typeface="Arial"/>
                <a:sym typeface="Arial"/>
              </a:rPr>
              <a:t>보고서 엔진</a:t>
            </a:r>
            <a:endParaRPr/>
          </a:p>
        </p:txBody>
      </p:sp>
      <p:sp>
        <p:nvSpPr>
          <p:cNvPr id="869" name="Google Shape;869;p16"/>
          <p:cNvSpPr txBox="1"/>
          <p:nvPr/>
        </p:nvSpPr>
        <p:spPr>
          <a:xfrm>
            <a:off x="10931952" y="4764986"/>
            <a:ext cx="4471318" cy="555625"/>
          </a:xfrm>
          <a:prstGeom prst="rect">
            <a:avLst/>
          </a:prstGeom>
          <a:noFill/>
          <a:ln>
            <a:noFill/>
          </a:ln>
        </p:spPr>
        <p:txBody>
          <a:bodyPr spcFirstLastPara="1" wrap="square" lIns="0" tIns="0" rIns="0" bIns="0" anchor="t" anchorCtr="0">
            <a:spAutoFit/>
          </a:bodyPr>
          <a:lstStyle/>
          <a:p>
            <a:pPr marL="0" marR="0" lvl="0" indent="0" algn="ctr" rtl="0">
              <a:lnSpc>
                <a:spcPct val="250000"/>
              </a:lnSpc>
              <a:spcBef>
                <a:spcPts val="0"/>
              </a:spcBef>
              <a:spcAft>
                <a:spcPts val="0"/>
              </a:spcAft>
              <a:buNone/>
            </a:pPr>
            <a:r>
              <a:rPr lang="en-US" sz="2000" b="0" i="0" u="none" strike="noStrike" cap="none">
                <a:solidFill>
                  <a:srgbClr val="20538B"/>
                </a:solidFill>
                <a:latin typeface="Arial"/>
                <a:ea typeface="Arial"/>
                <a:cs typeface="Arial"/>
                <a:sym typeface="Arial"/>
              </a:rPr>
              <a:t>금액은 LLM에 안 넘김</a:t>
            </a:r>
            <a:endParaRPr/>
          </a:p>
        </p:txBody>
      </p:sp>
      <p:sp>
        <p:nvSpPr>
          <p:cNvPr id="870" name="Google Shape;870;p16"/>
          <p:cNvSpPr txBox="1"/>
          <p:nvPr/>
        </p:nvSpPr>
        <p:spPr>
          <a:xfrm>
            <a:off x="10931952" y="5678932"/>
            <a:ext cx="4471318" cy="555625"/>
          </a:xfrm>
          <a:prstGeom prst="rect">
            <a:avLst/>
          </a:prstGeom>
          <a:noFill/>
          <a:ln>
            <a:noFill/>
          </a:ln>
        </p:spPr>
        <p:txBody>
          <a:bodyPr spcFirstLastPara="1" wrap="square" lIns="0" tIns="0" rIns="0" bIns="0" anchor="t" anchorCtr="0">
            <a:spAutoFit/>
          </a:bodyPr>
          <a:lstStyle/>
          <a:p>
            <a:pPr marL="0" marR="0" lvl="0" indent="0" algn="ctr" rtl="0">
              <a:lnSpc>
                <a:spcPct val="250000"/>
              </a:lnSpc>
              <a:spcBef>
                <a:spcPts val="0"/>
              </a:spcBef>
              <a:spcAft>
                <a:spcPts val="0"/>
              </a:spcAft>
              <a:buNone/>
            </a:pPr>
            <a:r>
              <a:rPr lang="en-US" sz="2000" b="0" i="0" u="none" strike="noStrike" cap="none">
                <a:solidFill>
                  <a:srgbClr val="20538B"/>
                </a:solidFill>
                <a:latin typeface="Arial"/>
                <a:ea typeface="Arial"/>
                <a:cs typeface="Arial"/>
                <a:sym typeface="Arial"/>
              </a:rPr>
              <a:t>ID로만 참조 → 코드 검증</a:t>
            </a:r>
            <a:endParaRPr/>
          </a:p>
        </p:txBody>
      </p:sp>
      <p:sp>
        <p:nvSpPr>
          <p:cNvPr id="871" name="Google Shape;871;p16"/>
          <p:cNvSpPr txBox="1"/>
          <p:nvPr/>
        </p:nvSpPr>
        <p:spPr>
          <a:xfrm>
            <a:off x="10931952" y="6548459"/>
            <a:ext cx="4471318" cy="555625"/>
          </a:xfrm>
          <a:prstGeom prst="rect">
            <a:avLst/>
          </a:prstGeom>
          <a:noFill/>
          <a:ln>
            <a:noFill/>
          </a:ln>
        </p:spPr>
        <p:txBody>
          <a:bodyPr spcFirstLastPara="1" wrap="square" lIns="0" tIns="0" rIns="0" bIns="0" anchor="t" anchorCtr="0">
            <a:spAutoFit/>
          </a:bodyPr>
          <a:lstStyle/>
          <a:p>
            <a:pPr marL="0" marR="0" lvl="0" indent="0" algn="ctr" rtl="0">
              <a:lnSpc>
                <a:spcPct val="250000"/>
              </a:lnSpc>
              <a:spcBef>
                <a:spcPts val="0"/>
              </a:spcBef>
              <a:spcAft>
                <a:spcPts val="0"/>
              </a:spcAft>
              <a:buNone/>
            </a:pPr>
            <a:r>
              <a:rPr lang="en-US" sz="2000" b="0" i="0" u="none" strike="noStrike" cap="none">
                <a:solidFill>
                  <a:srgbClr val="20538B"/>
                </a:solidFill>
                <a:latin typeface="Arial"/>
                <a:ea typeface="Arial"/>
                <a:cs typeface="Arial"/>
                <a:sym typeface="Arial"/>
              </a:rPr>
              <a:t>후보 안에서만 사례 선택</a:t>
            </a:r>
            <a:endParaRPr/>
          </a:p>
        </p:txBody>
      </p:sp>
      <p:sp>
        <p:nvSpPr>
          <p:cNvPr id="872" name="Google Shape;872;p16"/>
          <p:cNvSpPr txBox="1"/>
          <p:nvPr/>
        </p:nvSpPr>
        <p:spPr>
          <a:xfrm>
            <a:off x="10931952" y="7426881"/>
            <a:ext cx="4471318" cy="555625"/>
          </a:xfrm>
          <a:prstGeom prst="rect">
            <a:avLst/>
          </a:prstGeom>
          <a:noFill/>
          <a:ln>
            <a:noFill/>
          </a:ln>
        </p:spPr>
        <p:txBody>
          <a:bodyPr spcFirstLastPara="1" wrap="square" lIns="0" tIns="0" rIns="0" bIns="0" anchor="t" anchorCtr="0">
            <a:spAutoFit/>
          </a:bodyPr>
          <a:lstStyle/>
          <a:p>
            <a:pPr marL="0" marR="0" lvl="0" indent="0" algn="ctr" rtl="0">
              <a:lnSpc>
                <a:spcPct val="250000"/>
              </a:lnSpc>
              <a:spcBef>
                <a:spcPts val="0"/>
              </a:spcBef>
              <a:spcAft>
                <a:spcPts val="0"/>
              </a:spcAft>
              <a:buNone/>
            </a:pPr>
            <a:r>
              <a:rPr lang="en-US" sz="2000" b="0" i="0" u="none" strike="noStrike" cap="none">
                <a:solidFill>
                  <a:srgbClr val="20538B"/>
                </a:solidFill>
                <a:latin typeface="Arial"/>
                <a:ea typeface="Arial"/>
                <a:cs typeface="Arial"/>
                <a:sym typeface="Arial"/>
              </a:rPr>
              <a:t>빠진 항목은 코드가 보완</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grpSp>
        <p:nvGrpSpPr>
          <p:cNvPr id="388" name="Google Shape;388;p9"/>
          <p:cNvGrpSpPr/>
          <p:nvPr/>
        </p:nvGrpSpPr>
        <p:grpSpPr>
          <a:xfrm>
            <a:off x="-1081198" y="3274348"/>
            <a:ext cx="20615256" cy="7012652"/>
            <a:chOff x="-99237" y="-1"/>
            <a:chExt cx="27487007" cy="9350203"/>
          </a:xfrm>
        </p:grpSpPr>
        <p:grpSp>
          <p:nvGrpSpPr>
            <p:cNvPr id="389" name="Google Shape;389;p9"/>
            <p:cNvGrpSpPr/>
            <p:nvPr/>
          </p:nvGrpSpPr>
          <p:grpSpPr>
            <a:xfrm rot="-5400000">
              <a:off x="11107419" y="-11206657"/>
              <a:ext cx="4770675" cy="27183987"/>
              <a:chOff x="0" y="-38100"/>
              <a:chExt cx="1831597" cy="10436700"/>
            </a:xfrm>
          </p:grpSpPr>
          <p:sp>
            <p:nvSpPr>
              <p:cNvPr id="390" name="Google Shape;390;p9"/>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91" name="Google Shape;391;p9"/>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2" name="Google Shape;392;p9"/>
            <p:cNvGrpSpPr/>
            <p:nvPr/>
          </p:nvGrpSpPr>
          <p:grpSpPr>
            <a:xfrm rot="-5400000">
              <a:off x="11636974" y="-6400594"/>
              <a:ext cx="4579528" cy="26922063"/>
              <a:chOff x="0" y="-38100"/>
              <a:chExt cx="1758210" cy="10336140"/>
            </a:xfrm>
          </p:grpSpPr>
          <p:sp>
            <p:nvSpPr>
              <p:cNvPr id="393" name="Google Shape;393;p9"/>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94" name="Google Shape;394;p9"/>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95" name="Google Shape;395;p9"/>
          <p:cNvGrpSpPr/>
          <p:nvPr/>
        </p:nvGrpSpPr>
        <p:grpSpPr>
          <a:xfrm>
            <a:off x="731085" y="622849"/>
            <a:ext cx="16825832" cy="9050183"/>
            <a:chOff x="0" y="-108814"/>
            <a:chExt cx="22434442" cy="12066910"/>
          </a:xfrm>
        </p:grpSpPr>
        <p:grpSp>
          <p:nvGrpSpPr>
            <p:cNvPr id="396" name="Google Shape;396;p9"/>
            <p:cNvGrpSpPr/>
            <p:nvPr/>
          </p:nvGrpSpPr>
          <p:grpSpPr>
            <a:xfrm>
              <a:off x="26537" y="10214890"/>
              <a:ext cx="22386981" cy="1743206"/>
              <a:chOff x="0" y="-47625"/>
              <a:chExt cx="9809754" cy="763855"/>
            </a:xfrm>
          </p:grpSpPr>
          <p:sp>
            <p:nvSpPr>
              <p:cNvPr id="397" name="Google Shape;397;p9"/>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98" name="Google Shape;398;p9"/>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9" name="Google Shape;399;p9"/>
            <p:cNvGrpSpPr/>
            <p:nvPr/>
          </p:nvGrpSpPr>
          <p:grpSpPr>
            <a:xfrm>
              <a:off x="0" y="-108814"/>
              <a:ext cx="22434442" cy="11946255"/>
              <a:chOff x="0" y="-47625"/>
              <a:chExt cx="9818922" cy="5228539"/>
            </a:xfrm>
          </p:grpSpPr>
          <p:sp>
            <p:nvSpPr>
              <p:cNvPr id="400" name="Google Shape;400;p9"/>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401" name="Google Shape;401;p9"/>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402" name="Google Shape;402;p9"/>
          <p:cNvGrpSpPr/>
          <p:nvPr/>
        </p:nvGrpSpPr>
        <p:grpSpPr>
          <a:xfrm>
            <a:off x="763743" y="662703"/>
            <a:ext cx="16760151" cy="1561172"/>
            <a:chOff x="0" y="-38100"/>
            <a:chExt cx="8581180" cy="799319"/>
          </a:xfrm>
        </p:grpSpPr>
        <p:sp>
          <p:nvSpPr>
            <p:cNvPr id="403" name="Google Shape;403;p9"/>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404" name="Google Shape;404;p9"/>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5" name="Google Shape;405;p9"/>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grpSp>
        <p:nvGrpSpPr>
          <p:cNvPr id="406" name="Google Shape;406;p9"/>
          <p:cNvGrpSpPr/>
          <p:nvPr/>
        </p:nvGrpSpPr>
        <p:grpSpPr>
          <a:xfrm>
            <a:off x="2130591" y="2765250"/>
            <a:ext cx="4312267" cy="4686449"/>
            <a:chOff x="0" y="-47625"/>
            <a:chExt cx="2740158" cy="2977926"/>
          </a:xfrm>
        </p:grpSpPr>
        <p:sp>
          <p:nvSpPr>
            <p:cNvPr id="407" name="Google Shape;407;p9"/>
            <p:cNvSpPr/>
            <p:nvPr/>
          </p:nvSpPr>
          <p:spPr>
            <a:xfrm>
              <a:off x="0" y="0"/>
              <a:ext cx="2740158" cy="2930301"/>
            </a:xfrm>
            <a:custGeom>
              <a:avLst/>
              <a:gdLst/>
              <a:ahLst/>
              <a:cxnLst/>
              <a:rect l="l" t="t" r="r" b="b"/>
              <a:pathLst>
                <a:path w="2740158" h="2930301" extrusionOk="0">
                  <a:moveTo>
                    <a:pt x="0" y="0"/>
                  </a:moveTo>
                  <a:lnTo>
                    <a:pt x="2740158" y="0"/>
                  </a:lnTo>
                  <a:lnTo>
                    <a:pt x="2740158" y="2930301"/>
                  </a:lnTo>
                  <a:lnTo>
                    <a:pt x="0" y="2930301"/>
                  </a:lnTo>
                  <a:close/>
                </a:path>
              </a:pathLst>
            </a:custGeom>
            <a:solidFill>
              <a:srgbClr val="FFFFFF"/>
            </a:solidFill>
            <a:ln w="9525" cap="sq" cmpd="sng">
              <a:solidFill>
                <a:srgbClr val="20538B"/>
              </a:solidFill>
              <a:prstDash val="solid"/>
              <a:miter lim="8000"/>
              <a:headEnd type="none" w="sm" len="sm"/>
              <a:tailEnd type="none" w="sm" len="sm"/>
            </a:ln>
          </p:spPr>
        </p:sp>
        <p:sp>
          <p:nvSpPr>
            <p:cNvPr id="408" name="Google Shape;408;p9"/>
            <p:cNvSpPr txBox="1"/>
            <p:nvPr/>
          </p:nvSpPr>
          <p:spPr>
            <a:xfrm>
              <a:off x="0" y="-47625"/>
              <a:ext cx="2740158" cy="2977926"/>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9" name="Google Shape;409;p9"/>
          <p:cNvGrpSpPr/>
          <p:nvPr/>
        </p:nvGrpSpPr>
        <p:grpSpPr>
          <a:xfrm>
            <a:off x="6990554" y="2771977"/>
            <a:ext cx="4312267" cy="4679722"/>
            <a:chOff x="0" y="-47625"/>
            <a:chExt cx="2740158" cy="2973652"/>
          </a:xfrm>
        </p:grpSpPr>
        <p:sp>
          <p:nvSpPr>
            <p:cNvPr id="410" name="Google Shape;410;p9"/>
            <p:cNvSpPr/>
            <p:nvPr/>
          </p:nvSpPr>
          <p:spPr>
            <a:xfrm>
              <a:off x="0" y="0"/>
              <a:ext cx="2740158" cy="2926026"/>
            </a:xfrm>
            <a:custGeom>
              <a:avLst/>
              <a:gdLst/>
              <a:ahLst/>
              <a:cxnLst/>
              <a:rect l="l" t="t" r="r" b="b"/>
              <a:pathLst>
                <a:path w="2740158" h="2926026" extrusionOk="0">
                  <a:moveTo>
                    <a:pt x="0" y="0"/>
                  </a:moveTo>
                  <a:lnTo>
                    <a:pt x="2740158" y="0"/>
                  </a:lnTo>
                  <a:lnTo>
                    <a:pt x="2740158" y="2926026"/>
                  </a:lnTo>
                  <a:lnTo>
                    <a:pt x="0" y="2926026"/>
                  </a:lnTo>
                  <a:close/>
                </a:path>
              </a:pathLst>
            </a:custGeom>
            <a:solidFill>
              <a:srgbClr val="FFFFFF"/>
            </a:solidFill>
            <a:ln w="9525" cap="sq" cmpd="sng">
              <a:solidFill>
                <a:srgbClr val="20538B"/>
              </a:solidFill>
              <a:prstDash val="solid"/>
              <a:miter lim="8000"/>
              <a:headEnd type="none" w="sm" len="sm"/>
              <a:tailEnd type="none" w="sm" len="sm"/>
            </a:ln>
          </p:spPr>
        </p:sp>
        <p:sp>
          <p:nvSpPr>
            <p:cNvPr id="411" name="Google Shape;411;p9"/>
            <p:cNvSpPr txBox="1"/>
            <p:nvPr/>
          </p:nvSpPr>
          <p:spPr>
            <a:xfrm>
              <a:off x="0" y="-47625"/>
              <a:ext cx="2740158" cy="2973652"/>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2" name="Google Shape;412;p9"/>
          <p:cNvGrpSpPr/>
          <p:nvPr/>
        </p:nvGrpSpPr>
        <p:grpSpPr>
          <a:xfrm>
            <a:off x="11850516" y="2765250"/>
            <a:ext cx="4312267" cy="4686449"/>
            <a:chOff x="0" y="-47625"/>
            <a:chExt cx="2740158" cy="2977926"/>
          </a:xfrm>
        </p:grpSpPr>
        <p:sp>
          <p:nvSpPr>
            <p:cNvPr id="413" name="Google Shape;413;p9"/>
            <p:cNvSpPr/>
            <p:nvPr/>
          </p:nvSpPr>
          <p:spPr>
            <a:xfrm>
              <a:off x="0" y="0"/>
              <a:ext cx="2740158" cy="2930301"/>
            </a:xfrm>
            <a:custGeom>
              <a:avLst/>
              <a:gdLst/>
              <a:ahLst/>
              <a:cxnLst/>
              <a:rect l="l" t="t" r="r" b="b"/>
              <a:pathLst>
                <a:path w="2740158" h="2930301" extrusionOk="0">
                  <a:moveTo>
                    <a:pt x="0" y="0"/>
                  </a:moveTo>
                  <a:lnTo>
                    <a:pt x="2740158" y="0"/>
                  </a:lnTo>
                  <a:lnTo>
                    <a:pt x="2740158" y="2930301"/>
                  </a:lnTo>
                  <a:lnTo>
                    <a:pt x="0" y="2930301"/>
                  </a:lnTo>
                  <a:close/>
                </a:path>
              </a:pathLst>
            </a:custGeom>
            <a:solidFill>
              <a:srgbClr val="FFFFFF"/>
            </a:solidFill>
            <a:ln w="9525" cap="sq" cmpd="sng">
              <a:solidFill>
                <a:srgbClr val="20538B"/>
              </a:solidFill>
              <a:prstDash val="solid"/>
              <a:miter lim="8000"/>
              <a:headEnd type="none" w="sm" len="sm"/>
              <a:tailEnd type="none" w="sm" len="sm"/>
            </a:ln>
          </p:spPr>
        </p:sp>
        <p:sp>
          <p:nvSpPr>
            <p:cNvPr id="414" name="Google Shape;414;p9"/>
            <p:cNvSpPr txBox="1"/>
            <p:nvPr/>
          </p:nvSpPr>
          <p:spPr>
            <a:xfrm>
              <a:off x="0" y="-47625"/>
              <a:ext cx="2740158" cy="2977926"/>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5" name="Google Shape;415;p9"/>
          <p:cNvGrpSpPr/>
          <p:nvPr/>
        </p:nvGrpSpPr>
        <p:grpSpPr>
          <a:xfrm>
            <a:off x="2272009" y="7946622"/>
            <a:ext cx="13749356" cy="1086588"/>
            <a:chOff x="0" y="-47625"/>
            <a:chExt cx="8615824" cy="680894"/>
          </a:xfrm>
        </p:grpSpPr>
        <p:sp>
          <p:nvSpPr>
            <p:cNvPr id="416" name="Google Shape;416;p9"/>
            <p:cNvSpPr/>
            <p:nvPr/>
          </p:nvSpPr>
          <p:spPr>
            <a:xfrm>
              <a:off x="0" y="0"/>
              <a:ext cx="8615824" cy="633269"/>
            </a:xfrm>
            <a:custGeom>
              <a:avLst/>
              <a:gdLst/>
              <a:ahLst/>
              <a:cxnLst/>
              <a:rect l="l" t="t" r="r" b="b"/>
              <a:pathLst>
                <a:path w="8615824" h="633269" extrusionOk="0">
                  <a:moveTo>
                    <a:pt x="0" y="0"/>
                  </a:moveTo>
                  <a:lnTo>
                    <a:pt x="8615824" y="0"/>
                  </a:lnTo>
                  <a:lnTo>
                    <a:pt x="8615824" y="633269"/>
                  </a:lnTo>
                  <a:lnTo>
                    <a:pt x="0" y="633269"/>
                  </a:lnTo>
                  <a:close/>
                </a:path>
              </a:pathLst>
            </a:custGeom>
            <a:solidFill>
              <a:srgbClr val="FFFFFF">
                <a:alpha val="56863"/>
              </a:srgbClr>
            </a:solidFill>
            <a:ln w="9525" cap="sq" cmpd="sng">
              <a:solidFill>
                <a:srgbClr val="20538B">
                  <a:alpha val="56863"/>
                </a:srgbClr>
              </a:solidFill>
              <a:prstDash val="solid"/>
              <a:miter lim="8000"/>
              <a:headEnd type="none" w="sm" len="sm"/>
              <a:tailEnd type="none" w="sm" len="sm"/>
            </a:ln>
          </p:spPr>
        </p:sp>
        <p:sp>
          <p:nvSpPr>
            <p:cNvPr id="417" name="Google Shape;417;p9"/>
            <p:cNvSpPr txBox="1"/>
            <p:nvPr/>
          </p:nvSpPr>
          <p:spPr>
            <a:xfrm>
              <a:off x="0" y="-47625"/>
              <a:ext cx="8615824" cy="680894"/>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8" name="Google Shape;418;p9"/>
          <p:cNvGrpSpPr/>
          <p:nvPr/>
        </p:nvGrpSpPr>
        <p:grpSpPr>
          <a:xfrm>
            <a:off x="2130591" y="2769098"/>
            <a:ext cx="4312267" cy="884711"/>
            <a:chOff x="0" y="-47625"/>
            <a:chExt cx="2740158" cy="562175"/>
          </a:xfrm>
        </p:grpSpPr>
        <p:sp>
          <p:nvSpPr>
            <p:cNvPr id="419" name="Google Shape;419;p9"/>
            <p:cNvSpPr/>
            <p:nvPr/>
          </p:nvSpPr>
          <p:spPr>
            <a:xfrm>
              <a:off x="0" y="0"/>
              <a:ext cx="2740158" cy="514550"/>
            </a:xfrm>
            <a:custGeom>
              <a:avLst/>
              <a:gdLst/>
              <a:ahLst/>
              <a:cxnLst/>
              <a:rect l="l" t="t" r="r" b="b"/>
              <a:pathLst>
                <a:path w="2740158" h="514550" extrusionOk="0">
                  <a:moveTo>
                    <a:pt x="0" y="0"/>
                  </a:moveTo>
                  <a:lnTo>
                    <a:pt x="2740158" y="0"/>
                  </a:lnTo>
                  <a:lnTo>
                    <a:pt x="2740158" y="514550"/>
                  </a:lnTo>
                  <a:lnTo>
                    <a:pt x="0" y="514550"/>
                  </a:lnTo>
                  <a:close/>
                </a:path>
              </a:pathLst>
            </a:custGeom>
            <a:solidFill>
              <a:srgbClr val="EEF6FF"/>
            </a:solidFill>
            <a:ln w="9525" cap="sq" cmpd="sng">
              <a:solidFill>
                <a:srgbClr val="20538B"/>
              </a:solidFill>
              <a:prstDash val="solid"/>
              <a:miter lim="8000"/>
              <a:headEnd type="none" w="sm" len="sm"/>
              <a:tailEnd type="none" w="sm" len="sm"/>
            </a:ln>
          </p:spPr>
        </p:sp>
        <p:sp>
          <p:nvSpPr>
            <p:cNvPr id="420" name="Google Shape;420;p9"/>
            <p:cNvSpPr txBox="1"/>
            <p:nvPr/>
          </p:nvSpPr>
          <p:spPr>
            <a:xfrm>
              <a:off x="0" y="-47625"/>
              <a:ext cx="2740158" cy="56217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1" name="Google Shape;421;p9"/>
          <p:cNvGrpSpPr/>
          <p:nvPr/>
        </p:nvGrpSpPr>
        <p:grpSpPr>
          <a:xfrm>
            <a:off x="6990554" y="2763811"/>
            <a:ext cx="4312267" cy="889999"/>
            <a:chOff x="0" y="-47625"/>
            <a:chExt cx="2740158" cy="565535"/>
          </a:xfrm>
        </p:grpSpPr>
        <p:sp>
          <p:nvSpPr>
            <p:cNvPr id="422" name="Google Shape;422;p9"/>
            <p:cNvSpPr/>
            <p:nvPr/>
          </p:nvSpPr>
          <p:spPr>
            <a:xfrm>
              <a:off x="0" y="0"/>
              <a:ext cx="2740158" cy="517910"/>
            </a:xfrm>
            <a:custGeom>
              <a:avLst/>
              <a:gdLst/>
              <a:ahLst/>
              <a:cxnLst/>
              <a:rect l="l" t="t" r="r" b="b"/>
              <a:pathLst>
                <a:path w="2740158" h="517910" extrusionOk="0">
                  <a:moveTo>
                    <a:pt x="0" y="0"/>
                  </a:moveTo>
                  <a:lnTo>
                    <a:pt x="2740158" y="0"/>
                  </a:lnTo>
                  <a:lnTo>
                    <a:pt x="2740158" y="517910"/>
                  </a:lnTo>
                  <a:lnTo>
                    <a:pt x="0" y="517910"/>
                  </a:lnTo>
                  <a:close/>
                </a:path>
              </a:pathLst>
            </a:custGeom>
            <a:solidFill>
              <a:srgbClr val="EEF6FF"/>
            </a:solidFill>
            <a:ln w="9525" cap="sq" cmpd="sng">
              <a:solidFill>
                <a:srgbClr val="20538B"/>
              </a:solidFill>
              <a:prstDash val="solid"/>
              <a:miter lim="8000"/>
              <a:headEnd type="none" w="sm" len="sm"/>
              <a:tailEnd type="none" w="sm" len="sm"/>
            </a:ln>
          </p:spPr>
        </p:sp>
        <p:sp>
          <p:nvSpPr>
            <p:cNvPr id="423" name="Google Shape;423;p9"/>
            <p:cNvSpPr txBox="1"/>
            <p:nvPr/>
          </p:nvSpPr>
          <p:spPr>
            <a:xfrm>
              <a:off x="0" y="-47625"/>
              <a:ext cx="2740158" cy="56553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4" name="Google Shape;424;p9"/>
          <p:cNvGrpSpPr/>
          <p:nvPr/>
        </p:nvGrpSpPr>
        <p:grpSpPr>
          <a:xfrm>
            <a:off x="11850516" y="2758523"/>
            <a:ext cx="4312267" cy="895287"/>
            <a:chOff x="0" y="-47625"/>
            <a:chExt cx="2740158" cy="568895"/>
          </a:xfrm>
        </p:grpSpPr>
        <p:sp>
          <p:nvSpPr>
            <p:cNvPr id="425" name="Google Shape;425;p9"/>
            <p:cNvSpPr/>
            <p:nvPr/>
          </p:nvSpPr>
          <p:spPr>
            <a:xfrm>
              <a:off x="0" y="0"/>
              <a:ext cx="2740158" cy="521270"/>
            </a:xfrm>
            <a:custGeom>
              <a:avLst/>
              <a:gdLst/>
              <a:ahLst/>
              <a:cxnLst/>
              <a:rect l="l" t="t" r="r" b="b"/>
              <a:pathLst>
                <a:path w="2740158" h="521270" extrusionOk="0">
                  <a:moveTo>
                    <a:pt x="0" y="0"/>
                  </a:moveTo>
                  <a:lnTo>
                    <a:pt x="2740158" y="0"/>
                  </a:lnTo>
                  <a:lnTo>
                    <a:pt x="2740158" y="521270"/>
                  </a:lnTo>
                  <a:lnTo>
                    <a:pt x="0" y="521270"/>
                  </a:lnTo>
                  <a:close/>
                </a:path>
              </a:pathLst>
            </a:custGeom>
            <a:solidFill>
              <a:srgbClr val="EEF6FF"/>
            </a:solidFill>
            <a:ln w="9525" cap="sq" cmpd="sng">
              <a:solidFill>
                <a:srgbClr val="20538B"/>
              </a:solidFill>
              <a:prstDash val="solid"/>
              <a:miter lim="8000"/>
              <a:headEnd type="none" w="sm" len="sm"/>
              <a:tailEnd type="none" w="sm" len="sm"/>
            </a:ln>
          </p:spPr>
        </p:sp>
        <p:sp>
          <p:nvSpPr>
            <p:cNvPr id="426" name="Google Shape;426;p9"/>
            <p:cNvSpPr txBox="1"/>
            <p:nvPr/>
          </p:nvSpPr>
          <p:spPr>
            <a:xfrm>
              <a:off x="0" y="-47625"/>
              <a:ext cx="2740158" cy="56889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27" name="Google Shape;427;p9"/>
          <p:cNvSpPr/>
          <p:nvPr/>
        </p:nvSpPr>
        <p:spPr>
          <a:xfrm>
            <a:off x="4021215" y="4512412"/>
            <a:ext cx="854789" cy="934196"/>
          </a:xfrm>
          <a:custGeom>
            <a:avLst/>
            <a:gdLst/>
            <a:ahLst/>
            <a:cxnLst/>
            <a:rect l="l" t="t" r="r" b="b"/>
            <a:pathLst>
              <a:path w="854789" h="934196" extrusionOk="0">
                <a:moveTo>
                  <a:pt x="0" y="0"/>
                </a:moveTo>
                <a:lnTo>
                  <a:pt x="854789" y="0"/>
                </a:lnTo>
                <a:lnTo>
                  <a:pt x="854789" y="934195"/>
                </a:lnTo>
                <a:lnTo>
                  <a:pt x="0" y="934195"/>
                </a:lnTo>
                <a:lnTo>
                  <a:pt x="0" y="0"/>
                </a:lnTo>
                <a:close/>
              </a:path>
            </a:pathLst>
          </a:custGeom>
          <a:blipFill rotWithShape="1">
            <a:blip r:embed="rId4">
              <a:alphaModFix/>
            </a:blip>
            <a:stretch>
              <a:fillRect/>
            </a:stretch>
          </a:blipFill>
          <a:ln>
            <a:noFill/>
          </a:ln>
        </p:spPr>
      </p:sp>
      <p:sp>
        <p:nvSpPr>
          <p:cNvPr id="428" name="Google Shape;428;p9"/>
          <p:cNvSpPr/>
          <p:nvPr/>
        </p:nvSpPr>
        <p:spPr>
          <a:xfrm>
            <a:off x="8788127" y="4512412"/>
            <a:ext cx="951033" cy="975418"/>
          </a:xfrm>
          <a:custGeom>
            <a:avLst/>
            <a:gdLst/>
            <a:ahLst/>
            <a:cxnLst/>
            <a:rect l="l" t="t" r="r" b="b"/>
            <a:pathLst>
              <a:path w="951033" h="975418" extrusionOk="0">
                <a:moveTo>
                  <a:pt x="0" y="0"/>
                </a:moveTo>
                <a:lnTo>
                  <a:pt x="951033" y="0"/>
                </a:lnTo>
                <a:lnTo>
                  <a:pt x="951033" y="975418"/>
                </a:lnTo>
                <a:lnTo>
                  <a:pt x="0" y="975418"/>
                </a:lnTo>
                <a:lnTo>
                  <a:pt x="0" y="0"/>
                </a:lnTo>
                <a:close/>
              </a:path>
            </a:pathLst>
          </a:custGeom>
          <a:blipFill rotWithShape="1">
            <a:blip r:embed="rId5">
              <a:alphaModFix/>
            </a:blip>
            <a:stretch>
              <a:fillRect/>
            </a:stretch>
          </a:blipFill>
          <a:ln>
            <a:noFill/>
          </a:ln>
        </p:spPr>
      </p:sp>
      <p:sp>
        <p:nvSpPr>
          <p:cNvPr id="429" name="Google Shape;429;p9"/>
          <p:cNvSpPr/>
          <p:nvPr/>
        </p:nvSpPr>
        <p:spPr>
          <a:xfrm>
            <a:off x="13528631" y="4529273"/>
            <a:ext cx="956037" cy="941696"/>
          </a:xfrm>
          <a:custGeom>
            <a:avLst/>
            <a:gdLst/>
            <a:ahLst/>
            <a:cxnLst/>
            <a:rect l="l" t="t" r="r" b="b"/>
            <a:pathLst>
              <a:path w="956037" h="941696" extrusionOk="0">
                <a:moveTo>
                  <a:pt x="0" y="0"/>
                </a:moveTo>
                <a:lnTo>
                  <a:pt x="956037" y="0"/>
                </a:lnTo>
                <a:lnTo>
                  <a:pt x="956037" y="941696"/>
                </a:lnTo>
                <a:lnTo>
                  <a:pt x="0" y="941696"/>
                </a:lnTo>
                <a:lnTo>
                  <a:pt x="0" y="0"/>
                </a:lnTo>
                <a:close/>
              </a:path>
            </a:pathLst>
          </a:custGeom>
          <a:blipFill rotWithShape="1">
            <a:blip r:embed="rId6">
              <a:alphaModFix/>
            </a:blip>
            <a:stretch>
              <a:fillRect/>
            </a:stretch>
          </a:blipFill>
          <a:ln>
            <a:noFill/>
          </a:ln>
        </p:spPr>
      </p:sp>
      <p:sp>
        <p:nvSpPr>
          <p:cNvPr id="430" name="Google Shape;430;p9"/>
          <p:cNvSpPr txBox="1"/>
          <p:nvPr/>
        </p:nvSpPr>
        <p:spPr>
          <a:xfrm>
            <a:off x="2394993" y="893156"/>
            <a:ext cx="6107827" cy="1114425"/>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판정은 코드로</a:t>
            </a:r>
            <a:endParaRPr/>
          </a:p>
        </p:txBody>
      </p:sp>
      <p:sp>
        <p:nvSpPr>
          <p:cNvPr id="431" name="Google Shape;431;p9"/>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02</a:t>
            </a:r>
            <a:endParaRPr/>
          </a:p>
        </p:txBody>
      </p:sp>
      <p:sp>
        <p:nvSpPr>
          <p:cNvPr id="432" name="Google Shape;432;p9"/>
          <p:cNvSpPr txBox="1"/>
          <p:nvPr/>
        </p:nvSpPr>
        <p:spPr>
          <a:xfrm>
            <a:off x="2503834" y="2982772"/>
            <a:ext cx="3565780" cy="50736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n-US" sz="2899" b="1" i="0" u="none" strike="noStrike" cap="none">
                <a:solidFill>
                  <a:srgbClr val="20538B"/>
                </a:solidFill>
                <a:latin typeface="Arial"/>
                <a:ea typeface="Arial"/>
                <a:cs typeface="Arial"/>
                <a:sym typeface="Arial"/>
              </a:rPr>
              <a:t>사례 지식베이스</a:t>
            </a:r>
            <a:endParaRPr/>
          </a:p>
        </p:txBody>
      </p:sp>
      <p:sp>
        <p:nvSpPr>
          <p:cNvPr id="433" name="Google Shape;433;p9"/>
          <p:cNvSpPr txBox="1"/>
          <p:nvPr/>
        </p:nvSpPr>
        <p:spPr>
          <a:xfrm>
            <a:off x="2593109" y="6245743"/>
            <a:ext cx="3444944" cy="740283"/>
          </a:xfrm>
          <a:prstGeom prst="rect">
            <a:avLst/>
          </a:prstGeom>
          <a:noFill/>
          <a:ln>
            <a:noFill/>
          </a:ln>
        </p:spPr>
        <p:txBody>
          <a:bodyPr spcFirstLastPara="1" wrap="square" lIns="0" tIns="0" rIns="0" bIns="0" anchor="t" anchorCtr="0">
            <a:spAutoFit/>
          </a:bodyPr>
          <a:lstStyle/>
          <a:p>
            <a:pPr marL="0" marR="0" lvl="0" indent="0" algn="ctr" rtl="0">
              <a:lnSpc>
                <a:spcPct val="167000"/>
              </a:lnSpc>
              <a:spcBef>
                <a:spcPts val="0"/>
              </a:spcBef>
              <a:spcAft>
                <a:spcPts val="0"/>
              </a:spcAft>
              <a:buNone/>
            </a:pPr>
            <a:r>
              <a:rPr lang="en-US" sz="1800" b="0" i="0" u="none" strike="noStrike" cap="none">
                <a:solidFill>
                  <a:srgbClr val="94B6DA"/>
                </a:solidFill>
                <a:latin typeface="Arial"/>
                <a:ea typeface="Arial"/>
                <a:cs typeface="Arial"/>
                <a:sym typeface="Arial"/>
              </a:rPr>
              <a:t>보도자료 15건 → 사례 카드</a:t>
            </a:r>
            <a:endParaRPr/>
          </a:p>
          <a:p>
            <a:pPr marL="0" marR="0" lvl="0" indent="0" algn="ctr" rtl="0">
              <a:lnSpc>
                <a:spcPct val="167000"/>
              </a:lnSpc>
              <a:spcBef>
                <a:spcPts val="0"/>
              </a:spcBef>
              <a:spcAft>
                <a:spcPts val="0"/>
              </a:spcAft>
              <a:buNone/>
            </a:pPr>
            <a:r>
              <a:rPr lang="en-US" sz="1800" b="0" i="0" u="none" strike="noStrike" cap="none">
                <a:solidFill>
                  <a:srgbClr val="94B6DA"/>
                </a:solidFill>
                <a:latin typeface="Arial"/>
                <a:ea typeface="Arial"/>
                <a:cs typeface="Arial"/>
                <a:sym typeface="Arial"/>
              </a:rPr>
              <a:t>4단계 등급으로 검색</a:t>
            </a:r>
            <a:endParaRPr/>
          </a:p>
        </p:txBody>
      </p:sp>
      <p:sp>
        <p:nvSpPr>
          <p:cNvPr id="434" name="Google Shape;434;p9"/>
          <p:cNvSpPr txBox="1"/>
          <p:nvPr/>
        </p:nvSpPr>
        <p:spPr>
          <a:xfrm>
            <a:off x="7374350" y="2961909"/>
            <a:ext cx="3565780" cy="50736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900" b="1" i="0" u="none" strike="noStrike" cap="none">
                <a:solidFill>
                  <a:srgbClr val="20538B"/>
                </a:solidFill>
                <a:latin typeface="Arial"/>
                <a:ea typeface="Arial"/>
                <a:cs typeface="Arial"/>
                <a:sym typeface="Arial"/>
              </a:rPr>
              <a:t>과징금 노출</a:t>
            </a:r>
            <a:endParaRPr/>
          </a:p>
        </p:txBody>
      </p:sp>
      <p:sp>
        <p:nvSpPr>
          <p:cNvPr id="435" name="Google Shape;435;p9"/>
          <p:cNvSpPr txBox="1"/>
          <p:nvPr/>
        </p:nvSpPr>
        <p:spPr>
          <a:xfrm>
            <a:off x="12250652" y="2961909"/>
            <a:ext cx="3565780" cy="50736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900" b="1" i="0" u="none" strike="noStrike" cap="none">
                <a:solidFill>
                  <a:srgbClr val="20538B"/>
                </a:solidFill>
                <a:latin typeface="Arial"/>
                <a:ea typeface="Arial"/>
                <a:cs typeface="Arial"/>
                <a:sym typeface="Arial"/>
              </a:rPr>
              <a:t>조치 우선순위</a:t>
            </a:r>
            <a:endParaRPr/>
          </a:p>
        </p:txBody>
      </p:sp>
      <p:sp>
        <p:nvSpPr>
          <p:cNvPr id="436" name="Google Shape;436;p9"/>
          <p:cNvSpPr txBox="1"/>
          <p:nvPr/>
        </p:nvSpPr>
        <p:spPr>
          <a:xfrm>
            <a:off x="3145925" y="8292331"/>
            <a:ext cx="12022629" cy="359283"/>
          </a:xfrm>
          <a:prstGeom prst="rect">
            <a:avLst/>
          </a:prstGeom>
          <a:noFill/>
          <a:ln>
            <a:noFill/>
          </a:ln>
        </p:spPr>
        <p:txBody>
          <a:bodyPr spcFirstLastPara="1" wrap="square" lIns="0" tIns="0" rIns="0" bIns="0" anchor="t" anchorCtr="0">
            <a:spAutoFit/>
          </a:bodyPr>
          <a:lstStyle/>
          <a:p>
            <a:pPr marL="0" marR="0" lvl="0" indent="0" algn="ctr" rtl="0">
              <a:lnSpc>
                <a:spcPct val="167000"/>
              </a:lnSpc>
              <a:spcBef>
                <a:spcPts val="0"/>
              </a:spcBef>
              <a:spcAft>
                <a:spcPts val="0"/>
              </a:spcAft>
              <a:buNone/>
            </a:pPr>
            <a:r>
              <a:rPr lang="en-US" sz="1800" b="0" i="0" u="none" strike="noStrike" cap="none">
                <a:solidFill>
                  <a:srgbClr val="20538B"/>
                </a:solidFill>
                <a:latin typeface="Arial"/>
                <a:ea typeface="Arial"/>
                <a:cs typeface="Arial"/>
                <a:sym typeface="Arial"/>
              </a:rPr>
              <a:t>판정은 코드, 문장은 AI, 숫자·조문·조치 방법은 원본 데이터에서 가져옵니다.</a:t>
            </a:r>
            <a:endParaRPr/>
          </a:p>
        </p:txBody>
      </p:sp>
      <p:sp>
        <p:nvSpPr>
          <p:cNvPr id="437" name="Google Shape;437;p9"/>
          <p:cNvSpPr txBox="1"/>
          <p:nvPr/>
        </p:nvSpPr>
        <p:spPr>
          <a:xfrm>
            <a:off x="7434768" y="6245743"/>
            <a:ext cx="3444944" cy="740283"/>
          </a:xfrm>
          <a:prstGeom prst="rect">
            <a:avLst/>
          </a:prstGeom>
          <a:noFill/>
          <a:ln>
            <a:noFill/>
          </a:ln>
        </p:spPr>
        <p:txBody>
          <a:bodyPr spcFirstLastPara="1" wrap="square" lIns="0" tIns="0" rIns="0" bIns="0" anchor="t" anchorCtr="0">
            <a:spAutoFit/>
          </a:bodyPr>
          <a:lstStyle/>
          <a:p>
            <a:pPr marL="0" marR="0" lvl="0" indent="0" algn="ctr" rtl="0">
              <a:lnSpc>
                <a:spcPct val="167000"/>
              </a:lnSpc>
              <a:spcBef>
                <a:spcPts val="0"/>
              </a:spcBef>
              <a:spcAft>
                <a:spcPts val="0"/>
              </a:spcAft>
              <a:buNone/>
            </a:pPr>
            <a:r>
              <a:rPr lang="en-US" sz="1800" b="0" i="0" u="none" strike="noStrike" cap="none">
                <a:solidFill>
                  <a:srgbClr val="94B6DA"/>
                </a:solidFill>
                <a:latin typeface="Arial"/>
                <a:ea typeface="Arial"/>
                <a:cs typeface="Arial"/>
                <a:sym typeface="Arial"/>
              </a:rPr>
              <a:t>법정 상한 3%, 감경 40%·30%</a:t>
            </a:r>
            <a:endParaRPr/>
          </a:p>
          <a:p>
            <a:pPr marL="0" marR="0" lvl="0" indent="0" algn="ctr" rtl="0">
              <a:lnSpc>
                <a:spcPct val="167000"/>
              </a:lnSpc>
              <a:spcBef>
                <a:spcPts val="0"/>
              </a:spcBef>
              <a:spcAft>
                <a:spcPts val="0"/>
              </a:spcAft>
              <a:buNone/>
            </a:pPr>
            <a:r>
              <a:rPr lang="en-US" sz="1800" b="0" i="0" u="none" strike="noStrike" cap="none">
                <a:solidFill>
                  <a:srgbClr val="94B6DA"/>
                </a:solidFill>
                <a:latin typeface="Arial"/>
                <a:ea typeface="Arial"/>
                <a:cs typeface="Arial"/>
                <a:sym typeface="Arial"/>
              </a:rPr>
              <a:t>유사 처분액 분포</a:t>
            </a:r>
            <a:endParaRPr/>
          </a:p>
        </p:txBody>
      </p:sp>
      <p:sp>
        <p:nvSpPr>
          <p:cNvPr id="438" name="Google Shape;438;p9"/>
          <p:cNvSpPr txBox="1"/>
          <p:nvPr/>
        </p:nvSpPr>
        <p:spPr>
          <a:xfrm>
            <a:off x="12350808" y="6245743"/>
            <a:ext cx="3311683" cy="740283"/>
          </a:xfrm>
          <a:prstGeom prst="rect">
            <a:avLst/>
          </a:prstGeom>
          <a:noFill/>
          <a:ln>
            <a:noFill/>
          </a:ln>
        </p:spPr>
        <p:txBody>
          <a:bodyPr spcFirstLastPara="1" wrap="square" lIns="0" tIns="0" rIns="0" bIns="0" anchor="t" anchorCtr="0">
            <a:spAutoFit/>
          </a:bodyPr>
          <a:lstStyle/>
          <a:p>
            <a:pPr marL="0" marR="0" lvl="0" indent="0" algn="ctr" rtl="0">
              <a:lnSpc>
                <a:spcPct val="167000"/>
              </a:lnSpc>
              <a:spcBef>
                <a:spcPts val="0"/>
              </a:spcBef>
              <a:spcAft>
                <a:spcPts val="0"/>
              </a:spcAft>
              <a:buNone/>
            </a:pPr>
            <a:r>
              <a:rPr lang="en-US" sz="1800" b="0" i="0" u="none" strike="noStrike" cap="none">
                <a:solidFill>
                  <a:srgbClr val="94B6DA"/>
                </a:solidFill>
                <a:latin typeface="Arial"/>
                <a:ea typeface="Arial"/>
                <a:cs typeface="Arial"/>
                <a:sym typeface="Arial"/>
              </a:rPr>
              <a:t>심각도 × 개인정보 자산</a:t>
            </a:r>
            <a:endParaRPr/>
          </a:p>
          <a:p>
            <a:pPr marL="0" marR="0" lvl="0" indent="0" algn="ctr" rtl="0">
              <a:lnSpc>
                <a:spcPct val="167000"/>
              </a:lnSpc>
              <a:spcBef>
                <a:spcPts val="0"/>
              </a:spcBef>
              <a:spcAft>
                <a:spcPts val="0"/>
              </a:spcAft>
              <a:buNone/>
            </a:pPr>
            <a:r>
              <a:rPr lang="en-US" sz="1800" b="0" i="0" u="none" strike="noStrike" cap="none">
                <a:solidFill>
                  <a:srgbClr val="94B6DA"/>
                </a:solidFill>
                <a:latin typeface="Arial"/>
                <a:ea typeface="Arial"/>
                <a:cs typeface="Arial"/>
                <a:sym typeface="Arial"/>
              </a:rPr>
              <a:t>× 사례 근거 점수</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grpSp>
        <p:nvGrpSpPr>
          <p:cNvPr id="877" name="Google Shape;877;p17"/>
          <p:cNvGrpSpPr/>
          <p:nvPr/>
        </p:nvGrpSpPr>
        <p:grpSpPr>
          <a:xfrm>
            <a:off x="-1081198" y="3274348"/>
            <a:ext cx="20615256" cy="7012652"/>
            <a:chOff x="-99237" y="-1"/>
            <a:chExt cx="27487007" cy="9350203"/>
          </a:xfrm>
        </p:grpSpPr>
        <p:grpSp>
          <p:nvGrpSpPr>
            <p:cNvPr id="878" name="Google Shape;878;p17"/>
            <p:cNvGrpSpPr/>
            <p:nvPr/>
          </p:nvGrpSpPr>
          <p:grpSpPr>
            <a:xfrm rot="-5400000">
              <a:off x="11107419" y="-11206657"/>
              <a:ext cx="4770675" cy="27183987"/>
              <a:chOff x="0" y="-38100"/>
              <a:chExt cx="1831597" cy="10436700"/>
            </a:xfrm>
          </p:grpSpPr>
          <p:sp>
            <p:nvSpPr>
              <p:cNvPr id="879" name="Google Shape;879;p17"/>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880" name="Google Shape;880;p17"/>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81" name="Google Shape;881;p17"/>
            <p:cNvGrpSpPr/>
            <p:nvPr/>
          </p:nvGrpSpPr>
          <p:grpSpPr>
            <a:xfrm rot="-5400000">
              <a:off x="11636974" y="-6400594"/>
              <a:ext cx="4579528" cy="26922063"/>
              <a:chOff x="0" y="-38100"/>
              <a:chExt cx="1758210" cy="10336140"/>
            </a:xfrm>
          </p:grpSpPr>
          <p:sp>
            <p:nvSpPr>
              <p:cNvPr id="882" name="Google Shape;882;p17"/>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883" name="Google Shape;883;p17"/>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84" name="Google Shape;884;p17"/>
          <p:cNvGrpSpPr/>
          <p:nvPr/>
        </p:nvGrpSpPr>
        <p:grpSpPr>
          <a:xfrm>
            <a:off x="731085" y="622849"/>
            <a:ext cx="16825832" cy="9050183"/>
            <a:chOff x="0" y="-108814"/>
            <a:chExt cx="22434442" cy="12066910"/>
          </a:xfrm>
        </p:grpSpPr>
        <p:grpSp>
          <p:nvGrpSpPr>
            <p:cNvPr id="885" name="Google Shape;885;p17"/>
            <p:cNvGrpSpPr/>
            <p:nvPr/>
          </p:nvGrpSpPr>
          <p:grpSpPr>
            <a:xfrm>
              <a:off x="26537" y="10214890"/>
              <a:ext cx="22386981" cy="1743206"/>
              <a:chOff x="0" y="-47625"/>
              <a:chExt cx="9809754" cy="763855"/>
            </a:xfrm>
          </p:grpSpPr>
          <p:sp>
            <p:nvSpPr>
              <p:cNvPr id="886" name="Google Shape;886;p17"/>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887" name="Google Shape;887;p17"/>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88" name="Google Shape;888;p17"/>
            <p:cNvGrpSpPr/>
            <p:nvPr/>
          </p:nvGrpSpPr>
          <p:grpSpPr>
            <a:xfrm>
              <a:off x="0" y="-108814"/>
              <a:ext cx="22434442" cy="11946255"/>
              <a:chOff x="0" y="-47625"/>
              <a:chExt cx="9818922" cy="5228539"/>
            </a:xfrm>
          </p:grpSpPr>
          <p:sp>
            <p:nvSpPr>
              <p:cNvPr id="889" name="Google Shape;889;p17"/>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890" name="Google Shape;890;p17"/>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91" name="Google Shape;891;p17"/>
          <p:cNvGrpSpPr/>
          <p:nvPr/>
        </p:nvGrpSpPr>
        <p:grpSpPr>
          <a:xfrm>
            <a:off x="763743" y="662703"/>
            <a:ext cx="16760151" cy="1561172"/>
            <a:chOff x="0" y="-38100"/>
            <a:chExt cx="8581180" cy="799319"/>
          </a:xfrm>
        </p:grpSpPr>
        <p:sp>
          <p:nvSpPr>
            <p:cNvPr id="892" name="Google Shape;892;p17"/>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893" name="Google Shape;893;p17"/>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94" name="Google Shape;894;p17"/>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895" name="Google Shape;895;p17"/>
          <p:cNvSpPr txBox="1"/>
          <p:nvPr/>
        </p:nvSpPr>
        <p:spPr>
          <a:xfrm>
            <a:off x="2394993" y="893156"/>
            <a:ext cx="7519287" cy="1114425"/>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기술 스택</a:t>
            </a:r>
            <a:endParaRPr/>
          </a:p>
        </p:txBody>
      </p:sp>
      <p:sp>
        <p:nvSpPr>
          <p:cNvPr id="896" name="Google Shape;896;p17"/>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03</a:t>
            </a:r>
            <a:endParaRPr/>
          </a:p>
        </p:txBody>
      </p:sp>
      <p:graphicFrame>
        <p:nvGraphicFramePr>
          <p:cNvPr id="897" name="Google Shape;897;p17"/>
          <p:cNvGraphicFramePr/>
          <p:nvPr/>
        </p:nvGraphicFramePr>
        <p:xfrm>
          <a:off x="1783080" y="2514600"/>
          <a:ext cx="14721839" cy="4800600"/>
        </p:xfrm>
        <a:graphic>
          <a:graphicData uri="http://schemas.openxmlformats.org/drawingml/2006/table">
            <a:tbl>
              <a:tblPr>
                <a:noFill/>
                <a:tableStyleId>{399B79D2-276F-47FF-9ABA-7E0927ABDCBF}</a:tableStyleId>
              </a:tblPr>
              <a:tblGrid>
                <a:gridCol w="210312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685800">
                <a:tc>
                  <a:txBody>
                    <a:bodyPr/>
                    <a:lstStyle/>
                    <a:p>
                      <a:pPr marL="0" marR="0" lvl="0" indent="0" algn="l" rtl="0">
                        <a:lnSpc>
                          <a:spcPct val="140000"/>
                        </a:lnSpc>
                        <a:spcBef>
                          <a:spcPts val="0"/>
                        </a:spcBef>
                        <a:spcAft>
                          <a:spcPts val="0"/>
                        </a:spcAft>
                        <a:buNone/>
                      </a:pPr>
                      <a:r>
                        <a:rPr lang="en-US" sz="1600" b="1" u="none" strike="noStrike" cap="none">
                          <a:solidFill>
                            <a:srgbClr val="20538B"/>
                          </a:solidFill>
                          <a:latin typeface="Arial"/>
                          <a:ea typeface="Arial"/>
                          <a:cs typeface="Arial"/>
                          <a:sym typeface="Arial"/>
                        </a:rPr>
                        <a:t>구분</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38100" cap="flat" cmpd="sng">
                      <a:solidFill>
                        <a:srgbClr val="20538B"/>
                      </a:solidFill>
                      <a:prstDash val="solid"/>
                      <a:round/>
                      <a:headEnd type="none" w="sm" len="sm"/>
                      <a:tailEnd type="none" w="sm" len="sm"/>
                    </a:lnB>
                    <a:solidFill>
                      <a:srgbClr val="CBDDEF"/>
                    </a:solidFill>
                  </a:tcPr>
                </a:tc>
                <a:tc>
                  <a:txBody>
                    <a:bodyPr/>
                    <a:lstStyle/>
                    <a:p>
                      <a:pPr marL="0" marR="0" lvl="0" indent="0" algn="l" rtl="0">
                        <a:lnSpc>
                          <a:spcPct val="140000"/>
                        </a:lnSpc>
                        <a:spcBef>
                          <a:spcPts val="0"/>
                        </a:spcBef>
                        <a:spcAft>
                          <a:spcPts val="0"/>
                        </a:spcAft>
                        <a:buNone/>
                      </a:pPr>
                      <a:r>
                        <a:rPr lang="en-US" sz="1600" b="1" u="none" strike="noStrike" cap="none">
                          <a:solidFill>
                            <a:srgbClr val="20538B"/>
                          </a:solidFill>
                          <a:latin typeface="Arial"/>
                          <a:ea typeface="Arial"/>
                          <a:cs typeface="Arial"/>
                          <a:sym typeface="Arial"/>
                        </a:rPr>
                        <a:t>사용 기술</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38100" cap="flat" cmpd="sng">
                      <a:solidFill>
                        <a:srgbClr val="20538B"/>
                      </a:solidFill>
                      <a:prstDash val="solid"/>
                      <a:round/>
                      <a:headEnd type="none" w="sm" len="sm"/>
                      <a:tailEnd type="none" w="sm" len="sm"/>
                    </a:lnB>
                    <a:solidFill>
                      <a:srgbClr val="CBDDEF"/>
                    </a:solidFill>
                  </a:tcPr>
                </a:tc>
                <a:tc>
                  <a:txBody>
                    <a:bodyPr/>
                    <a:lstStyle/>
                    <a:p>
                      <a:pPr marL="0" marR="0" lvl="0" indent="0" algn="l" rtl="0">
                        <a:lnSpc>
                          <a:spcPct val="140000"/>
                        </a:lnSpc>
                        <a:spcBef>
                          <a:spcPts val="0"/>
                        </a:spcBef>
                        <a:spcAft>
                          <a:spcPts val="0"/>
                        </a:spcAft>
                        <a:buNone/>
                      </a:pPr>
                      <a:r>
                        <a:rPr lang="en-US" sz="1600" b="1" u="none" strike="noStrike" cap="none">
                          <a:solidFill>
                            <a:srgbClr val="20538B"/>
                          </a:solidFill>
                          <a:latin typeface="Arial"/>
                          <a:ea typeface="Arial"/>
                          <a:cs typeface="Arial"/>
                          <a:sym typeface="Arial"/>
                        </a:rPr>
                        <a:t>설정·특징</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38100" cap="flat" cmpd="sng">
                      <a:solidFill>
                        <a:srgbClr val="20538B"/>
                      </a:solidFill>
                      <a:prstDash val="solid"/>
                      <a:round/>
                      <a:headEnd type="none" w="sm" len="sm"/>
                      <a:tailEnd type="none" w="sm" len="sm"/>
                    </a:lnB>
                    <a:solidFill>
                      <a:srgbClr val="CBDDEF"/>
                    </a:solidFill>
                  </a:tcPr>
                </a:tc>
                <a:tc>
                  <a:txBody>
                    <a:bodyPr/>
                    <a:lstStyle/>
                    <a:p>
                      <a:pPr marL="0" marR="0" lvl="0" indent="0" algn="l" rtl="0">
                        <a:lnSpc>
                          <a:spcPct val="140000"/>
                        </a:lnSpc>
                        <a:spcBef>
                          <a:spcPts val="0"/>
                        </a:spcBef>
                        <a:spcAft>
                          <a:spcPts val="0"/>
                        </a:spcAft>
                        <a:buNone/>
                      </a:pPr>
                      <a:r>
                        <a:rPr lang="en-US" sz="1600" b="1" u="none" strike="noStrike" cap="none">
                          <a:solidFill>
                            <a:srgbClr val="20538B"/>
                          </a:solidFill>
                          <a:latin typeface="Arial"/>
                          <a:ea typeface="Arial"/>
                          <a:cs typeface="Arial"/>
                          <a:sym typeface="Arial"/>
                        </a:rPr>
                        <a:t>역할</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38100" cap="flat" cmpd="sng">
                      <a:solidFill>
                        <a:srgbClr val="20538B"/>
                      </a:solidFill>
                      <a:prstDash val="solid"/>
                      <a:round/>
                      <a:headEnd type="none" w="sm" len="sm"/>
                      <a:tailEnd type="none" w="sm" len="sm"/>
                    </a:lnB>
                    <a:solidFill>
                      <a:srgbClr val="CBDDEF"/>
                    </a:solidFill>
                  </a:tcPr>
                </a:tc>
                <a:tc>
                  <a:txBody>
                    <a:bodyPr/>
                    <a:lstStyle/>
                    <a:p>
                      <a:pPr marL="0" marR="0" lvl="0" indent="0" algn="l" rtl="0">
                        <a:lnSpc>
                          <a:spcPct val="140000"/>
                        </a:lnSpc>
                        <a:spcBef>
                          <a:spcPts val="0"/>
                        </a:spcBef>
                        <a:spcAft>
                          <a:spcPts val="0"/>
                        </a:spcAft>
                        <a:buNone/>
                      </a:pPr>
                      <a:r>
                        <a:rPr lang="en-US" sz="1600" b="1" u="none" strike="noStrike" cap="none">
                          <a:solidFill>
                            <a:srgbClr val="20538B"/>
                          </a:solidFill>
                          <a:latin typeface="Arial"/>
                          <a:ea typeface="Arial"/>
                          <a:cs typeface="Arial"/>
                          <a:sym typeface="Arial"/>
                        </a:rPr>
                        <a:t>코드 위치</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38100" cap="flat" cmpd="sng">
                      <a:solidFill>
                        <a:srgbClr val="20538B"/>
                      </a:solidFill>
                      <a:prstDash val="solid"/>
                      <a:round/>
                      <a:headEnd type="none" w="sm" len="sm"/>
                      <a:tailEnd type="none" w="sm" len="sm"/>
                    </a:lnB>
                    <a:solidFill>
                      <a:srgbClr val="CBDDEF"/>
                    </a:solidFill>
                  </a:tcPr>
                </a:tc>
                <a:extLst>
                  <a:ext uri="{0D108BD9-81ED-4DB2-BD59-A6C34878D82A}">
                    <a16:rowId xmlns:a16="http://schemas.microsoft.com/office/drawing/2014/main" val="10000"/>
                  </a:ext>
                </a:extLst>
              </a:tr>
              <a:tr h="685800">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문장 생성 LLM</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38100"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EEF6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OpenAI GPT-4o</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38100"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temperature 0.2, JSON 모드, 진단당 1회</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38100"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보고서 문장 작성</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38100"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engine.py call_llm()</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38100"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85800">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임베딩·검색</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EEF6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text-embedding-3-small + ChromaDB</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코사인 유사도 + 메타데이터 필터</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유사 처분 사례 검색</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case_kb.py</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85800">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템플릿</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EEF6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Python 3.12 + Jinja2</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경영진용·실무진용 템플릿 2개</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같은 데이터로 HTML 조립</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templates/*.j2</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85800">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PDF 렌더링</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EEF6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WeasyPrint (+ Pango)</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HTML·CSS → PDF, Pretendard 임베드</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PDF 2종 출력</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engine.py render()</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85800">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데이터 변환</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EEF6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openpyxl</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드롭다운 값·필수값·중복 검사</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사례 시트 → JSON</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convert_cases.py</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685800">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금액 계산</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EEF6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Python (규칙 기반)</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개정 개인정보 보호법 기준 상수</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과징금 노출·우선순위</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tc>
                  <a:txBody>
                    <a:bodyPr/>
                    <a:lstStyle/>
                    <a:p>
                      <a:pPr marL="0" marR="0" lvl="0" indent="0" algn="l" rtl="0">
                        <a:lnSpc>
                          <a:spcPct val="140000"/>
                        </a:lnSpc>
                        <a:spcBef>
                          <a:spcPts val="0"/>
                        </a:spcBef>
                        <a:spcAft>
                          <a:spcPts val="0"/>
                        </a:spcAft>
                        <a:buNone/>
                      </a:pPr>
                      <a:r>
                        <a:rPr lang="en-US" sz="1400" u="none" strike="noStrike" cap="none">
                          <a:solidFill>
                            <a:srgbClr val="20538B"/>
                          </a:solidFill>
                          <a:latin typeface="Arial"/>
                          <a:ea typeface="Arial"/>
                          <a:cs typeface="Arial"/>
                          <a:sym typeface="Arial"/>
                        </a:rPr>
                        <a:t>exposure.py</a:t>
                      </a:r>
                      <a:endParaRPr sz="1100" u="none" strike="noStrike" cap="none"/>
                    </a:p>
                  </a:txBody>
                  <a:tcPr marL="183400" marR="183400" marT="183400" marB="183400" anchor="ctr">
                    <a:lnL w="9525" cap="flat" cmpd="sng">
                      <a:solidFill>
                        <a:srgbClr val="20538B"/>
                      </a:solidFill>
                      <a:prstDash val="solid"/>
                      <a:round/>
                      <a:headEnd type="none" w="sm" len="sm"/>
                      <a:tailEnd type="none" w="sm" len="sm"/>
                    </a:lnL>
                    <a:lnR w="9525" cap="flat" cmpd="sng">
                      <a:solidFill>
                        <a:srgbClr val="20538B"/>
                      </a:solidFill>
                      <a:prstDash val="solid"/>
                      <a:round/>
                      <a:headEnd type="none" w="sm" len="sm"/>
                      <a:tailEnd type="none" w="sm" len="sm"/>
                    </a:lnR>
                    <a:lnT w="9525" cap="flat" cmpd="sng">
                      <a:solidFill>
                        <a:srgbClr val="20538B"/>
                      </a:solidFill>
                      <a:prstDash val="solid"/>
                      <a:round/>
                      <a:headEnd type="none" w="sm" len="sm"/>
                      <a:tailEnd type="none" w="sm" len="sm"/>
                    </a:lnT>
                    <a:lnB w="9525" cap="flat" cmpd="sng">
                      <a:solidFill>
                        <a:srgbClr val="20538B"/>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grpSp>
        <p:nvGrpSpPr>
          <p:cNvPr id="898" name="Google Shape;898;p17"/>
          <p:cNvGrpSpPr/>
          <p:nvPr/>
        </p:nvGrpSpPr>
        <p:grpSpPr>
          <a:xfrm>
            <a:off x="2061761" y="7831425"/>
            <a:ext cx="14164478" cy="1030619"/>
            <a:chOff x="0" y="-47625"/>
            <a:chExt cx="3874916" cy="281942"/>
          </a:xfrm>
        </p:grpSpPr>
        <p:sp>
          <p:nvSpPr>
            <p:cNvPr id="899" name="Google Shape;899;p17"/>
            <p:cNvSpPr/>
            <p:nvPr/>
          </p:nvSpPr>
          <p:spPr>
            <a:xfrm>
              <a:off x="0" y="0"/>
              <a:ext cx="3874916" cy="234317"/>
            </a:xfrm>
            <a:custGeom>
              <a:avLst/>
              <a:gdLst/>
              <a:ahLst/>
              <a:cxnLst/>
              <a:rect l="l" t="t" r="r" b="b"/>
              <a:pathLst>
                <a:path w="3874916" h="234317" extrusionOk="0">
                  <a:moveTo>
                    <a:pt x="0" y="0"/>
                  </a:moveTo>
                  <a:lnTo>
                    <a:pt x="3874916" y="0"/>
                  </a:lnTo>
                  <a:lnTo>
                    <a:pt x="3874916" y="234317"/>
                  </a:lnTo>
                  <a:lnTo>
                    <a:pt x="0" y="234317"/>
                  </a:lnTo>
                  <a:close/>
                </a:path>
              </a:pathLst>
            </a:custGeom>
            <a:solidFill>
              <a:srgbClr val="FFFFFF"/>
            </a:solidFill>
            <a:ln w="9525" cap="sq" cmpd="sng">
              <a:solidFill>
                <a:srgbClr val="20538B"/>
              </a:solidFill>
              <a:prstDash val="solid"/>
              <a:miter lim="8000"/>
              <a:headEnd type="none" w="sm" len="sm"/>
              <a:tailEnd type="none" w="sm" len="sm"/>
            </a:ln>
          </p:spPr>
        </p:sp>
        <p:sp>
          <p:nvSpPr>
            <p:cNvPr id="900" name="Google Shape;900;p17"/>
            <p:cNvSpPr txBox="1"/>
            <p:nvPr/>
          </p:nvSpPr>
          <p:spPr>
            <a:xfrm>
              <a:off x="0" y="-47625"/>
              <a:ext cx="3874916" cy="281942"/>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01" name="Google Shape;901;p17"/>
          <p:cNvSpPr txBox="1"/>
          <p:nvPr/>
        </p:nvSpPr>
        <p:spPr>
          <a:xfrm>
            <a:off x="3350002" y="8226369"/>
            <a:ext cx="9608959" cy="356108"/>
          </a:xfrm>
          <a:prstGeom prst="rect">
            <a:avLst/>
          </a:prstGeom>
          <a:noFill/>
          <a:ln>
            <a:noFill/>
          </a:ln>
        </p:spPr>
        <p:txBody>
          <a:bodyPr spcFirstLastPara="1" wrap="square" lIns="0" tIns="0" rIns="0" bIns="0" anchor="t" anchorCtr="0">
            <a:spAutoFit/>
          </a:bodyPr>
          <a:lstStyle/>
          <a:p>
            <a:pPr marL="0" marR="0" lvl="0" indent="0" algn="l" rtl="0">
              <a:lnSpc>
                <a:spcPct val="154028"/>
              </a:lnSpc>
              <a:spcBef>
                <a:spcPts val="0"/>
              </a:spcBef>
              <a:spcAft>
                <a:spcPts val="0"/>
              </a:spcAft>
              <a:buNone/>
            </a:pPr>
            <a:r>
              <a:rPr lang="en-US" sz="1899" b="0" i="0" u="none" strike="noStrike" cap="none">
                <a:solidFill>
                  <a:srgbClr val="20538B"/>
                </a:solidFill>
                <a:latin typeface="Arial"/>
                <a:ea typeface="Arial"/>
                <a:cs typeface="Arial"/>
                <a:sym typeface="Arial"/>
              </a:rPr>
              <a:t>LLM은 설정만 바꾸면 Claude로 교체 가능 (호출 코드는 call_llm() 하나)</a:t>
            </a:r>
            <a:endParaRPr/>
          </a:p>
        </p:txBody>
      </p:sp>
      <p:sp>
        <p:nvSpPr>
          <p:cNvPr id="902" name="Google Shape;902;p17"/>
          <p:cNvSpPr/>
          <p:nvPr/>
        </p:nvSpPr>
        <p:spPr>
          <a:xfrm>
            <a:off x="2961923" y="8331225"/>
            <a:ext cx="211454" cy="205110"/>
          </a:xfrm>
          <a:custGeom>
            <a:avLst/>
            <a:gdLst/>
            <a:ahLst/>
            <a:cxnLst/>
            <a:rect l="l" t="t" r="r" b="b"/>
            <a:pathLst>
              <a:path w="211454" h="205110" extrusionOk="0">
                <a:moveTo>
                  <a:pt x="0" y="0"/>
                </a:moveTo>
                <a:lnTo>
                  <a:pt x="211454" y="0"/>
                </a:lnTo>
                <a:lnTo>
                  <a:pt x="211454" y="205110"/>
                </a:lnTo>
                <a:lnTo>
                  <a:pt x="0" y="205110"/>
                </a:lnTo>
                <a:lnTo>
                  <a:pt x="0" y="0"/>
                </a:lnTo>
                <a:close/>
              </a:path>
            </a:pathLst>
          </a:custGeom>
          <a:blipFill rotWithShape="1">
            <a:blip r:embed="rId4">
              <a:alphaModFix/>
            </a:blip>
            <a:stretch>
              <a:fillRect/>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grpSp>
        <p:nvGrpSpPr>
          <p:cNvPr id="503" name="Google Shape;503;p11"/>
          <p:cNvGrpSpPr/>
          <p:nvPr/>
        </p:nvGrpSpPr>
        <p:grpSpPr>
          <a:xfrm>
            <a:off x="-1081198" y="3274348"/>
            <a:ext cx="20615256" cy="7012652"/>
            <a:chOff x="-99237" y="-1"/>
            <a:chExt cx="27487007" cy="9350203"/>
          </a:xfrm>
        </p:grpSpPr>
        <p:grpSp>
          <p:nvGrpSpPr>
            <p:cNvPr id="504" name="Google Shape;504;p11"/>
            <p:cNvGrpSpPr/>
            <p:nvPr/>
          </p:nvGrpSpPr>
          <p:grpSpPr>
            <a:xfrm rot="-5400000">
              <a:off x="11107419" y="-11206657"/>
              <a:ext cx="4770675" cy="27183987"/>
              <a:chOff x="0" y="-38100"/>
              <a:chExt cx="1831597" cy="10436700"/>
            </a:xfrm>
          </p:grpSpPr>
          <p:sp>
            <p:nvSpPr>
              <p:cNvPr id="505" name="Google Shape;505;p11"/>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506" name="Google Shape;506;p11"/>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7" name="Google Shape;507;p11"/>
            <p:cNvGrpSpPr/>
            <p:nvPr/>
          </p:nvGrpSpPr>
          <p:grpSpPr>
            <a:xfrm rot="-5400000">
              <a:off x="11636974" y="-6400594"/>
              <a:ext cx="4579528" cy="26922063"/>
              <a:chOff x="0" y="-38100"/>
              <a:chExt cx="1758210" cy="10336140"/>
            </a:xfrm>
          </p:grpSpPr>
          <p:sp>
            <p:nvSpPr>
              <p:cNvPr id="508" name="Google Shape;508;p11"/>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509" name="Google Shape;509;p11"/>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10" name="Google Shape;510;p11"/>
          <p:cNvGrpSpPr/>
          <p:nvPr/>
        </p:nvGrpSpPr>
        <p:grpSpPr>
          <a:xfrm>
            <a:off x="731085" y="622849"/>
            <a:ext cx="16825832" cy="9050183"/>
            <a:chOff x="0" y="-108814"/>
            <a:chExt cx="22434442" cy="12066910"/>
          </a:xfrm>
        </p:grpSpPr>
        <p:grpSp>
          <p:nvGrpSpPr>
            <p:cNvPr id="511" name="Google Shape;511;p11"/>
            <p:cNvGrpSpPr/>
            <p:nvPr/>
          </p:nvGrpSpPr>
          <p:grpSpPr>
            <a:xfrm>
              <a:off x="26537" y="10214890"/>
              <a:ext cx="22386981" cy="1743206"/>
              <a:chOff x="0" y="-47625"/>
              <a:chExt cx="9809754" cy="763855"/>
            </a:xfrm>
          </p:grpSpPr>
          <p:sp>
            <p:nvSpPr>
              <p:cNvPr id="512" name="Google Shape;512;p11"/>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513" name="Google Shape;513;p11"/>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14" name="Google Shape;514;p11"/>
            <p:cNvGrpSpPr/>
            <p:nvPr/>
          </p:nvGrpSpPr>
          <p:grpSpPr>
            <a:xfrm>
              <a:off x="0" y="-108814"/>
              <a:ext cx="22434442" cy="11946255"/>
              <a:chOff x="0" y="-47625"/>
              <a:chExt cx="9818922" cy="5228539"/>
            </a:xfrm>
          </p:grpSpPr>
          <p:sp>
            <p:nvSpPr>
              <p:cNvPr id="515" name="Google Shape;515;p11"/>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516" name="Google Shape;516;p11"/>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17" name="Google Shape;517;p11"/>
          <p:cNvGrpSpPr/>
          <p:nvPr/>
        </p:nvGrpSpPr>
        <p:grpSpPr>
          <a:xfrm>
            <a:off x="763743" y="662703"/>
            <a:ext cx="16760151" cy="1561172"/>
            <a:chOff x="0" y="-38100"/>
            <a:chExt cx="8581180" cy="799319"/>
          </a:xfrm>
        </p:grpSpPr>
        <p:sp>
          <p:nvSpPr>
            <p:cNvPr id="518" name="Google Shape;518;p11"/>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519" name="Google Shape;519;p11"/>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20" name="Google Shape;520;p11"/>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521" name="Google Shape;521;p11"/>
          <p:cNvSpPr txBox="1"/>
          <p:nvPr/>
        </p:nvSpPr>
        <p:spPr>
          <a:xfrm>
            <a:off x="2394993" y="893156"/>
            <a:ext cx="6107827" cy="1114425"/>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프롬프트 설계</a:t>
            </a:r>
            <a:endParaRPr/>
          </a:p>
        </p:txBody>
      </p:sp>
      <p:sp>
        <p:nvSpPr>
          <p:cNvPr id="522" name="Google Shape;522;p11"/>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04</a:t>
            </a:r>
            <a:endParaRPr/>
          </a:p>
        </p:txBody>
      </p:sp>
      <p:grpSp>
        <p:nvGrpSpPr>
          <p:cNvPr id="523" name="Google Shape;523;p11"/>
          <p:cNvGrpSpPr/>
          <p:nvPr/>
        </p:nvGrpSpPr>
        <p:grpSpPr>
          <a:xfrm>
            <a:off x="2332509" y="3094623"/>
            <a:ext cx="13622982" cy="939886"/>
            <a:chOff x="0" y="-239633"/>
            <a:chExt cx="18163976" cy="1253181"/>
          </a:xfrm>
        </p:grpSpPr>
        <p:grpSp>
          <p:nvGrpSpPr>
            <p:cNvPr id="524" name="Google Shape;524;p11"/>
            <p:cNvGrpSpPr/>
            <p:nvPr/>
          </p:nvGrpSpPr>
          <p:grpSpPr>
            <a:xfrm>
              <a:off x="3996106" y="-239633"/>
              <a:ext cx="14167870" cy="1253181"/>
              <a:chOff x="0" y="-47625"/>
              <a:chExt cx="2815747" cy="249059"/>
            </a:xfrm>
          </p:grpSpPr>
          <p:sp>
            <p:nvSpPr>
              <p:cNvPr id="525" name="Google Shape;525;p11"/>
              <p:cNvSpPr/>
              <p:nvPr/>
            </p:nvSpPr>
            <p:spPr>
              <a:xfrm>
                <a:off x="0" y="0"/>
                <a:ext cx="2815747" cy="201434"/>
              </a:xfrm>
              <a:custGeom>
                <a:avLst/>
                <a:gdLst/>
                <a:ahLst/>
                <a:cxnLst/>
                <a:rect l="l" t="t" r="r" b="b"/>
                <a:pathLst>
                  <a:path w="2815747" h="201434" extrusionOk="0">
                    <a:moveTo>
                      <a:pt x="0" y="0"/>
                    </a:moveTo>
                    <a:lnTo>
                      <a:pt x="2815747" y="0"/>
                    </a:lnTo>
                    <a:lnTo>
                      <a:pt x="2815747" y="201434"/>
                    </a:lnTo>
                    <a:lnTo>
                      <a:pt x="0" y="201434"/>
                    </a:lnTo>
                    <a:close/>
                  </a:path>
                </a:pathLst>
              </a:custGeom>
              <a:solidFill>
                <a:srgbClr val="EEF6FF"/>
              </a:solidFill>
              <a:ln w="9525" cap="sq" cmpd="sng">
                <a:solidFill>
                  <a:srgbClr val="20538B"/>
                </a:solidFill>
                <a:prstDash val="solid"/>
                <a:miter lim="8000"/>
                <a:headEnd type="none" w="sm" len="sm"/>
                <a:tailEnd type="none" w="sm" len="sm"/>
              </a:ln>
            </p:spPr>
          </p:sp>
          <p:sp>
            <p:nvSpPr>
              <p:cNvPr id="526" name="Google Shape;526;p11"/>
              <p:cNvSpPr txBox="1"/>
              <p:nvPr/>
            </p:nvSpPr>
            <p:spPr>
              <a:xfrm>
                <a:off x="0" y="-47625"/>
                <a:ext cx="2815747" cy="249059"/>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27" name="Google Shape;527;p11"/>
            <p:cNvGrpSpPr/>
            <p:nvPr/>
          </p:nvGrpSpPr>
          <p:grpSpPr>
            <a:xfrm>
              <a:off x="0" y="-239633"/>
              <a:ext cx="4889318" cy="1253181"/>
              <a:chOff x="0" y="-47625"/>
              <a:chExt cx="971712" cy="249059"/>
            </a:xfrm>
          </p:grpSpPr>
          <p:sp>
            <p:nvSpPr>
              <p:cNvPr id="528" name="Google Shape;528;p11"/>
              <p:cNvSpPr/>
              <p:nvPr/>
            </p:nvSpPr>
            <p:spPr>
              <a:xfrm>
                <a:off x="0" y="0"/>
                <a:ext cx="971712" cy="201434"/>
              </a:xfrm>
              <a:custGeom>
                <a:avLst/>
                <a:gdLst/>
                <a:ahLst/>
                <a:cxnLst/>
                <a:rect l="l" t="t" r="r" b="b"/>
                <a:pathLst>
                  <a:path w="971712" h="201434" extrusionOk="0">
                    <a:moveTo>
                      <a:pt x="0" y="0"/>
                    </a:moveTo>
                    <a:lnTo>
                      <a:pt x="971712" y="0"/>
                    </a:lnTo>
                    <a:lnTo>
                      <a:pt x="971712" y="201434"/>
                    </a:lnTo>
                    <a:lnTo>
                      <a:pt x="0" y="201434"/>
                    </a:lnTo>
                    <a:close/>
                  </a:path>
                </a:pathLst>
              </a:custGeom>
              <a:solidFill>
                <a:srgbClr val="94B6DA"/>
              </a:solidFill>
              <a:ln w="9525" cap="sq" cmpd="sng">
                <a:solidFill>
                  <a:srgbClr val="20538B"/>
                </a:solidFill>
                <a:prstDash val="solid"/>
                <a:miter lim="8000"/>
                <a:headEnd type="none" w="sm" len="sm"/>
                <a:tailEnd type="none" w="sm" len="sm"/>
              </a:ln>
            </p:spPr>
          </p:sp>
          <p:sp>
            <p:nvSpPr>
              <p:cNvPr id="529" name="Google Shape;529;p11"/>
              <p:cNvSpPr txBox="1"/>
              <p:nvPr/>
            </p:nvSpPr>
            <p:spPr>
              <a:xfrm>
                <a:off x="0" y="-47625"/>
                <a:ext cx="971712" cy="249059"/>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30" name="Google Shape;530;p11"/>
          <p:cNvGrpSpPr/>
          <p:nvPr/>
        </p:nvGrpSpPr>
        <p:grpSpPr>
          <a:xfrm>
            <a:off x="2332509" y="4206770"/>
            <a:ext cx="13622982" cy="939886"/>
            <a:chOff x="0" y="-239633"/>
            <a:chExt cx="18163976" cy="1253181"/>
          </a:xfrm>
        </p:grpSpPr>
        <p:grpSp>
          <p:nvGrpSpPr>
            <p:cNvPr id="531" name="Google Shape;531;p11"/>
            <p:cNvGrpSpPr/>
            <p:nvPr/>
          </p:nvGrpSpPr>
          <p:grpSpPr>
            <a:xfrm>
              <a:off x="3996106" y="-239633"/>
              <a:ext cx="14167870" cy="1253181"/>
              <a:chOff x="0" y="-47625"/>
              <a:chExt cx="2815747" cy="249059"/>
            </a:xfrm>
          </p:grpSpPr>
          <p:sp>
            <p:nvSpPr>
              <p:cNvPr id="532" name="Google Shape;532;p11"/>
              <p:cNvSpPr/>
              <p:nvPr/>
            </p:nvSpPr>
            <p:spPr>
              <a:xfrm>
                <a:off x="0" y="0"/>
                <a:ext cx="2815747" cy="201434"/>
              </a:xfrm>
              <a:custGeom>
                <a:avLst/>
                <a:gdLst/>
                <a:ahLst/>
                <a:cxnLst/>
                <a:rect l="l" t="t" r="r" b="b"/>
                <a:pathLst>
                  <a:path w="2815747" h="201434" extrusionOk="0">
                    <a:moveTo>
                      <a:pt x="0" y="0"/>
                    </a:moveTo>
                    <a:lnTo>
                      <a:pt x="2815747" y="0"/>
                    </a:lnTo>
                    <a:lnTo>
                      <a:pt x="2815747" y="201434"/>
                    </a:lnTo>
                    <a:lnTo>
                      <a:pt x="0" y="201434"/>
                    </a:lnTo>
                    <a:close/>
                  </a:path>
                </a:pathLst>
              </a:custGeom>
              <a:solidFill>
                <a:srgbClr val="EEF6FF"/>
              </a:solidFill>
              <a:ln w="9525" cap="sq" cmpd="sng">
                <a:solidFill>
                  <a:srgbClr val="20538B"/>
                </a:solidFill>
                <a:prstDash val="solid"/>
                <a:miter lim="8000"/>
                <a:headEnd type="none" w="sm" len="sm"/>
                <a:tailEnd type="none" w="sm" len="sm"/>
              </a:ln>
            </p:spPr>
          </p:sp>
          <p:sp>
            <p:nvSpPr>
              <p:cNvPr id="533" name="Google Shape;533;p11"/>
              <p:cNvSpPr txBox="1"/>
              <p:nvPr/>
            </p:nvSpPr>
            <p:spPr>
              <a:xfrm>
                <a:off x="0" y="-47625"/>
                <a:ext cx="2815747" cy="249059"/>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4" name="Google Shape;534;p11"/>
            <p:cNvGrpSpPr/>
            <p:nvPr/>
          </p:nvGrpSpPr>
          <p:grpSpPr>
            <a:xfrm>
              <a:off x="0" y="-239633"/>
              <a:ext cx="4889318" cy="1253181"/>
              <a:chOff x="0" y="-47625"/>
              <a:chExt cx="971712" cy="249059"/>
            </a:xfrm>
          </p:grpSpPr>
          <p:sp>
            <p:nvSpPr>
              <p:cNvPr id="535" name="Google Shape;535;p11"/>
              <p:cNvSpPr/>
              <p:nvPr/>
            </p:nvSpPr>
            <p:spPr>
              <a:xfrm>
                <a:off x="0" y="0"/>
                <a:ext cx="971712" cy="201434"/>
              </a:xfrm>
              <a:custGeom>
                <a:avLst/>
                <a:gdLst/>
                <a:ahLst/>
                <a:cxnLst/>
                <a:rect l="l" t="t" r="r" b="b"/>
                <a:pathLst>
                  <a:path w="971712" h="201434" extrusionOk="0">
                    <a:moveTo>
                      <a:pt x="0" y="0"/>
                    </a:moveTo>
                    <a:lnTo>
                      <a:pt x="971712" y="0"/>
                    </a:lnTo>
                    <a:lnTo>
                      <a:pt x="971712" y="201434"/>
                    </a:lnTo>
                    <a:lnTo>
                      <a:pt x="0" y="201434"/>
                    </a:lnTo>
                    <a:close/>
                  </a:path>
                </a:pathLst>
              </a:custGeom>
              <a:solidFill>
                <a:srgbClr val="94B6DA"/>
              </a:solidFill>
              <a:ln w="9525" cap="sq" cmpd="sng">
                <a:solidFill>
                  <a:srgbClr val="20538B"/>
                </a:solidFill>
                <a:prstDash val="solid"/>
                <a:miter lim="8000"/>
                <a:headEnd type="none" w="sm" len="sm"/>
                <a:tailEnd type="none" w="sm" len="sm"/>
              </a:ln>
            </p:spPr>
          </p:sp>
          <p:sp>
            <p:nvSpPr>
              <p:cNvPr id="536" name="Google Shape;536;p11"/>
              <p:cNvSpPr txBox="1"/>
              <p:nvPr/>
            </p:nvSpPr>
            <p:spPr>
              <a:xfrm>
                <a:off x="0" y="-47625"/>
                <a:ext cx="971712" cy="249059"/>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37" name="Google Shape;537;p11"/>
          <p:cNvGrpSpPr/>
          <p:nvPr/>
        </p:nvGrpSpPr>
        <p:grpSpPr>
          <a:xfrm>
            <a:off x="2332509" y="5335314"/>
            <a:ext cx="13622982" cy="941372"/>
            <a:chOff x="0" y="-239633"/>
            <a:chExt cx="18163976" cy="1255163"/>
          </a:xfrm>
        </p:grpSpPr>
        <p:grpSp>
          <p:nvGrpSpPr>
            <p:cNvPr id="538" name="Google Shape;538;p11"/>
            <p:cNvGrpSpPr/>
            <p:nvPr/>
          </p:nvGrpSpPr>
          <p:grpSpPr>
            <a:xfrm>
              <a:off x="3996106" y="-239633"/>
              <a:ext cx="14167870" cy="1253181"/>
              <a:chOff x="0" y="-47625"/>
              <a:chExt cx="2815747" cy="249059"/>
            </a:xfrm>
          </p:grpSpPr>
          <p:sp>
            <p:nvSpPr>
              <p:cNvPr id="539" name="Google Shape;539;p11"/>
              <p:cNvSpPr/>
              <p:nvPr/>
            </p:nvSpPr>
            <p:spPr>
              <a:xfrm>
                <a:off x="0" y="0"/>
                <a:ext cx="2815747" cy="201434"/>
              </a:xfrm>
              <a:custGeom>
                <a:avLst/>
                <a:gdLst/>
                <a:ahLst/>
                <a:cxnLst/>
                <a:rect l="l" t="t" r="r" b="b"/>
                <a:pathLst>
                  <a:path w="2815747" h="201434" extrusionOk="0">
                    <a:moveTo>
                      <a:pt x="0" y="0"/>
                    </a:moveTo>
                    <a:lnTo>
                      <a:pt x="2815747" y="0"/>
                    </a:lnTo>
                    <a:lnTo>
                      <a:pt x="2815747" y="201434"/>
                    </a:lnTo>
                    <a:lnTo>
                      <a:pt x="0" y="201434"/>
                    </a:lnTo>
                    <a:close/>
                  </a:path>
                </a:pathLst>
              </a:custGeom>
              <a:solidFill>
                <a:srgbClr val="EEF6FF"/>
              </a:solidFill>
              <a:ln w="9525" cap="sq" cmpd="sng">
                <a:solidFill>
                  <a:srgbClr val="20538B"/>
                </a:solidFill>
                <a:prstDash val="solid"/>
                <a:miter lim="8000"/>
                <a:headEnd type="none" w="sm" len="sm"/>
                <a:tailEnd type="none" w="sm" len="sm"/>
              </a:ln>
            </p:spPr>
          </p:sp>
          <p:sp>
            <p:nvSpPr>
              <p:cNvPr id="540" name="Google Shape;540;p11"/>
              <p:cNvSpPr txBox="1"/>
              <p:nvPr/>
            </p:nvSpPr>
            <p:spPr>
              <a:xfrm>
                <a:off x="0" y="-47625"/>
                <a:ext cx="2815747" cy="249059"/>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1" name="Google Shape;541;p11"/>
            <p:cNvGrpSpPr/>
            <p:nvPr/>
          </p:nvGrpSpPr>
          <p:grpSpPr>
            <a:xfrm>
              <a:off x="0" y="-237651"/>
              <a:ext cx="4889318" cy="1253181"/>
              <a:chOff x="0" y="-47625"/>
              <a:chExt cx="971712" cy="249059"/>
            </a:xfrm>
          </p:grpSpPr>
          <p:sp>
            <p:nvSpPr>
              <p:cNvPr id="542" name="Google Shape;542;p11"/>
              <p:cNvSpPr/>
              <p:nvPr/>
            </p:nvSpPr>
            <p:spPr>
              <a:xfrm>
                <a:off x="0" y="0"/>
                <a:ext cx="971712" cy="201434"/>
              </a:xfrm>
              <a:custGeom>
                <a:avLst/>
                <a:gdLst/>
                <a:ahLst/>
                <a:cxnLst/>
                <a:rect l="l" t="t" r="r" b="b"/>
                <a:pathLst>
                  <a:path w="971712" h="201434" extrusionOk="0">
                    <a:moveTo>
                      <a:pt x="0" y="0"/>
                    </a:moveTo>
                    <a:lnTo>
                      <a:pt x="971712" y="0"/>
                    </a:lnTo>
                    <a:lnTo>
                      <a:pt x="971712" y="201434"/>
                    </a:lnTo>
                    <a:lnTo>
                      <a:pt x="0" y="201434"/>
                    </a:lnTo>
                    <a:close/>
                  </a:path>
                </a:pathLst>
              </a:custGeom>
              <a:solidFill>
                <a:srgbClr val="94B6DA"/>
              </a:solidFill>
              <a:ln w="9525" cap="sq" cmpd="sng">
                <a:solidFill>
                  <a:srgbClr val="20538B"/>
                </a:solidFill>
                <a:prstDash val="solid"/>
                <a:miter lim="8000"/>
                <a:headEnd type="none" w="sm" len="sm"/>
                <a:tailEnd type="none" w="sm" len="sm"/>
              </a:ln>
            </p:spPr>
          </p:sp>
          <p:sp>
            <p:nvSpPr>
              <p:cNvPr id="543" name="Google Shape;543;p11"/>
              <p:cNvSpPr txBox="1"/>
              <p:nvPr/>
            </p:nvSpPr>
            <p:spPr>
              <a:xfrm>
                <a:off x="0" y="-47625"/>
                <a:ext cx="971712" cy="249059"/>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44" name="Google Shape;544;p11"/>
          <p:cNvGrpSpPr/>
          <p:nvPr/>
        </p:nvGrpSpPr>
        <p:grpSpPr>
          <a:xfrm>
            <a:off x="2332509" y="6458911"/>
            <a:ext cx="13622982" cy="939886"/>
            <a:chOff x="0" y="-239633"/>
            <a:chExt cx="18163976" cy="1253181"/>
          </a:xfrm>
        </p:grpSpPr>
        <p:grpSp>
          <p:nvGrpSpPr>
            <p:cNvPr id="545" name="Google Shape;545;p11"/>
            <p:cNvGrpSpPr/>
            <p:nvPr/>
          </p:nvGrpSpPr>
          <p:grpSpPr>
            <a:xfrm>
              <a:off x="3996106" y="-239633"/>
              <a:ext cx="14167870" cy="1253181"/>
              <a:chOff x="0" y="-47625"/>
              <a:chExt cx="2815747" cy="249059"/>
            </a:xfrm>
          </p:grpSpPr>
          <p:sp>
            <p:nvSpPr>
              <p:cNvPr id="546" name="Google Shape;546;p11"/>
              <p:cNvSpPr/>
              <p:nvPr/>
            </p:nvSpPr>
            <p:spPr>
              <a:xfrm>
                <a:off x="0" y="0"/>
                <a:ext cx="2815747" cy="201434"/>
              </a:xfrm>
              <a:custGeom>
                <a:avLst/>
                <a:gdLst/>
                <a:ahLst/>
                <a:cxnLst/>
                <a:rect l="l" t="t" r="r" b="b"/>
                <a:pathLst>
                  <a:path w="2815747" h="201434" extrusionOk="0">
                    <a:moveTo>
                      <a:pt x="0" y="0"/>
                    </a:moveTo>
                    <a:lnTo>
                      <a:pt x="2815747" y="0"/>
                    </a:lnTo>
                    <a:lnTo>
                      <a:pt x="2815747" y="201434"/>
                    </a:lnTo>
                    <a:lnTo>
                      <a:pt x="0" y="201434"/>
                    </a:lnTo>
                    <a:close/>
                  </a:path>
                </a:pathLst>
              </a:custGeom>
              <a:solidFill>
                <a:srgbClr val="EEF6FF"/>
              </a:solidFill>
              <a:ln w="9525" cap="sq" cmpd="sng">
                <a:solidFill>
                  <a:srgbClr val="20538B"/>
                </a:solidFill>
                <a:prstDash val="solid"/>
                <a:miter lim="8000"/>
                <a:headEnd type="none" w="sm" len="sm"/>
                <a:tailEnd type="none" w="sm" len="sm"/>
              </a:ln>
            </p:spPr>
          </p:sp>
          <p:sp>
            <p:nvSpPr>
              <p:cNvPr id="547" name="Google Shape;547;p11"/>
              <p:cNvSpPr txBox="1"/>
              <p:nvPr/>
            </p:nvSpPr>
            <p:spPr>
              <a:xfrm>
                <a:off x="0" y="-47625"/>
                <a:ext cx="2815747" cy="249059"/>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8" name="Google Shape;548;p11"/>
            <p:cNvGrpSpPr/>
            <p:nvPr/>
          </p:nvGrpSpPr>
          <p:grpSpPr>
            <a:xfrm>
              <a:off x="0" y="-239633"/>
              <a:ext cx="4889318" cy="1253181"/>
              <a:chOff x="0" y="-47625"/>
              <a:chExt cx="971712" cy="249059"/>
            </a:xfrm>
          </p:grpSpPr>
          <p:sp>
            <p:nvSpPr>
              <p:cNvPr id="549" name="Google Shape;549;p11"/>
              <p:cNvSpPr/>
              <p:nvPr/>
            </p:nvSpPr>
            <p:spPr>
              <a:xfrm>
                <a:off x="0" y="0"/>
                <a:ext cx="971712" cy="201434"/>
              </a:xfrm>
              <a:custGeom>
                <a:avLst/>
                <a:gdLst/>
                <a:ahLst/>
                <a:cxnLst/>
                <a:rect l="l" t="t" r="r" b="b"/>
                <a:pathLst>
                  <a:path w="971712" h="201434" extrusionOk="0">
                    <a:moveTo>
                      <a:pt x="0" y="0"/>
                    </a:moveTo>
                    <a:lnTo>
                      <a:pt x="971712" y="0"/>
                    </a:lnTo>
                    <a:lnTo>
                      <a:pt x="971712" y="201434"/>
                    </a:lnTo>
                    <a:lnTo>
                      <a:pt x="0" y="201434"/>
                    </a:lnTo>
                    <a:close/>
                  </a:path>
                </a:pathLst>
              </a:custGeom>
              <a:solidFill>
                <a:srgbClr val="94B6DA"/>
              </a:solidFill>
              <a:ln w="9525" cap="sq" cmpd="sng">
                <a:solidFill>
                  <a:srgbClr val="20538B"/>
                </a:solidFill>
                <a:prstDash val="solid"/>
                <a:miter lim="8000"/>
                <a:headEnd type="none" w="sm" len="sm"/>
                <a:tailEnd type="none" w="sm" len="sm"/>
              </a:ln>
            </p:spPr>
          </p:sp>
          <p:sp>
            <p:nvSpPr>
              <p:cNvPr id="550" name="Google Shape;550;p11"/>
              <p:cNvSpPr txBox="1"/>
              <p:nvPr/>
            </p:nvSpPr>
            <p:spPr>
              <a:xfrm>
                <a:off x="0" y="-47625"/>
                <a:ext cx="971712" cy="249059"/>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51" name="Google Shape;551;p11"/>
          <p:cNvGrpSpPr/>
          <p:nvPr/>
        </p:nvGrpSpPr>
        <p:grpSpPr>
          <a:xfrm>
            <a:off x="2332509" y="7590547"/>
            <a:ext cx="13622982" cy="939886"/>
            <a:chOff x="0" y="-239633"/>
            <a:chExt cx="18163976" cy="1253181"/>
          </a:xfrm>
        </p:grpSpPr>
        <p:grpSp>
          <p:nvGrpSpPr>
            <p:cNvPr id="552" name="Google Shape;552;p11"/>
            <p:cNvGrpSpPr/>
            <p:nvPr/>
          </p:nvGrpSpPr>
          <p:grpSpPr>
            <a:xfrm>
              <a:off x="3996106" y="-239633"/>
              <a:ext cx="14167870" cy="1253181"/>
              <a:chOff x="0" y="-47625"/>
              <a:chExt cx="2815747" cy="249059"/>
            </a:xfrm>
          </p:grpSpPr>
          <p:sp>
            <p:nvSpPr>
              <p:cNvPr id="553" name="Google Shape;553;p11"/>
              <p:cNvSpPr/>
              <p:nvPr/>
            </p:nvSpPr>
            <p:spPr>
              <a:xfrm>
                <a:off x="0" y="0"/>
                <a:ext cx="2815747" cy="201434"/>
              </a:xfrm>
              <a:custGeom>
                <a:avLst/>
                <a:gdLst/>
                <a:ahLst/>
                <a:cxnLst/>
                <a:rect l="l" t="t" r="r" b="b"/>
                <a:pathLst>
                  <a:path w="2815747" h="201434" extrusionOk="0">
                    <a:moveTo>
                      <a:pt x="0" y="0"/>
                    </a:moveTo>
                    <a:lnTo>
                      <a:pt x="2815747" y="0"/>
                    </a:lnTo>
                    <a:lnTo>
                      <a:pt x="2815747" y="201434"/>
                    </a:lnTo>
                    <a:lnTo>
                      <a:pt x="0" y="201434"/>
                    </a:lnTo>
                    <a:close/>
                  </a:path>
                </a:pathLst>
              </a:custGeom>
              <a:solidFill>
                <a:srgbClr val="EEF6FF"/>
              </a:solidFill>
              <a:ln w="9525" cap="sq" cmpd="sng">
                <a:solidFill>
                  <a:srgbClr val="20538B"/>
                </a:solidFill>
                <a:prstDash val="solid"/>
                <a:miter lim="8000"/>
                <a:headEnd type="none" w="sm" len="sm"/>
                <a:tailEnd type="none" w="sm" len="sm"/>
              </a:ln>
            </p:spPr>
          </p:sp>
          <p:sp>
            <p:nvSpPr>
              <p:cNvPr id="554" name="Google Shape;554;p11"/>
              <p:cNvSpPr txBox="1"/>
              <p:nvPr/>
            </p:nvSpPr>
            <p:spPr>
              <a:xfrm>
                <a:off x="0" y="-47625"/>
                <a:ext cx="2815747" cy="249059"/>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55" name="Google Shape;555;p11"/>
            <p:cNvGrpSpPr/>
            <p:nvPr/>
          </p:nvGrpSpPr>
          <p:grpSpPr>
            <a:xfrm>
              <a:off x="0" y="-239633"/>
              <a:ext cx="4889318" cy="1253181"/>
              <a:chOff x="0" y="-47625"/>
              <a:chExt cx="971712" cy="249059"/>
            </a:xfrm>
          </p:grpSpPr>
          <p:sp>
            <p:nvSpPr>
              <p:cNvPr id="556" name="Google Shape;556;p11"/>
              <p:cNvSpPr/>
              <p:nvPr/>
            </p:nvSpPr>
            <p:spPr>
              <a:xfrm>
                <a:off x="0" y="0"/>
                <a:ext cx="971712" cy="201434"/>
              </a:xfrm>
              <a:custGeom>
                <a:avLst/>
                <a:gdLst/>
                <a:ahLst/>
                <a:cxnLst/>
                <a:rect l="l" t="t" r="r" b="b"/>
                <a:pathLst>
                  <a:path w="971712" h="201434" extrusionOk="0">
                    <a:moveTo>
                      <a:pt x="0" y="0"/>
                    </a:moveTo>
                    <a:lnTo>
                      <a:pt x="971712" y="0"/>
                    </a:lnTo>
                    <a:lnTo>
                      <a:pt x="971712" y="201434"/>
                    </a:lnTo>
                    <a:lnTo>
                      <a:pt x="0" y="201434"/>
                    </a:lnTo>
                    <a:close/>
                  </a:path>
                </a:pathLst>
              </a:custGeom>
              <a:solidFill>
                <a:srgbClr val="94B6DA"/>
              </a:solidFill>
              <a:ln w="9525" cap="sq" cmpd="sng">
                <a:solidFill>
                  <a:srgbClr val="20538B"/>
                </a:solidFill>
                <a:prstDash val="solid"/>
                <a:miter lim="8000"/>
                <a:headEnd type="none" w="sm" len="sm"/>
                <a:tailEnd type="none" w="sm" len="sm"/>
              </a:ln>
            </p:spPr>
          </p:sp>
          <p:sp>
            <p:nvSpPr>
              <p:cNvPr id="557" name="Google Shape;557;p11"/>
              <p:cNvSpPr txBox="1"/>
              <p:nvPr/>
            </p:nvSpPr>
            <p:spPr>
              <a:xfrm>
                <a:off x="0" y="-47625"/>
                <a:ext cx="971712" cy="249059"/>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558" name="Google Shape;558;p11"/>
          <p:cNvSpPr/>
          <p:nvPr/>
        </p:nvSpPr>
        <p:spPr>
          <a:xfrm>
            <a:off x="6561524" y="3409708"/>
            <a:ext cx="338636" cy="509228"/>
          </a:xfrm>
          <a:custGeom>
            <a:avLst/>
            <a:gdLst/>
            <a:ahLst/>
            <a:cxnLst/>
            <a:rect l="l" t="t" r="r" b="b"/>
            <a:pathLst>
              <a:path w="338636" h="509228" extrusionOk="0">
                <a:moveTo>
                  <a:pt x="0" y="0"/>
                </a:moveTo>
                <a:lnTo>
                  <a:pt x="338636" y="0"/>
                </a:lnTo>
                <a:lnTo>
                  <a:pt x="338636" y="509228"/>
                </a:lnTo>
                <a:lnTo>
                  <a:pt x="0" y="509228"/>
                </a:lnTo>
                <a:lnTo>
                  <a:pt x="0" y="0"/>
                </a:lnTo>
                <a:close/>
              </a:path>
            </a:pathLst>
          </a:custGeom>
          <a:blipFill rotWithShape="1">
            <a:blip r:embed="rId4">
              <a:alphaModFix/>
            </a:blip>
            <a:stretch>
              <a:fillRect/>
            </a:stretch>
          </a:blipFill>
          <a:ln>
            <a:noFill/>
          </a:ln>
        </p:spPr>
      </p:sp>
      <p:sp>
        <p:nvSpPr>
          <p:cNvPr id="559" name="Google Shape;559;p11"/>
          <p:cNvSpPr/>
          <p:nvPr/>
        </p:nvSpPr>
        <p:spPr>
          <a:xfrm>
            <a:off x="6546230" y="4526341"/>
            <a:ext cx="470575" cy="470575"/>
          </a:xfrm>
          <a:custGeom>
            <a:avLst/>
            <a:gdLst/>
            <a:ahLst/>
            <a:cxnLst/>
            <a:rect l="l" t="t" r="r" b="b"/>
            <a:pathLst>
              <a:path w="470575" h="470575" extrusionOk="0">
                <a:moveTo>
                  <a:pt x="0" y="0"/>
                </a:moveTo>
                <a:lnTo>
                  <a:pt x="470575" y="0"/>
                </a:lnTo>
                <a:lnTo>
                  <a:pt x="470575" y="470575"/>
                </a:lnTo>
                <a:lnTo>
                  <a:pt x="0" y="470575"/>
                </a:lnTo>
                <a:lnTo>
                  <a:pt x="0" y="0"/>
                </a:lnTo>
                <a:close/>
              </a:path>
            </a:pathLst>
          </a:custGeom>
          <a:blipFill rotWithShape="1">
            <a:blip r:embed="rId5">
              <a:alphaModFix/>
            </a:blip>
            <a:stretch>
              <a:fillRect/>
            </a:stretch>
          </a:blipFill>
          <a:ln>
            <a:noFill/>
          </a:ln>
        </p:spPr>
      </p:sp>
      <p:sp>
        <p:nvSpPr>
          <p:cNvPr id="560" name="Google Shape;560;p11"/>
          <p:cNvSpPr/>
          <p:nvPr/>
        </p:nvSpPr>
        <p:spPr>
          <a:xfrm>
            <a:off x="6495554" y="5661318"/>
            <a:ext cx="470575" cy="470575"/>
          </a:xfrm>
          <a:custGeom>
            <a:avLst/>
            <a:gdLst/>
            <a:ahLst/>
            <a:cxnLst/>
            <a:rect l="l" t="t" r="r" b="b"/>
            <a:pathLst>
              <a:path w="470575" h="470575" extrusionOk="0">
                <a:moveTo>
                  <a:pt x="0" y="0"/>
                </a:moveTo>
                <a:lnTo>
                  <a:pt x="470576" y="0"/>
                </a:lnTo>
                <a:lnTo>
                  <a:pt x="470576" y="470576"/>
                </a:lnTo>
                <a:lnTo>
                  <a:pt x="0" y="470576"/>
                </a:lnTo>
                <a:lnTo>
                  <a:pt x="0" y="0"/>
                </a:lnTo>
                <a:close/>
              </a:path>
            </a:pathLst>
          </a:custGeom>
          <a:blipFill rotWithShape="1">
            <a:blip r:embed="rId6">
              <a:alphaModFix/>
            </a:blip>
            <a:stretch>
              <a:fillRect/>
            </a:stretch>
          </a:blipFill>
          <a:ln>
            <a:noFill/>
          </a:ln>
        </p:spPr>
      </p:sp>
      <p:sp>
        <p:nvSpPr>
          <p:cNvPr id="561" name="Google Shape;561;p11"/>
          <p:cNvSpPr/>
          <p:nvPr/>
        </p:nvSpPr>
        <p:spPr>
          <a:xfrm>
            <a:off x="6510848" y="6770500"/>
            <a:ext cx="439988" cy="470575"/>
          </a:xfrm>
          <a:custGeom>
            <a:avLst/>
            <a:gdLst/>
            <a:ahLst/>
            <a:cxnLst/>
            <a:rect l="l" t="t" r="r" b="b"/>
            <a:pathLst>
              <a:path w="439988" h="470575" extrusionOk="0">
                <a:moveTo>
                  <a:pt x="0" y="0"/>
                </a:moveTo>
                <a:lnTo>
                  <a:pt x="439988" y="0"/>
                </a:lnTo>
                <a:lnTo>
                  <a:pt x="439988" y="470575"/>
                </a:lnTo>
                <a:lnTo>
                  <a:pt x="0" y="470575"/>
                </a:lnTo>
                <a:lnTo>
                  <a:pt x="0" y="0"/>
                </a:lnTo>
                <a:close/>
              </a:path>
            </a:pathLst>
          </a:custGeom>
          <a:blipFill rotWithShape="1">
            <a:blip r:embed="rId7">
              <a:alphaModFix/>
            </a:blip>
            <a:stretch>
              <a:fillRect/>
            </a:stretch>
          </a:blipFill>
          <a:ln>
            <a:noFill/>
          </a:ln>
        </p:spPr>
      </p:sp>
      <p:sp>
        <p:nvSpPr>
          <p:cNvPr id="562" name="Google Shape;562;p11"/>
          <p:cNvSpPr/>
          <p:nvPr/>
        </p:nvSpPr>
        <p:spPr>
          <a:xfrm>
            <a:off x="6495554" y="7913147"/>
            <a:ext cx="454105" cy="470575"/>
          </a:xfrm>
          <a:custGeom>
            <a:avLst/>
            <a:gdLst/>
            <a:ahLst/>
            <a:cxnLst/>
            <a:rect l="l" t="t" r="r" b="b"/>
            <a:pathLst>
              <a:path w="454105" h="470575" extrusionOk="0">
                <a:moveTo>
                  <a:pt x="0" y="0"/>
                </a:moveTo>
                <a:lnTo>
                  <a:pt x="454106" y="0"/>
                </a:lnTo>
                <a:lnTo>
                  <a:pt x="454106" y="470575"/>
                </a:lnTo>
                <a:lnTo>
                  <a:pt x="0" y="470575"/>
                </a:lnTo>
                <a:lnTo>
                  <a:pt x="0" y="0"/>
                </a:lnTo>
                <a:close/>
              </a:path>
            </a:pathLst>
          </a:custGeom>
          <a:blipFill rotWithShape="1">
            <a:blip r:embed="rId8">
              <a:alphaModFix/>
            </a:blip>
            <a:stretch>
              <a:fillRect/>
            </a:stretch>
          </a:blipFill>
          <a:ln>
            <a:noFill/>
          </a:ln>
        </p:spPr>
      </p:sp>
      <p:sp>
        <p:nvSpPr>
          <p:cNvPr id="563" name="Google Shape;563;p11"/>
          <p:cNvSpPr txBox="1"/>
          <p:nvPr/>
        </p:nvSpPr>
        <p:spPr>
          <a:xfrm>
            <a:off x="2583842" y="3385557"/>
            <a:ext cx="3164322" cy="49085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800" b="1" i="0" u="none" strike="noStrike" cap="none">
                <a:solidFill>
                  <a:srgbClr val="FFFFFF"/>
                </a:solidFill>
                <a:latin typeface="Arial"/>
                <a:ea typeface="Arial"/>
                <a:cs typeface="Arial"/>
                <a:sym typeface="Arial"/>
              </a:rPr>
              <a:t>역할 분리</a:t>
            </a:r>
            <a:endParaRPr/>
          </a:p>
        </p:txBody>
      </p:sp>
      <p:sp>
        <p:nvSpPr>
          <p:cNvPr id="564" name="Google Shape;564;p11"/>
          <p:cNvSpPr txBox="1"/>
          <p:nvPr/>
        </p:nvSpPr>
        <p:spPr>
          <a:xfrm>
            <a:off x="7370577" y="3491920"/>
            <a:ext cx="7954961" cy="3067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0" i="0" u="none" strike="noStrike" cap="none">
                <a:solidFill>
                  <a:srgbClr val="20538B"/>
                </a:solidFill>
                <a:latin typeface="Arial"/>
                <a:ea typeface="Arial"/>
                <a:cs typeface="Arial"/>
                <a:sym typeface="Arial"/>
              </a:rPr>
              <a:t>판정은 코드가 끝내고 LLM은 문장만 작성 (규칙 16개)</a:t>
            </a:r>
            <a:endParaRPr/>
          </a:p>
        </p:txBody>
      </p:sp>
      <p:sp>
        <p:nvSpPr>
          <p:cNvPr id="565" name="Google Shape;565;p11"/>
          <p:cNvSpPr txBox="1"/>
          <p:nvPr/>
        </p:nvSpPr>
        <p:spPr>
          <a:xfrm>
            <a:off x="2583842" y="4492757"/>
            <a:ext cx="3164322" cy="49085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800" b="1" i="0" u="none" strike="noStrike" cap="none">
                <a:solidFill>
                  <a:srgbClr val="FFFFFF"/>
                </a:solidFill>
                <a:latin typeface="Arial"/>
                <a:ea typeface="Arial"/>
                <a:cs typeface="Arial"/>
                <a:sym typeface="Arial"/>
              </a:rPr>
              <a:t>대조 예시</a:t>
            </a:r>
            <a:endParaRPr/>
          </a:p>
        </p:txBody>
      </p:sp>
      <p:sp>
        <p:nvSpPr>
          <p:cNvPr id="566" name="Google Shape;566;p11"/>
          <p:cNvSpPr txBox="1"/>
          <p:nvPr/>
        </p:nvSpPr>
        <p:spPr>
          <a:xfrm>
            <a:off x="7370577" y="4599120"/>
            <a:ext cx="7954961" cy="3067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0" i="0" u="none" strike="noStrike" cap="none">
                <a:solidFill>
                  <a:srgbClr val="20538B"/>
                </a:solidFill>
                <a:latin typeface="Arial"/>
                <a:ea typeface="Arial"/>
                <a:cs typeface="Arial"/>
                <a:sym typeface="Arial"/>
              </a:rPr>
              <a:t>나쁨/좋음 예시 문장으로 기대 수준 제시 (Few-shot)</a:t>
            </a:r>
            <a:endParaRPr/>
          </a:p>
        </p:txBody>
      </p:sp>
      <p:sp>
        <p:nvSpPr>
          <p:cNvPr id="567" name="Google Shape;567;p11"/>
          <p:cNvSpPr txBox="1"/>
          <p:nvPr/>
        </p:nvSpPr>
        <p:spPr>
          <a:xfrm>
            <a:off x="2583842" y="5614382"/>
            <a:ext cx="3164322" cy="49085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800" b="1" i="0" u="none" strike="noStrike" cap="none">
                <a:solidFill>
                  <a:srgbClr val="FFFFFF"/>
                </a:solidFill>
                <a:latin typeface="Arial"/>
                <a:ea typeface="Arial"/>
                <a:cs typeface="Arial"/>
                <a:sym typeface="Arial"/>
              </a:rPr>
              <a:t>JSON 출력</a:t>
            </a:r>
            <a:endParaRPr/>
          </a:p>
        </p:txBody>
      </p:sp>
      <p:sp>
        <p:nvSpPr>
          <p:cNvPr id="568" name="Google Shape;568;p11"/>
          <p:cNvSpPr txBox="1"/>
          <p:nvPr/>
        </p:nvSpPr>
        <p:spPr>
          <a:xfrm>
            <a:off x="7370577" y="5706320"/>
            <a:ext cx="8119724" cy="3067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0" i="0" u="none" strike="noStrike" cap="none">
                <a:solidFill>
                  <a:srgbClr val="20538B"/>
                </a:solidFill>
                <a:latin typeface="Arial"/>
                <a:ea typeface="Arial"/>
                <a:cs typeface="Arial"/>
                <a:sym typeface="Arial"/>
              </a:rPr>
              <a:t>출력 스키마 고정 + JSON 모드, temperature 0.2</a:t>
            </a:r>
            <a:endParaRPr/>
          </a:p>
        </p:txBody>
      </p:sp>
      <p:sp>
        <p:nvSpPr>
          <p:cNvPr id="569" name="Google Shape;569;p11"/>
          <p:cNvSpPr txBox="1"/>
          <p:nvPr/>
        </p:nvSpPr>
        <p:spPr>
          <a:xfrm>
            <a:off x="2583842" y="6750220"/>
            <a:ext cx="3164322" cy="49085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800" b="1" i="0" u="none" strike="noStrike" cap="none">
                <a:solidFill>
                  <a:srgbClr val="FFFFFF"/>
                </a:solidFill>
                <a:latin typeface="Arial"/>
                <a:ea typeface="Arial"/>
                <a:cs typeface="Arial"/>
                <a:sym typeface="Arial"/>
              </a:rPr>
              <a:t>후보 주입</a:t>
            </a:r>
            <a:endParaRPr/>
          </a:p>
        </p:txBody>
      </p:sp>
      <p:sp>
        <p:nvSpPr>
          <p:cNvPr id="570" name="Google Shape;570;p11"/>
          <p:cNvSpPr txBox="1"/>
          <p:nvPr/>
        </p:nvSpPr>
        <p:spPr>
          <a:xfrm>
            <a:off x="7370577" y="6846700"/>
            <a:ext cx="7954961" cy="3067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0" i="0" u="none" strike="noStrike" cap="none">
                <a:solidFill>
                  <a:srgbClr val="20538B"/>
                </a:solidFill>
                <a:latin typeface="Arial"/>
                <a:ea typeface="Arial"/>
                <a:cs typeface="Arial"/>
                <a:sym typeface="Arial"/>
              </a:rPr>
              <a:t>검색된 사례 후보만 넣고 그 안에서만 인용 (RAG)</a:t>
            </a:r>
            <a:endParaRPr/>
          </a:p>
        </p:txBody>
      </p:sp>
      <p:sp>
        <p:nvSpPr>
          <p:cNvPr id="571" name="Google Shape;571;p11"/>
          <p:cNvSpPr txBox="1"/>
          <p:nvPr/>
        </p:nvSpPr>
        <p:spPr>
          <a:xfrm>
            <a:off x="2583842" y="7884572"/>
            <a:ext cx="3164322" cy="49085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800" b="1" i="0" u="none" strike="noStrike" cap="none">
                <a:solidFill>
                  <a:srgbClr val="FFFFFF"/>
                </a:solidFill>
                <a:latin typeface="Arial"/>
                <a:ea typeface="Arial"/>
                <a:cs typeface="Arial"/>
                <a:sym typeface="Arial"/>
              </a:rPr>
              <a:t>금액 제외</a:t>
            </a:r>
            <a:endParaRPr/>
          </a:p>
        </p:txBody>
      </p:sp>
      <p:sp>
        <p:nvSpPr>
          <p:cNvPr id="572" name="Google Shape;572;p11"/>
          <p:cNvSpPr txBox="1"/>
          <p:nvPr/>
        </p:nvSpPr>
        <p:spPr>
          <a:xfrm>
            <a:off x="7370577" y="7970297"/>
            <a:ext cx="8119724" cy="3067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0" i="0" u="none" strike="noStrike" cap="none">
                <a:solidFill>
                  <a:srgbClr val="20538B"/>
                </a:solidFill>
                <a:latin typeface="Arial"/>
                <a:ea typeface="Arial"/>
                <a:cs typeface="Arial"/>
                <a:sym typeface="Arial"/>
              </a:rPr>
              <a:t>원화 금액은 아예 넘기지 않고 ID로만 참조하게 함</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grpSp>
        <p:nvGrpSpPr>
          <p:cNvPr id="443" name="Google Shape;443;p10"/>
          <p:cNvGrpSpPr/>
          <p:nvPr/>
        </p:nvGrpSpPr>
        <p:grpSpPr>
          <a:xfrm>
            <a:off x="-1081198" y="3274348"/>
            <a:ext cx="20615256" cy="7012652"/>
            <a:chOff x="-99237" y="-1"/>
            <a:chExt cx="27487007" cy="9350203"/>
          </a:xfrm>
        </p:grpSpPr>
        <p:grpSp>
          <p:nvGrpSpPr>
            <p:cNvPr id="444" name="Google Shape;444;p10"/>
            <p:cNvGrpSpPr/>
            <p:nvPr/>
          </p:nvGrpSpPr>
          <p:grpSpPr>
            <a:xfrm rot="-5400000">
              <a:off x="11107419" y="-11206657"/>
              <a:ext cx="4770675" cy="27183987"/>
              <a:chOff x="0" y="-38100"/>
              <a:chExt cx="1831597" cy="10436700"/>
            </a:xfrm>
          </p:grpSpPr>
          <p:sp>
            <p:nvSpPr>
              <p:cNvPr id="445" name="Google Shape;445;p10"/>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446" name="Google Shape;446;p10"/>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7" name="Google Shape;447;p10"/>
            <p:cNvGrpSpPr/>
            <p:nvPr/>
          </p:nvGrpSpPr>
          <p:grpSpPr>
            <a:xfrm rot="-5400000">
              <a:off x="11636974" y="-6400594"/>
              <a:ext cx="4579528" cy="26922063"/>
              <a:chOff x="0" y="-38100"/>
              <a:chExt cx="1758210" cy="10336140"/>
            </a:xfrm>
          </p:grpSpPr>
          <p:sp>
            <p:nvSpPr>
              <p:cNvPr id="448" name="Google Shape;448;p10"/>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449" name="Google Shape;449;p10"/>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450" name="Google Shape;450;p10"/>
          <p:cNvGrpSpPr/>
          <p:nvPr/>
        </p:nvGrpSpPr>
        <p:grpSpPr>
          <a:xfrm>
            <a:off x="731085" y="622849"/>
            <a:ext cx="16825832" cy="9050183"/>
            <a:chOff x="0" y="-108814"/>
            <a:chExt cx="22434442" cy="12066910"/>
          </a:xfrm>
        </p:grpSpPr>
        <p:grpSp>
          <p:nvGrpSpPr>
            <p:cNvPr id="451" name="Google Shape;451;p10"/>
            <p:cNvGrpSpPr/>
            <p:nvPr/>
          </p:nvGrpSpPr>
          <p:grpSpPr>
            <a:xfrm>
              <a:off x="26537" y="10214890"/>
              <a:ext cx="22386981" cy="1743206"/>
              <a:chOff x="0" y="-47625"/>
              <a:chExt cx="9809754" cy="763855"/>
            </a:xfrm>
          </p:grpSpPr>
          <p:sp>
            <p:nvSpPr>
              <p:cNvPr id="452" name="Google Shape;452;p10"/>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453" name="Google Shape;453;p10"/>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4" name="Google Shape;454;p10"/>
            <p:cNvGrpSpPr/>
            <p:nvPr/>
          </p:nvGrpSpPr>
          <p:grpSpPr>
            <a:xfrm>
              <a:off x="0" y="-108814"/>
              <a:ext cx="22434442" cy="11946255"/>
              <a:chOff x="0" y="-47625"/>
              <a:chExt cx="9818922" cy="5228539"/>
            </a:xfrm>
          </p:grpSpPr>
          <p:sp>
            <p:nvSpPr>
              <p:cNvPr id="455" name="Google Shape;455;p10"/>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456" name="Google Shape;456;p10"/>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457" name="Google Shape;457;p10"/>
          <p:cNvGrpSpPr/>
          <p:nvPr/>
        </p:nvGrpSpPr>
        <p:grpSpPr>
          <a:xfrm>
            <a:off x="763743" y="662703"/>
            <a:ext cx="16760151" cy="1561172"/>
            <a:chOff x="0" y="-38100"/>
            <a:chExt cx="8581180" cy="799319"/>
          </a:xfrm>
        </p:grpSpPr>
        <p:sp>
          <p:nvSpPr>
            <p:cNvPr id="458" name="Google Shape;458;p10"/>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459" name="Google Shape;459;p10"/>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60" name="Google Shape;460;p10"/>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461" name="Google Shape;461;p10"/>
          <p:cNvSpPr txBox="1"/>
          <p:nvPr/>
        </p:nvSpPr>
        <p:spPr>
          <a:xfrm>
            <a:off x="2394993" y="893156"/>
            <a:ext cx="6107827" cy="1114425"/>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데이터 구축</a:t>
            </a:r>
            <a:endParaRPr/>
          </a:p>
        </p:txBody>
      </p:sp>
      <p:sp>
        <p:nvSpPr>
          <p:cNvPr id="462" name="Google Shape;462;p10"/>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05</a:t>
            </a:r>
            <a:endParaRPr/>
          </a:p>
        </p:txBody>
      </p:sp>
      <p:grpSp>
        <p:nvGrpSpPr>
          <p:cNvPr id="463" name="Google Shape;463;p10"/>
          <p:cNvGrpSpPr/>
          <p:nvPr/>
        </p:nvGrpSpPr>
        <p:grpSpPr>
          <a:xfrm>
            <a:off x="1720504" y="3217428"/>
            <a:ext cx="7105479" cy="2218646"/>
            <a:chOff x="0" y="-47625"/>
            <a:chExt cx="4362139" cy="1362053"/>
          </a:xfrm>
        </p:grpSpPr>
        <p:sp>
          <p:nvSpPr>
            <p:cNvPr id="464" name="Google Shape;464;p10"/>
            <p:cNvSpPr/>
            <p:nvPr/>
          </p:nvSpPr>
          <p:spPr>
            <a:xfrm>
              <a:off x="0" y="0"/>
              <a:ext cx="4362139" cy="1314428"/>
            </a:xfrm>
            <a:custGeom>
              <a:avLst/>
              <a:gdLst/>
              <a:ahLst/>
              <a:cxnLst/>
              <a:rect l="l" t="t" r="r" b="b"/>
              <a:pathLst>
                <a:path w="4362139" h="1314428" extrusionOk="0">
                  <a:moveTo>
                    <a:pt x="0" y="0"/>
                  </a:moveTo>
                  <a:lnTo>
                    <a:pt x="4362139" y="0"/>
                  </a:lnTo>
                  <a:lnTo>
                    <a:pt x="4362139" y="1314428"/>
                  </a:lnTo>
                  <a:lnTo>
                    <a:pt x="0" y="1314428"/>
                  </a:lnTo>
                  <a:close/>
                </a:path>
              </a:pathLst>
            </a:custGeom>
            <a:solidFill>
              <a:srgbClr val="FFFFFF"/>
            </a:solidFill>
            <a:ln w="9525" cap="sq" cmpd="sng">
              <a:solidFill>
                <a:srgbClr val="20538B"/>
              </a:solidFill>
              <a:prstDash val="solid"/>
              <a:miter lim="8000"/>
              <a:headEnd type="none" w="sm" len="sm"/>
              <a:tailEnd type="none" w="sm" len="sm"/>
            </a:ln>
          </p:spPr>
        </p:sp>
        <p:sp>
          <p:nvSpPr>
            <p:cNvPr id="465" name="Google Shape;465;p10"/>
            <p:cNvSpPr txBox="1"/>
            <p:nvPr/>
          </p:nvSpPr>
          <p:spPr>
            <a:xfrm>
              <a:off x="0" y="-47625"/>
              <a:ext cx="4362139" cy="1362053"/>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6" name="Google Shape;466;p10"/>
          <p:cNvGrpSpPr/>
          <p:nvPr/>
        </p:nvGrpSpPr>
        <p:grpSpPr>
          <a:xfrm>
            <a:off x="9464062" y="3217428"/>
            <a:ext cx="7105479" cy="2218646"/>
            <a:chOff x="0" y="-47625"/>
            <a:chExt cx="4362139" cy="1362053"/>
          </a:xfrm>
        </p:grpSpPr>
        <p:sp>
          <p:nvSpPr>
            <p:cNvPr id="467" name="Google Shape;467;p10"/>
            <p:cNvSpPr/>
            <p:nvPr/>
          </p:nvSpPr>
          <p:spPr>
            <a:xfrm>
              <a:off x="0" y="0"/>
              <a:ext cx="4362139" cy="1314428"/>
            </a:xfrm>
            <a:custGeom>
              <a:avLst/>
              <a:gdLst/>
              <a:ahLst/>
              <a:cxnLst/>
              <a:rect l="l" t="t" r="r" b="b"/>
              <a:pathLst>
                <a:path w="4362139" h="1314428" extrusionOk="0">
                  <a:moveTo>
                    <a:pt x="0" y="0"/>
                  </a:moveTo>
                  <a:lnTo>
                    <a:pt x="4362139" y="0"/>
                  </a:lnTo>
                  <a:lnTo>
                    <a:pt x="4362139" y="1314428"/>
                  </a:lnTo>
                  <a:lnTo>
                    <a:pt x="0" y="1314428"/>
                  </a:lnTo>
                  <a:close/>
                </a:path>
              </a:pathLst>
            </a:custGeom>
            <a:solidFill>
              <a:srgbClr val="FFFFFF"/>
            </a:solidFill>
            <a:ln w="9525" cap="sq" cmpd="sng">
              <a:solidFill>
                <a:srgbClr val="20538B"/>
              </a:solidFill>
              <a:prstDash val="solid"/>
              <a:miter lim="8000"/>
              <a:headEnd type="none" w="sm" len="sm"/>
              <a:tailEnd type="none" w="sm" len="sm"/>
            </a:ln>
          </p:spPr>
        </p:sp>
        <p:sp>
          <p:nvSpPr>
            <p:cNvPr id="468" name="Google Shape;468;p10"/>
            <p:cNvSpPr txBox="1"/>
            <p:nvPr/>
          </p:nvSpPr>
          <p:spPr>
            <a:xfrm>
              <a:off x="0" y="-47625"/>
              <a:ext cx="4362139" cy="1362053"/>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9" name="Google Shape;469;p10"/>
          <p:cNvGrpSpPr/>
          <p:nvPr/>
        </p:nvGrpSpPr>
        <p:grpSpPr>
          <a:xfrm>
            <a:off x="1720504" y="6176059"/>
            <a:ext cx="7105479" cy="2218646"/>
            <a:chOff x="0" y="-47625"/>
            <a:chExt cx="4362139" cy="1362053"/>
          </a:xfrm>
        </p:grpSpPr>
        <p:sp>
          <p:nvSpPr>
            <p:cNvPr id="470" name="Google Shape;470;p10"/>
            <p:cNvSpPr/>
            <p:nvPr/>
          </p:nvSpPr>
          <p:spPr>
            <a:xfrm>
              <a:off x="0" y="0"/>
              <a:ext cx="4362139" cy="1314428"/>
            </a:xfrm>
            <a:custGeom>
              <a:avLst/>
              <a:gdLst/>
              <a:ahLst/>
              <a:cxnLst/>
              <a:rect l="l" t="t" r="r" b="b"/>
              <a:pathLst>
                <a:path w="4362139" h="1314428" extrusionOk="0">
                  <a:moveTo>
                    <a:pt x="0" y="0"/>
                  </a:moveTo>
                  <a:lnTo>
                    <a:pt x="4362139" y="0"/>
                  </a:lnTo>
                  <a:lnTo>
                    <a:pt x="4362139" y="1314428"/>
                  </a:lnTo>
                  <a:lnTo>
                    <a:pt x="0" y="1314428"/>
                  </a:lnTo>
                  <a:close/>
                </a:path>
              </a:pathLst>
            </a:custGeom>
            <a:solidFill>
              <a:srgbClr val="FFFFFF"/>
            </a:solidFill>
            <a:ln w="9525" cap="sq" cmpd="sng">
              <a:solidFill>
                <a:srgbClr val="20538B"/>
              </a:solidFill>
              <a:prstDash val="solid"/>
              <a:miter lim="8000"/>
              <a:headEnd type="none" w="sm" len="sm"/>
              <a:tailEnd type="none" w="sm" len="sm"/>
            </a:ln>
          </p:spPr>
        </p:sp>
        <p:sp>
          <p:nvSpPr>
            <p:cNvPr id="471" name="Google Shape;471;p10"/>
            <p:cNvSpPr txBox="1"/>
            <p:nvPr/>
          </p:nvSpPr>
          <p:spPr>
            <a:xfrm>
              <a:off x="0" y="-47625"/>
              <a:ext cx="4362139" cy="1362053"/>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2" name="Google Shape;472;p10"/>
          <p:cNvGrpSpPr/>
          <p:nvPr/>
        </p:nvGrpSpPr>
        <p:grpSpPr>
          <a:xfrm>
            <a:off x="9464062" y="6183599"/>
            <a:ext cx="7105479" cy="2211105"/>
            <a:chOff x="0" y="-47625"/>
            <a:chExt cx="4362139" cy="1357424"/>
          </a:xfrm>
        </p:grpSpPr>
        <p:sp>
          <p:nvSpPr>
            <p:cNvPr id="473" name="Google Shape;473;p10"/>
            <p:cNvSpPr/>
            <p:nvPr/>
          </p:nvSpPr>
          <p:spPr>
            <a:xfrm>
              <a:off x="0" y="0"/>
              <a:ext cx="4362139" cy="1309799"/>
            </a:xfrm>
            <a:custGeom>
              <a:avLst/>
              <a:gdLst/>
              <a:ahLst/>
              <a:cxnLst/>
              <a:rect l="l" t="t" r="r" b="b"/>
              <a:pathLst>
                <a:path w="4362139" h="1309799" extrusionOk="0">
                  <a:moveTo>
                    <a:pt x="0" y="0"/>
                  </a:moveTo>
                  <a:lnTo>
                    <a:pt x="4362139" y="0"/>
                  </a:lnTo>
                  <a:lnTo>
                    <a:pt x="4362139" y="1309799"/>
                  </a:lnTo>
                  <a:lnTo>
                    <a:pt x="0" y="1309799"/>
                  </a:lnTo>
                  <a:close/>
                </a:path>
              </a:pathLst>
            </a:custGeom>
            <a:solidFill>
              <a:srgbClr val="FFFFFF"/>
            </a:solidFill>
            <a:ln w="9525" cap="sq" cmpd="sng">
              <a:solidFill>
                <a:srgbClr val="20538B"/>
              </a:solidFill>
              <a:prstDash val="solid"/>
              <a:miter lim="8000"/>
              <a:headEnd type="none" w="sm" len="sm"/>
              <a:tailEnd type="none" w="sm" len="sm"/>
            </a:ln>
          </p:spPr>
        </p:sp>
        <p:sp>
          <p:nvSpPr>
            <p:cNvPr id="474" name="Google Shape;474;p10"/>
            <p:cNvSpPr txBox="1"/>
            <p:nvPr/>
          </p:nvSpPr>
          <p:spPr>
            <a:xfrm>
              <a:off x="0" y="-47625"/>
              <a:ext cx="4362139" cy="1357424"/>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5" name="Google Shape;475;p10"/>
          <p:cNvGrpSpPr/>
          <p:nvPr/>
        </p:nvGrpSpPr>
        <p:grpSpPr>
          <a:xfrm>
            <a:off x="1720504" y="3212547"/>
            <a:ext cx="1613992" cy="2218646"/>
            <a:chOff x="0" y="-47625"/>
            <a:chExt cx="990849" cy="1362053"/>
          </a:xfrm>
        </p:grpSpPr>
        <p:sp>
          <p:nvSpPr>
            <p:cNvPr id="476" name="Google Shape;476;p10"/>
            <p:cNvSpPr/>
            <p:nvPr/>
          </p:nvSpPr>
          <p:spPr>
            <a:xfrm>
              <a:off x="0" y="0"/>
              <a:ext cx="990849" cy="1314428"/>
            </a:xfrm>
            <a:custGeom>
              <a:avLst/>
              <a:gdLst/>
              <a:ahLst/>
              <a:cxnLst/>
              <a:rect l="l" t="t" r="r" b="b"/>
              <a:pathLst>
                <a:path w="990849" h="1314428" extrusionOk="0">
                  <a:moveTo>
                    <a:pt x="0" y="0"/>
                  </a:moveTo>
                  <a:lnTo>
                    <a:pt x="990849" y="0"/>
                  </a:lnTo>
                  <a:lnTo>
                    <a:pt x="990849" y="1314428"/>
                  </a:lnTo>
                  <a:lnTo>
                    <a:pt x="0" y="1314428"/>
                  </a:lnTo>
                  <a:close/>
                </a:path>
              </a:pathLst>
            </a:custGeom>
            <a:solidFill>
              <a:srgbClr val="EEF6FF"/>
            </a:solidFill>
            <a:ln w="9525" cap="sq" cmpd="sng">
              <a:solidFill>
                <a:srgbClr val="20538B"/>
              </a:solidFill>
              <a:prstDash val="solid"/>
              <a:miter lim="8000"/>
              <a:headEnd type="none" w="sm" len="sm"/>
              <a:tailEnd type="none" w="sm" len="sm"/>
            </a:ln>
          </p:spPr>
        </p:sp>
        <p:sp>
          <p:nvSpPr>
            <p:cNvPr id="477" name="Google Shape;477;p10"/>
            <p:cNvSpPr txBox="1"/>
            <p:nvPr/>
          </p:nvSpPr>
          <p:spPr>
            <a:xfrm>
              <a:off x="0" y="-47625"/>
              <a:ext cx="990849" cy="1362053"/>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8" name="Google Shape;478;p10"/>
          <p:cNvGrpSpPr/>
          <p:nvPr/>
        </p:nvGrpSpPr>
        <p:grpSpPr>
          <a:xfrm>
            <a:off x="9464062" y="3217428"/>
            <a:ext cx="1613992" cy="2218646"/>
            <a:chOff x="0" y="-47625"/>
            <a:chExt cx="990849" cy="1362053"/>
          </a:xfrm>
        </p:grpSpPr>
        <p:sp>
          <p:nvSpPr>
            <p:cNvPr id="479" name="Google Shape;479;p10"/>
            <p:cNvSpPr/>
            <p:nvPr/>
          </p:nvSpPr>
          <p:spPr>
            <a:xfrm>
              <a:off x="0" y="0"/>
              <a:ext cx="990849" cy="1314428"/>
            </a:xfrm>
            <a:custGeom>
              <a:avLst/>
              <a:gdLst/>
              <a:ahLst/>
              <a:cxnLst/>
              <a:rect l="l" t="t" r="r" b="b"/>
              <a:pathLst>
                <a:path w="990849" h="1314428" extrusionOk="0">
                  <a:moveTo>
                    <a:pt x="0" y="0"/>
                  </a:moveTo>
                  <a:lnTo>
                    <a:pt x="990849" y="0"/>
                  </a:lnTo>
                  <a:lnTo>
                    <a:pt x="990849" y="1314428"/>
                  </a:lnTo>
                  <a:lnTo>
                    <a:pt x="0" y="1314428"/>
                  </a:lnTo>
                  <a:close/>
                </a:path>
              </a:pathLst>
            </a:custGeom>
            <a:solidFill>
              <a:srgbClr val="CBDDEF"/>
            </a:solidFill>
            <a:ln w="9525" cap="sq" cmpd="sng">
              <a:solidFill>
                <a:srgbClr val="20538B"/>
              </a:solidFill>
              <a:prstDash val="solid"/>
              <a:miter lim="8000"/>
              <a:headEnd type="none" w="sm" len="sm"/>
              <a:tailEnd type="none" w="sm" len="sm"/>
            </a:ln>
          </p:spPr>
        </p:sp>
        <p:sp>
          <p:nvSpPr>
            <p:cNvPr id="480" name="Google Shape;480;p10"/>
            <p:cNvSpPr txBox="1"/>
            <p:nvPr/>
          </p:nvSpPr>
          <p:spPr>
            <a:xfrm>
              <a:off x="0" y="-47625"/>
              <a:ext cx="990849" cy="1362053"/>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1" name="Google Shape;481;p10"/>
          <p:cNvGrpSpPr/>
          <p:nvPr/>
        </p:nvGrpSpPr>
        <p:grpSpPr>
          <a:xfrm>
            <a:off x="9464062" y="6183599"/>
            <a:ext cx="1613992" cy="2218646"/>
            <a:chOff x="0" y="-47625"/>
            <a:chExt cx="990849" cy="1362053"/>
          </a:xfrm>
        </p:grpSpPr>
        <p:sp>
          <p:nvSpPr>
            <p:cNvPr id="482" name="Google Shape;482;p10"/>
            <p:cNvSpPr/>
            <p:nvPr/>
          </p:nvSpPr>
          <p:spPr>
            <a:xfrm>
              <a:off x="0" y="0"/>
              <a:ext cx="990849" cy="1314428"/>
            </a:xfrm>
            <a:custGeom>
              <a:avLst/>
              <a:gdLst/>
              <a:ahLst/>
              <a:cxnLst/>
              <a:rect l="l" t="t" r="r" b="b"/>
              <a:pathLst>
                <a:path w="990849" h="1314428" extrusionOk="0">
                  <a:moveTo>
                    <a:pt x="0" y="0"/>
                  </a:moveTo>
                  <a:lnTo>
                    <a:pt x="990849" y="0"/>
                  </a:lnTo>
                  <a:lnTo>
                    <a:pt x="990849" y="1314428"/>
                  </a:lnTo>
                  <a:lnTo>
                    <a:pt x="0" y="1314428"/>
                  </a:lnTo>
                  <a:close/>
                </a:path>
              </a:pathLst>
            </a:custGeom>
            <a:solidFill>
              <a:srgbClr val="EEF6FF"/>
            </a:solidFill>
            <a:ln w="9525" cap="sq" cmpd="sng">
              <a:solidFill>
                <a:srgbClr val="20538B"/>
              </a:solidFill>
              <a:prstDash val="solid"/>
              <a:miter lim="8000"/>
              <a:headEnd type="none" w="sm" len="sm"/>
              <a:tailEnd type="none" w="sm" len="sm"/>
            </a:ln>
          </p:spPr>
        </p:sp>
        <p:sp>
          <p:nvSpPr>
            <p:cNvPr id="483" name="Google Shape;483;p10"/>
            <p:cNvSpPr txBox="1"/>
            <p:nvPr/>
          </p:nvSpPr>
          <p:spPr>
            <a:xfrm>
              <a:off x="0" y="-47625"/>
              <a:ext cx="990849" cy="1362053"/>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4" name="Google Shape;484;p10"/>
          <p:cNvGrpSpPr/>
          <p:nvPr/>
        </p:nvGrpSpPr>
        <p:grpSpPr>
          <a:xfrm>
            <a:off x="1718458" y="6183599"/>
            <a:ext cx="1613992" cy="2218646"/>
            <a:chOff x="0" y="-47625"/>
            <a:chExt cx="990849" cy="1362053"/>
          </a:xfrm>
        </p:grpSpPr>
        <p:sp>
          <p:nvSpPr>
            <p:cNvPr id="485" name="Google Shape;485;p10"/>
            <p:cNvSpPr/>
            <p:nvPr/>
          </p:nvSpPr>
          <p:spPr>
            <a:xfrm>
              <a:off x="0" y="0"/>
              <a:ext cx="990849" cy="1314428"/>
            </a:xfrm>
            <a:custGeom>
              <a:avLst/>
              <a:gdLst/>
              <a:ahLst/>
              <a:cxnLst/>
              <a:rect l="l" t="t" r="r" b="b"/>
              <a:pathLst>
                <a:path w="990849" h="1314428" extrusionOk="0">
                  <a:moveTo>
                    <a:pt x="0" y="0"/>
                  </a:moveTo>
                  <a:lnTo>
                    <a:pt x="990849" y="0"/>
                  </a:lnTo>
                  <a:lnTo>
                    <a:pt x="990849" y="1314428"/>
                  </a:lnTo>
                  <a:lnTo>
                    <a:pt x="0" y="1314428"/>
                  </a:lnTo>
                  <a:close/>
                </a:path>
              </a:pathLst>
            </a:custGeom>
            <a:solidFill>
              <a:srgbClr val="CBDDEF"/>
            </a:solidFill>
            <a:ln w="9525" cap="sq" cmpd="sng">
              <a:solidFill>
                <a:srgbClr val="20538B"/>
              </a:solidFill>
              <a:prstDash val="solid"/>
              <a:miter lim="8000"/>
              <a:headEnd type="none" w="sm" len="sm"/>
              <a:tailEnd type="none" w="sm" len="sm"/>
            </a:ln>
          </p:spPr>
        </p:sp>
        <p:sp>
          <p:nvSpPr>
            <p:cNvPr id="486" name="Google Shape;486;p10"/>
            <p:cNvSpPr txBox="1"/>
            <p:nvPr/>
          </p:nvSpPr>
          <p:spPr>
            <a:xfrm>
              <a:off x="0" y="-47625"/>
              <a:ext cx="990849" cy="1362053"/>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87" name="Google Shape;487;p10"/>
          <p:cNvSpPr/>
          <p:nvPr/>
        </p:nvSpPr>
        <p:spPr>
          <a:xfrm>
            <a:off x="2257935" y="7076505"/>
            <a:ext cx="611822" cy="602644"/>
          </a:xfrm>
          <a:custGeom>
            <a:avLst/>
            <a:gdLst/>
            <a:ahLst/>
            <a:cxnLst/>
            <a:rect l="l" t="t" r="r" b="b"/>
            <a:pathLst>
              <a:path w="611822" h="602644" extrusionOk="0">
                <a:moveTo>
                  <a:pt x="0" y="0"/>
                </a:moveTo>
                <a:lnTo>
                  <a:pt x="611822" y="0"/>
                </a:lnTo>
                <a:lnTo>
                  <a:pt x="611822" y="602645"/>
                </a:lnTo>
                <a:lnTo>
                  <a:pt x="0" y="602645"/>
                </a:lnTo>
                <a:lnTo>
                  <a:pt x="0" y="0"/>
                </a:lnTo>
                <a:close/>
              </a:path>
            </a:pathLst>
          </a:custGeom>
          <a:blipFill rotWithShape="1">
            <a:blip r:embed="rId4">
              <a:alphaModFix/>
            </a:blip>
            <a:stretch>
              <a:fillRect/>
            </a:stretch>
          </a:blipFill>
          <a:ln>
            <a:noFill/>
          </a:ln>
        </p:spPr>
      </p:sp>
      <p:sp>
        <p:nvSpPr>
          <p:cNvPr id="488" name="Google Shape;488;p10"/>
          <p:cNvSpPr/>
          <p:nvPr/>
        </p:nvSpPr>
        <p:spPr>
          <a:xfrm>
            <a:off x="9998403" y="6973571"/>
            <a:ext cx="547952" cy="716277"/>
          </a:xfrm>
          <a:custGeom>
            <a:avLst/>
            <a:gdLst/>
            <a:ahLst/>
            <a:cxnLst/>
            <a:rect l="l" t="t" r="r" b="b"/>
            <a:pathLst>
              <a:path w="547952" h="716277" extrusionOk="0">
                <a:moveTo>
                  <a:pt x="0" y="0"/>
                </a:moveTo>
                <a:lnTo>
                  <a:pt x="547952" y="0"/>
                </a:lnTo>
                <a:lnTo>
                  <a:pt x="547952" y="716278"/>
                </a:lnTo>
                <a:lnTo>
                  <a:pt x="0" y="716278"/>
                </a:lnTo>
                <a:lnTo>
                  <a:pt x="0" y="0"/>
                </a:lnTo>
                <a:close/>
              </a:path>
            </a:pathLst>
          </a:custGeom>
          <a:blipFill rotWithShape="1">
            <a:blip r:embed="rId5">
              <a:alphaModFix/>
            </a:blip>
            <a:stretch>
              <a:fillRect/>
            </a:stretch>
          </a:blipFill>
          <a:ln>
            <a:noFill/>
          </a:ln>
        </p:spPr>
      </p:sp>
      <p:sp>
        <p:nvSpPr>
          <p:cNvPr id="489" name="Google Shape;489;p10"/>
          <p:cNvSpPr/>
          <p:nvPr/>
        </p:nvSpPr>
        <p:spPr>
          <a:xfrm>
            <a:off x="2181152" y="4016355"/>
            <a:ext cx="688605" cy="688605"/>
          </a:xfrm>
          <a:custGeom>
            <a:avLst/>
            <a:gdLst/>
            <a:ahLst/>
            <a:cxnLst/>
            <a:rect l="l" t="t" r="r" b="b"/>
            <a:pathLst>
              <a:path w="688605" h="688605" extrusionOk="0">
                <a:moveTo>
                  <a:pt x="0" y="0"/>
                </a:moveTo>
                <a:lnTo>
                  <a:pt x="688605" y="0"/>
                </a:lnTo>
                <a:lnTo>
                  <a:pt x="688605" y="688606"/>
                </a:lnTo>
                <a:lnTo>
                  <a:pt x="0" y="688606"/>
                </a:lnTo>
                <a:lnTo>
                  <a:pt x="0" y="0"/>
                </a:lnTo>
                <a:close/>
              </a:path>
            </a:pathLst>
          </a:custGeom>
          <a:blipFill rotWithShape="1">
            <a:blip r:embed="rId6">
              <a:alphaModFix/>
            </a:blip>
            <a:stretch>
              <a:fillRect/>
            </a:stretch>
          </a:blipFill>
          <a:ln>
            <a:noFill/>
          </a:ln>
        </p:spPr>
      </p:sp>
      <p:sp>
        <p:nvSpPr>
          <p:cNvPr id="490" name="Google Shape;490;p10"/>
          <p:cNvSpPr/>
          <p:nvPr/>
        </p:nvSpPr>
        <p:spPr>
          <a:xfrm>
            <a:off x="9998403" y="4065099"/>
            <a:ext cx="545311" cy="708197"/>
          </a:xfrm>
          <a:custGeom>
            <a:avLst/>
            <a:gdLst/>
            <a:ahLst/>
            <a:cxnLst/>
            <a:rect l="l" t="t" r="r" b="b"/>
            <a:pathLst>
              <a:path w="545311" h="708197" extrusionOk="0">
                <a:moveTo>
                  <a:pt x="0" y="0"/>
                </a:moveTo>
                <a:lnTo>
                  <a:pt x="545311" y="0"/>
                </a:lnTo>
                <a:lnTo>
                  <a:pt x="545311" y="708196"/>
                </a:lnTo>
                <a:lnTo>
                  <a:pt x="0" y="708196"/>
                </a:lnTo>
                <a:lnTo>
                  <a:pt x="0" y="0"/>
                </a:lnTo>
                <a:close/>
              </a:path>
            </a:pathLst>
          </a:custGeom>
          <a:blipFill rotWithShape="1">
            <a:blip r:embed="rId7">
              <a:alphaModFix/>
            </a:blip>
            <a:stretch>
              <a:fillRect/>
            </a:stretch>
          </a:blipFill>
          <a:ln>
            <a:noFill/>
          </a:ln>
        </p:spPr>
      </p:sp>
      <p:sp>
        <p:nvSpPr>
          <p:cNvPr id="491" name="Google Shape;491;p10"/>
          <p:cNvSpPr txBox="1"/>
          <p:nvPr/>
        </p:nvSpPr>
        <p:spPr>
          <a:xfrm>
            <a:off x="3723458" y="3634496"/>
            <a:ext cx="3690783" cy="5073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900" b="1" i="0" u="none" strike="noStrike" cap="none">
                <a:solidFill>
                  <a:srgbClr val="20538B"/>
                </a:solidFill>
                <a:latin typeface="Arial"/>
                <a:ea typeface="Arial"/>
                <a:cs typeface="Arial"/>
                <a:sym typeface="Arial"/>
              </a:rPr>
              <a:t>사례 카드화</a:t>
            </a:r>
            <a:endParaRPr/>
          </a:p>
        </p:txBody>
      </p:sp>
      <p:sp>
        <p:nvSpPr>
          <p:cNvPr id="492" name="Google Shape;492;p10"/>
          <p:cNvSpPr txBox="1"/>
          <p:nvPr/>
        </p:nvSpPr>
        <p:spPr>
          <a:xfrm>
            <a:off x="3740700" y="4362047"/>
            <a:ext cx="4683205" cy="67437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94B6DA"/>
                </a:solidFill>
                <a:latin typeface="Arial"/>
                <a:ea typeface="Arial"/>
                <a:cs typeface="Arial"/>
                <a:sym typeface="Arial"/>
              </a:rPr>
              <a:t>개인정보위 처분 보도자료 15건 →</a:t>
            </a:r>
            <a:endParaRPr/>
          </a:p>
          <a:p>
            <a:pPr marL="0" marR="0" lvl="0" indent="0" algn="l" rtl="0">
              <a:lnSpc>
                <a:spcPct val="150000"/>
              </a:lnSpc>
              <a:spcBef>
                <a:spcPts val="0"/>
              </a:spcBef>
              <a:spcAft>
                <a:spcPts val="0"/>
              </a:spcAft>
              <a:buNone/>
            </a:pPr>
            <a:r>
              <a:rPr lang="en-US" sz="1800" b="0" i="0" u="none" strike="noStrike" cap="none">
                <a:solidFill>
                  <a:srgbClr val="94B6DA"/>
                </a:solidFill>
                <a:latin typeface="Arial"/>
                <a:ea typeface="Arial"/>
                <a:cs typeface="Arial"/>
                <a:sym typeface="Arial"/>
              </a:rPr>
              <a:t>엑셀 시트에 사례 카드 30장 정리</a:t>
            </a:r>
            <a:endParaRPr/>
          </a:p>
        </p:txBody>
      </p:sp>
      <p:sp>
        <p:nvSpPr>
          <p:cNvPr id="493" name="Google Shape;493;p10"/>
          <p:cNvSpPr txBox="1"/>
          <p:nvPr/>
        </p:nvSpPr>
        <p:spPr>
          <a:xfrm>
            <a:off x="11463656" y="3688154"/>
            <a:ext cx="3690783" cy="5073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900" b="1" i="0" u="none" strike="noStrike" cap="none">
                <a:solidFill>
                  <a:srgbClr val="20538B"/>
                </a:solidFill>
                <a:latin typeface="Arial"/>
                <a:ea typeface="Arial"/>
                <a:cs typeface="Arial"/>
                <a:sym typeface="Arial"/>
              </a:rPr>
              <a:t>검사·변환</a:t>
            </a:r>
            <a:endParaRPr/>
          </a:p>
        </p:txBody>
      </p:sp>
      <p:sp>
        <p:nvSpPr>
          <p:cNvPr id="494" name="Google Shape;494;p10"/>
          <p:cNvSpPr txBox="1"/>
          <p:nvPr/>
        </p:nvSpPr>
        <p:spPr>
          <a:xfrm>
            <a:off x="11480898" y="4415705"/>
            <a:ext cx="4683205" cy="67437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94B6DA"/>
                </a:solidFill>
                <a:latin typeface="Arial"/>
                <a:ea typeface="Arial"/>
                <a:cs typeface="Arial"/>
                <a:sym typeface="Arial"/>
              </a:rPr>
              <a:t>convert_cases.py가 필수값·형식·</a:t>
            </a:r>
            <a:endParaRPr/>
          </a:p>
          <a:p>
            <a:pPr marL="0" marR="0" lvl="0" indent="0" algn="l" rtl="0">
              <a:lnSpc>
                <a:spcPct val="150000"/>
              </a:lnSpc>
              <a:spcBef>
                <a:spcPts val="0"/>
              </a:spcBef>
              <a:spcAft>
                <a:spcPts val="0"/>
              </a:spcAft>
              <a:buNone/>
            </a:pPr>
            <a:r>
              <a:rPr lang="en-US" sz="1800" b="0" i="0" u="none" strike="noStrike" cap="none">
                <a:solidFill>
                  <a:srgbClr val="94B6DA"/>
                </a:solidFill>
                <a:latin typeface="Arial"/>
                <a:ea typeface="Arial"/>
                <a:cs typeface="Arial"/>
                <a:sym typeface="Arial"/>
              </a:rPr>
              <a:t>중복 검사 후 cases.json 생성</a:t>
            </a:r>
            <a:endParaRPr/>
          </a:p>
        </p:txBody>
      </p:sp>
      <p:sp>
        <p:nvSpPr>
          <p:cNvPr id="495" name="Google Shape;495;p10"/>
          <p:cNvSpPr txBox="1"/>
          <p:nvPr/>
        </p:nvSpPr>
        <p:spPr>
          <a:xfrm>
            <a:off x="3723458" y="6593127"/>
            <a:ext cx="3690783" cy="5073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900" b="1" i="0" u="none" strike="noStrike" cap="none">
                <a:solidFill>
                  <a:srgbClr val="20538B"/>
                </a:solidFill>
                <a:latin typeface="Arial"/>
                <a:ea typeface="Arial"/>
                <a:cs typeface="Arial"/>
                <a:sym typeface="Arial"/>
              </a:rPr>
              <a:t>벡터 DB 적재</a:t>
            </a:r>
            <a:endParaRPr/>
          </a:p>
        </p:txBody>
      </p:sp>
      <p:sp>
        <p:nvSpPr>
          <p:cNvPr id="496" name="Google Shape;496;p10"/>
          <p:cNvSpPr txBox="1"/>
          <p:nvPr/>
        </p:nvSpPr>
        <p:spPr>
          <a:xfrm>
            <a:off x="3740700" y="7320678"/>
            <a:ext cx="4476305" cy="67437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94B6DA"/>
                </a:solidFill>
                <a:latin typeface="Arial"/>
                <a:ea typeface="Arial"/>
                <a:cs typeface="Arial"/>
                <a:sym typeface="Arial"/>
              </a:rPr>
              <a:t>사례 1장 = 문서 1개로 임베딩</a:t>
            </a:r>
            <a:endParaRPr/>
          </a:p>
          <a:p>
            <a:pPr marL="0" marR="0" lvl="0" indent="0" algn="l" rtl="0">
              <a:lnSpc>
                <a:spcPct val="150000"/>
              </a:lnSpc>
              <a:spcBef>
                <a:spcPts val="0"/>
              </a:spcBef>
              <a:spcAft>
                <a:spcPts val="0"/>
              </a:spcAft>
              <a:buNone/>
            </a:pPr>
            <a:r>
              <a:rPr lang="en-US" sz="1800" b="0" i="0" u="none" strike="noStrike" cap="none">
                <a:solidFill>
                  <a:srgbClr val="94B6DA"/>
                </a:solidFill>
                <a:latin typeface="Arial"/>
                <a:ea typeface="Arial"/>
                <a:cs typeface="Arial"/>
                <a:sym typeface="Arial"/>
              </a:rPr>
              <a:t>태그·ISMS-P는 메타데이터 필터</a:t>
            </a:r>
            <a:endParaRPr/>
          </a:p>
        </p:txBody>
      </p:sp>
      <p:sp>
        <p:nvSpPr>
          <p:cNvPr id="497" name="Google Shape;497;p10"/>
          <p:cNvSpPr txBox="1"/>
          <p:nvPr/>
        </p:nvSpPr>
        <p:spPr>
          <a:xfrm>
            <a:off x="11463656" y="6593127"/>
            <a:ext cx="3690783" cy="5073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900" b="1" i="0" u="none" strike="noStrike" cap="none">
                <a:solidFill>
                  <a:srgbClr val="20538B"/>
                </a:solidFill>
                <a:latin typeface="Arial"/>
                <a:ea typeface="Arial"/>
                <a:cs typeface="Arial"/>
                <a:sym typeface="Arial"/>
              </a:rPr>
              <a:t>항목 카탈로그</a:t>
            </a:r>
            <a:endParaRPr/>
          </a:p>
        </p:txBody>
      </p:sp>
      <p:sp>
        <p:nvSpPr>
          <p:cNvPr id="498" name="Google Shape;498;p10"/>
          <p:cNvSpPr txBox="1"/>
          <p:nvPr/>
        </p:nvSpPr>
        <p:spPr>
          <a:xfrm>
            <a:off x="11480898" y="7320678"/>
            <a:ext cx="4683205" cy="67437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94B6DA"/>
                </a:solidFill>
                <a:latin typeface="Arial"/>
                <a:ea typeface="Arial"/>
                <a:cs typeface="Arial"/>
                <a:sym typeface="Arial"/>
              </a:rPr>
              <a:t>KISA 2026 상세가이드 웹 21개 항목</a:t>
            </a:r>
            <a:endParaRPr/>
          </a:p>
          <a:p>
            <a:pPr marL="0" marR="0" lvl="0" indent="0" algn="l" rtl="0">
              <a:lnSpc>
                <a:spcPct val="150000"/>
              </a:lnSpc>
              <a:spcBef>
                <a:spcPts val="0"/>
              </a:spcBef>
              <a:spcAft>
                <a:spcPts val="0"/>
              </a:spcAft>
              <a:buNone/>
            </a:pPr>
            <a:r>
              <a:rPr lang="en-US" sz="1800" b="0" i="0" u="none" strike="noStrike" cap="none">
                <a:solidFill>
                  <a:srgbClr val="94B6DA"/>
                </a:solidFill>
                <a:latin typeface="Arial"/>
                <a:ea typeface="Arial"/>
                <a:cs typeface="Arial"/>
                <a:sym typeface="Arial"/>
              </a:rPr>
              <a:t>판단 기준·조치 방법 원문 → JSON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grpSp>
        <p:nvGrpSpPr>
          <p:cNvPr id="730" name="Google Shape;730;p15"/>
          <p:cNvGrpSpPr/>
          <p:nvPr/>
        </p:nvGrpSpPr>
        <p:grpSpPr>
          <a:xfrm>
            <a:off x="-1081198" y="3274348"/>
            <a:ext cx="20615256" cy="7012652"/>
            <a:chOff x="-99237" y="-1"/>
            <a:chExt cx="27487007" cy="9350203"/>
          </a:xfrm>
        </p:grpSpPr>
        <p:grpSp>
          <p:nvGrpSpPr>
            <p:cNvPr id="731" name="Google Shape;731;p15"/>
            <p:cNvGrpSpPr/>
            <p:nvPr/>
          </p:nvGrpSpPr>
          <p:grpSpPr>
            <a:xfrm rot="-5400000">
              <a:off x="11107419" y="-11206657"/>
              <a:ext cx="4770675" cy="27183987"/>
              <a:chOff x="0" y="-38100"/>
              <a:chExt cx="1831597" cy="10436700"/>
            </a:xfrm>
          </p:grpSpPr>
          <p:sp>
            <p:nvSpPr>
              <p:cNvPr id="732" name="Google Shape;732;p15"/>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733" name="Google Shape;733;p15"/>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34" name="Google Shape;734;p15"/>
            <p:cNvGrpSpPr/>
            <p:nvPr/>
          </p:nvGrpSpPr>
          <p:grpSpPr>
            <a:xfrm rot="-5400000">
              <a:off x="11636974" y="-6400594"/>
              <a:ext cx="4579528" cy="26922063"/>
              <a:chOff x="0" y="-38100"/>
              <a:chExt cx="1758210" cy="10336140"/>
            </a:xfrm>
          </p:grpSpPr>
          <p:sp>
            <p:nvSpPr>
              <p:cNvPr id="735" name="Google Shape;735;p15"/>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736" name="Google Shape;736;p15"/>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37" name="Google Shape;737;p15"/>
          <p:cNvGrpSpPr/>
          <p:nvPr/>
        </p:nvGrpSpPr>
        <p:grpSpPr>
          <a:xfrm>
            <a:off x="731085" y="622849"/>
            <a:ext cx="16825832" cy="9050183"/>
            <a:chOff x="0" y="-108814"/>
            <a:chExt cx="22434442" cy="12066910"/>
          </a:xfrm>
        </p:grpSpPr>
        <p:grpSp>
          <p:nvGrpSpPr>
            <p:cNvPr id="738" name="Google Shape;738;p15"/>
            <p:cNvGrpSpPr/>
            <p:nvPr/>
          </p:nvGrpSpPr>
          <p:grpSpPr>
            <a:xfrm>
              <a:off x="26537" y="10214890"/>
              <a:ext cx="22386981" cy="1743206"/>
              <a:chOff x="0" y="-47625"/>
              <a:chExt cx="9809754" cy="763855"/>
            </a:xfrm>
          </p:grpSpPr>
          <p:sp>
            <p:nvSpPr>
              <p:cNvPr id="739" name="Google Shape;739;p15"/>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740" name="Google Shape;740;p15"/>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41" name="Google Shape;741;p15"/>
            <p:cNvGrpSpPr/>
            <p:nvPr/>
          </p:nvGrpSpPr>
          <p:grpSpPr>
            <a:xfrm>
              <a:off x="0" y="-108814"/>
              <a:ext cx="22434442" cy="11946255"/>
              <a:chOff x="0" y="-47625"/>
              <a:chExt cx="9818922" cy="5228539"/>
            </a:xfrm>
          </p:grpSpPr>
          <p:sp>
            <p:nvSpPr>
              <p:cNvPr id="742" name="Google Shape;742;p15"/>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743" name="Google Shape;743;p15"/>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44" name="Google Shape;744;p15"/>
          <p:cNvGrpSpPr/>
          <p:nvPr/>
        </p:nvGrpSpPr>
        <p:grpSpPr>
          <a:xfrm>
            <a:off x="763743" y="662703"/>
            <a:ext cx="16760151" cy="1561172"/>
            <a:chOff x="0" y="-38100"/>
            <a:chExt cx="8581180" cy="799319"/>
          </a:xfrm>
        </p:grpSpPr>
        <p:sp>
          <p:nvSpPr>
            <p:cNvPr id="745" name="Google Shape;745;p15"/>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746" name="Google Shape;746;p15"/>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47" name="Google Shape;747;p15"/>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748" name="Google Shape;748;p15"/>
          <p:cNvSpPr txBox="1"/>
          <p:nvPr/>
        </p:nvSpPr>
        <p:spPr>
          <a:xfrm>
            <a:off x="2394993" y="893156"/>
            <a:ext cx="7519287" cy="1114425"/>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보고서 생성 흐름</a:t>
            </a:r>
            <a:endParaRPr/>
          </a:p>
        </p:txBody>
      </p:sp>
      <p:sp>
        <p:nvSpPr>
          <p:cNvPr id="749" name="Google Shape;749;p15"/>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06</a:t>
            </a:r>
            <a:endParaRPr/>
          </a:p>
        </p:txBody>
      </p:sp>
      <p:cxnSp>
        <p:nvCxnSpPr>
          <p:cNvPr id="750" name="Google Shape;750;p15"/>
          <p:cNvCxnSpPr/>
          <p:nvPr/>
        </p:nvCxnSpPr>
        <p:spPr>
          <a:xfrm>
            <a:off x="2080920" y="5425189"/>
            <a:ext cx="14114320" cy="0"/>
          </a:xfrm>
          <a:prstGeom prst="straightConnector1">
            <a:avLst/>
          </a:prstGeom>
          <a:noFill/>
          <a:ln w="19050" cap="flat" cmpd="sng">
            <a:solidFill>
              <a:srgbClr val="20538B"/>
            </a:solidFill>
            <a:prstDash val="solid"/>
            <a:round/>
            <a:headEnd type="none" w="sm" len="sm"/>
            <a:tailEnd type="none" w="sm" len="sm"/>
          </a:ln>
        </p:spPr>
      </p:cxnSp>
      <p:sp>
        <p:nvSpPr>
          <p:cNvPr id="751" name="Google Shape;751;p15"/>
          <p:cNvSpPr txBox="1"/>
          <p:nvPr/>
        </p:nvSpPr>
        <p:spPr>
          <a:xfrm>
            <a:off x="2428888" y="4577728"/>
            <a:ext cx="2234163" cy="464820"/>
          </a:xfrm>
          <a:prstGeom prst="rect">
            <a:avLst/>
          </a:prstGeom>
          <a:noFill/>
          <a:ln>
            <a:noFill/>
          </a:ln>
        </p:spPr>
        <p:txBody>
          <a:bodyPr spcFirstLastPara="1" wrap="square" lIns="0" tIns="0" rIns="0" bIns="0" anchor="t" anchorCtr="0">
            <a:spAutoFit/>
          </a:bodyPr>
          <a:lstStyle/>
          <a:p>
            <a:pPr marL="0" marR="0" lvl="0" indent="0" algn="ctr" rtl="0">
              <a:lnSpc>
                <a:spcPct val="140014"/>
              </a:lnSpc>
              <a:spcBef>
                <a:spcPts val="0"/>
              </a:spcBef>
              <a:spcAft>
                <a:spcPts val="0"/>
              </a:spcAft>
              <a:buNone/>
            </a:pPr>
            <a:r>
              <a:rPr lang="en-US" sz="2699" b="1" i="0" u="none" strike="noStrike" cap="none">
                <a:solidFill>
                  <a:srgbClr val="20538B"/>
                </a:solidFill>
                <a:latin typeface="Arial"/>
                <a:ea typeface="Arial"/>
                <a:cs typeface="Arial"/>
                <a:sym typeface="Arial"/>
              </a:rPr>
              <a:t>코드가 판정</a:t>
            </a:r>
            <a:endParaRPr/>
          </a:p>
        </p:txBody>
      </p:sp>
      <p:sp>
        <p:nvSpPr>
          <p:cNvPr id="752" name="Google Shape;752;p15"/>
          <p:cNvSpPr txBox="1"/>
          <p:nvPr/>
        </p:nvSpPr>
        <p:spPr>
          <a:xfrm>
            <a:off x="2467276" y="6034346"/>
            <a:ext cx="2321844" cy="960024"/>
          </a:xfrm>
          <a:prstGeom prst="rect">
            <a:avLst/>
          </a:prstGeom>
          <a:noFill/>
          <a:ln>
            <a:noFill/>
          </a:ln>
        </p:spPr>
        <p:txBody>
          <a:bodyPr spcFirstLastPara="1" wrap="square" lIns="0" tIns="0" rIns="0" bIns="0" anchor="t" anchorCtr="0">
            <a:spAutoFit/>
          </a:bodyPr>
          <a:lstStyle/>
          <a:p>
            <a:pPr marL="0" marR="0" lvl="0" indent="0" algn="l" rtl="0">
              <a:lnSpc>
                <a:spcPct val="163013"/>
              </a:lnSpc>
              <a:spcBef>
                <a:spcPts val="0"/>
              </a:spcBef>
              <a:spcAft>
                <a:spcPts val="0"/>
              </a:spcAft>
              <a:buNone/>
            </a:pPr>
            <a:r>
              <a:rPr lang="en-US" sz="1606" b="0" i="0" u="none" strike="noStrike" cap="none">
                <a:solidFill>
                  <a:srgbClr val="94B6DA"/>
                </a:solidFill>
                <a:latin typeface="Arial"/>
                <a:ea typeface="Arial"/>
                <a:cs typeface="Arial"/>
                <a:sym typeface="Arial"/>
              </a:rPr>
              <a:t>module3 JSON을 받아 통계·위험 수준·유사 사례·과징금 노출액을 코드로 계산합니다.</a:t>
            </a:r>
            <a:endParaRPr/>
          </a:p>
        </p:txBody>
      </p:sp>
      <p:sp>
        <p:nvSpPr>
          <p:cNvPr id="753" name="Google Shape;753;p15"/>
          <p:cNvSpPr txBox="1"/>
          <p:nvPr/>
        </p:nvSpPr>
        <p:spPr>
          <a:xfrm>
            <a:off x="3094125" y="4028257"/>
            <a:ext cx="1047486" cy="309245"/>
          </a:xfrm>
          <a:prstGeom prst="rect">
            <a:avLst/>
          </a:prstGeom>
          <a:noFill/>
          <a:ln>
            <a:noFill/>
          </a:ln>
        </p:spPr>
        <p:txBody>
          <a:bodyPr spcFirstLastPara="1" wrap="square" lIns="0" tIns="0" rIns="0" bIns="0" anchor="t" anchorCtr="0">
            <a:spAutoFit/>
          </a:bodyPr>
          <a:lstStyle/>
          <a:p>
            <a:pPr marL="0" marR="0" lvl="0" indent="0" algn="ctr" rtl="0">
              <a:lnSpc>
                <a:spcPct val="140023"/>
              </a:lnSpc>
              <a:spcBef>
                <a:spcPts val="0"/>
              </a:spcBef>
              <a:spcAft>
                <a:spcPts val="0"/>
              </a:spcAft>
              <a:buNone/>
            </a:pPr>
            <a:r>
              <a:rPr lang="en-US" sz="1699" b="0" i="0" u="none" strike="noStrike" cap="none">
                <a:solidFill>
                  <a:srgbClr val="20538B"/>
                </a:solidFill>
                <a:latin typeface="Poppins"/>
                <a:ea typeface="Poppins"/>
                <a:cs typeface="Poppins"/>
                <a:sym typeface="Poppins"/>
              </a:rPr>
              <a:t>STEP 01</a:t>
            </a:r>
            <a:endParaRPr/>
          </a:p>
        </p:txBody>
      </p:sp>
      <p:sp>
        <p:nvSpPr>
          <p:cNvPr id="754" name="Google Shape;754;p15"/>
          <p:cNvSpPr txBox="1"/>
          <p:nvPr/>
        </p:nvSpPr>
        <p:spPr>
          <a:xfrm>
            <a:off x="6021344" y="4577728"/>
            <a:ext cx="2401641" cy="464820"/>
          </a:xfrm>
          <a:prstGeom prst="rect">
            <a:avLst/>
          </a:prstGeom>
          <a:noFill/>
          <a:ln>
            <a:noFill/>
          </a:ln>
        </p:spPr>
        <p:txBody>
          <a:bodyPr spcFirstLastPara="1" wrap="square" lIns="0" tIns="0" rIns="0" bIns="0" anchor="t" anchorCtr="0">
            <a:spAutoFit/>
          </a:bodyPr>
          <a:lstStyle/>
          <a:p>
            <a:pPr marL="0" marR="0" lvl="0" indent="0" algn="ctr" rtl="0">
              <a:lnSpc>
                <a:spcPct val="140014"/>
              </a:lnSpc>
              <a:spcBef>
                <a:spcPts val="0"/>
              </a:spcBef>
              <a:spcAft>
                <a:spcPts val="0"/>
              </a:spcAft>
              <a:buNone/>
            </a:pPr>
            <a:r>
              <a:rPr lang="en-US" sz="2699" b="1" i="0" u="none" strike="noStrike" cap="none">
                <a:solidFill>
                  <a:srgbClr val="20538B"/>
                </a:solidFill>
                <a:latin typeface="Arial"/>
                <a:ea typeface="Arial"/>
                <a:cs typeface="Arial"/>
                <a:sym typeface="Arial"/>
              </a:rPr>
              <a:t>LLM 1회</a:t>
            </a:r>
            <a:endParaRPr/>
          </a:p>
        </p:txBody>
      </p:sp>
      <p:sp>
        <p:nvSpPr>
          <p:cNvPr id="755" name="Google Shape;755;p15"/>
          <p:cNvSpPr txBox="1"/>
          <p:nvPr/>
        </p:nvSpPr>
        <p:spPr>
          <a:xfrm>
            <a:off x="6062804" y="6034346"/>
            <a:ext cx="2600070" cy="960024"/>
          </a:xfrm>
          <a:prstGeom prst="rect">
            <a:avLst/>
          </a:prstGeom>
          <a:noFill/>
          <a:ln>
            <a:noFill/>
          </a:ln>
        </p:spPr>
        <p:txBody>
          <a:bodyPr spcFirstLastPara="1" wrap="square" lIns="0" tIns="0" rIns="0" bIns="0" anchor="t" anchorCtr="0">
            <a:spAutoFit/>
          </a:bodyPr>
          <a:lstStyle/>
          <a:p>
            <a:pPr marL="0" marR="0" lvl="0" indent="0" algn="l" rtl="0">
              <a:lnSpc>
                <a:spcPct val="163013"/>
              </a:lnSpc>
              <a:spcBef>
                <a:spcPts val="0"/>
              </a:spcBef>
              <a:spcAft>
                <a:spcPts val="0"/>
              </a:spcAft>
              <a:buNone/>
            </a:pPr>
            <a:r>
              <a:rPr lang="en-US" sz="1606" b="0" i="0" u="none" strike="noStrike" cap="none">
                <a:solidFill>
                  <a:srgbClr val="94B6DA"/>
                </a:solidFill>
                <a:latin typeface="Arial"/>
                <a:ea typeface="Arial"/>
                <a:cs typeface="Arial"/>
                <a:sym typeface="Arial"/>
              </a:rPr>
              <a:t>판정이 끝난 사실만 넘겨 보고서 문장만 쓰게 합니다. 금액은 넘기지 않습니다.</a:t>
            </a:r>
            <a:endParaRPr/>
          </a:p>
        </p:txBody>
      </p:sp>
      <p:grpSp>
        <p:nvGrpSpPr>
          <p:cNvPr id="756" name="Google Shape;756;p15"/>
          <p:cNvGrpSpPr/>
          <p:nvPr/>
        </p:nvGrpSpPr>
        <p:grpSpPr>
          <a:xfrm>
            <a:off x="3423589" y="5293864"/>
            <a:ext cx="244761" cy="579810"/>
            <a:chOff x="0" y="0"/>
            <a:chExt cx="326348" cy="773080"/>
          </a:xfrm>
        </p:grpSpPr>
        <p:cxnSp>
          <p:nvCxnSpPr>
            <p:cNvPr id="757" name="Google Shape;757;p15"/>
            <p:cNvCxnSpPr/>
            <p:nvPr/>
          </p:nvCxnSpPr>
          <p:spPr>
            <a:xfrm rot="10800000">
              <a:off x="170939" y="301908"/>
              <a:ext cx="0" cy="471172"/>
            </a:xfrm>
            <a:prstGeom prst="straightConnector1">
              <a:avLst/>
            </a:prstGeom>
            <a:noFill/>
            <a:ln w="25400" cap="flat" cmpd="sng">
              <a:solidFill>
                <a:srgbClr val="20538B"/>
              </a:solidFill>
              <a:prstDash val="solid"/>
              <a:round/>
              <a:headEnd type="diamond" w="lg" len="lg"/>
              <a:tailEnd type="none" w="sm" len="sm"/>
            </a:ln>
          </p:spPr>
        </p:cxnSp>
        <p:grpSp>
          <p:nvGrpSpPr>
            <p:cNvPr id="758" name="Google Shape;758;p15"/>
            <p:cNvGrpSpPr/>
            <p:nvPr/>
          </p:nvGrpSpPr>
          <p:grpSpPr>
            <a:xfrm>
              <a:off x="0" y="0"/>
              <a:ext cx="326348" cy="324995"/>
              <a:chOff x="0" y="0"/>
              <a:chExt cx="986888" cy="982797"/>
            </a:xfrm>
          </p:grpSpPr>
          <p:sp>
            <p:nvSpPr>
              <p:cNvPr id="759" name="Google Shape;759;p15"/>
              <p:cNvSpPr/>
              <p:nvPr/>
            </p:nvSpPr>
            <p:spPr>
              <a:xfrm>
                <a:off x="0" y="0"/>
                <a:ext cx="986888" cy="982797"/>
              </a:xfrm>
              <a:custGeom>
                <a:avLst/>
                <a:gdLst/>
                <a:ahLst/>
                <a:cxnLst/>
                <a:rect l="l" t="t" r="r" b="b"/>
                <a:pathLst>
                  <a:path w="986888" h="982797" extrusionOk="0">
                    <a:moveTo>
                      <a:pt x="493444" y="0"/>
                    </a:moveTo>
                    <a:cubicBezTo>
                      <a:pt x="220922" y="0"/>
                      <a:pt x="0" y="220007"/>
                      <a:pt x="0" y="491398"/>
                    </a:cubicBezTo>
                    <a:cubicBezTo>
                      <a:pt x="0" y="762790"/>
                      <a:pt x="220922" y="982797"/>
                      <a:pt x="493444" y="982797"/>
                    </a:cubicBezTo>
                    <a:cubicBezTo>
                      <a:pt x="765965" y="982797"/>
                      <a:pt x="986888" y="762790"/>
                      <a:pt x="986888" y="491398"/>
                    </a:cubicBezTo>
                    <a:cubicBezTo>
                      <a:pt x="986888" y="220007"/>
                      <a:pt x="765965" y="0"/>
                      <a:pt x="493444" y="0"/>
                    </a:cubicBezTo>
                    <a:close/>
                  </a:path>
                </a:pathLst>
              </a:custGeom>
              <a:solidFill>
                <a:srgbClr val="FFFFFF"/>
              </a:solidFill>
              <a:ln w="19050" cap="sq" cmpd="sng">
                <a:solidFill>
                  <a:srgbClr val="20538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5"/>
              <p:cNvSpPr txBox="1"/>
              <p:nvPr/>
            </p:nvSpPr>
            <p:spPr>
              <a:xfrm>
                <a:off x="92521" y="63562"/>
                <a:ext cx="801846" cy="827098"/>
              </a:xfrm>
              <a:prstGeom prst="rect">
                <a:avLst/>
              </a:prstGeom>
              <a:noFill/>
              <a:ln>
                <a:noFill/>
              </a:ln>
            </p:spPr>
            <p:txBody>
              <a:bodyPr spcFirstLastPara="1" wrap="square" lIns="36500" tIns="36500" rIns="36500" bIns="365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1" name="Google Shape;761;p15"/>
            <p:cNvGrpSpPr/>
            <p:nvPr/>
          </p:nvGrpSpPr>
          <p:grpSpPr>
            <a:xfrm>
              <a:off x="76315" y="76315"/>
              <a:ext cx="177460" cy="176190"/>
              <a:chOff x="0" y="0"/>
              <a:chExt cx="571488" cy="567397"/>
            </a:xfrm>
          </p:grpSpPr>
          <p:sp>
            <p:nvSpPr>
              <p:cNvPr id="762" name="Google Shape;762;p15"/>
              <p:cNvSpPr/>
              <p:nvPr/>
            </p:nvSpPr>
            <p:spPr>
              <a:xfrm>
                <a:off x="0" y="0"/>
                <a:ext cx="571488" cy="567397"/>
              </a:xfrm>
              <a:custGeom>
                <a:avLst/>
                <a:gdLst/>
                <a:ahLst/>
                <a:cxnLst/>
                <a:rect l="l" t="t" r="r" b="b"/>
                <a:pathLst>
                  <a:path w="571488" h="567397" extrusionOk="0">
                    <a:moveTo>
                      <a:pt x="285744" y="0"/>
                    </a:moveTo>
                    <a:cubicBezTo>
                      <a:pt x="127932" y="0"/>
                      <a:pt x="0" y="127016"/>
                      <a:pt x="0" y="283698"/>
                    </a:cubicBezTo>
                    <a:cubicBezTo>
                      <a:pt x="0" y="440381"/>
                      <a:pt x="127932" y="567397"/>
                      <a:pt x="285744" y="567397"/>
                    </a:cubicBezTo>
                    <a:cubicBezTo>
                      <a:pt x="443556" y="567397"/>
                      <a:pt x="571488" y="440381"/>
                      <a:pt x="571488" y="283698"/>
                    </a:cubicBezTo>
                    <a:cubicBezTo>
                      <a:pt x="571488" y="127016"/>
                      <a:pt x="443556" y="0"/>
                      <a:pt x="285744" y="0"/>
                    </a:cubicBezTo>
                    <a:close/>
                  </a:path>
                </a:pathLst>
              </a:custGeom>
              <a:solidFill>
                <a:srgbClr val="20538B"/>
              </a:solidFill>
              <a:ln w="19050" cap="sq" cmpd="sng">
                <a:solidFill>
                  <a:srgbClr val="20538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5"/>
              <p:cNvSpPr txBox="1"/>
              <p:nvPr/>
            </p:nvSpPr>
            <p:spPr>
              <a:xfrm>
                <a:off x="53577" y="24618"/>
                <a:ext cx="464334" cy="489585"/>
              </a:xfrm>
              <a:prstGeom prst="rect">
                <a:avLst/>
              </a:prstGeom>
              <a:noFill/>
              <a:ln>
                <a:noFill/>
              </a:ln>
            </p:spPr>
            <p:txBody>
              <a:bodyPr spcFirstLastPara="1" wrap="square" lIns="36500" tIns="36500" rIns="36500" bIns="365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64" name="Google Shape;764;p15"/>
          <p:cNvGrpSpPr/>
          <p:nvPr/>
        </p:nvGrpSpPr>
        <p:grpSpPr>
          <a:xfrm>
            <a:off x="7155609" y="5293864"/>
            <a:ext cx="244761" cy="579810"/>
            <a:chOff x="0" y="0"/>
            <a:chExt cx="326348" cy="773080"/>
          </a:xfrm>
        </p:grpSpPr>
        <p:cxnSp>
          <p:nvCxnSpPr>
            <p:cNvPr id="765" name="Google Shape;765;p15"/>
            <p:cNvCxnSpPr/>
            <p:nvPr/>
          </p:nvCxnSpPr>
          <p:spPr>
            <a:xfrm rot="10800000">
              <a:off x="156824" y="301908"/>
              <a:ext cx="0" cy="471172"/>
            </a:xfrm>
            <a:prstGeom prst="straightConnector1">
              <a:avLst/>
            </a:prstGeom>
            <a:noFill/>
            <a:ln w="25400" cap="flat" cmpd="sng">
              <a:solidFill>
                <a:srgbClr val="20538B"/>
              </a:solidFill>
              <a:prstDash val="solid"/>
              <a:round/>
              <a:headEnd type="diamond" w="lg" len="lg"/>
              <a:tailEnd type="none" w="sm" len="sm"/>
            </a:ln>
          </p:spPr>
        </p:cxnSp>
        <p:grpSp>
          <p:nvGrpSpPr>
            <p:cNvPr id="766" name="Google Shape;766;p15"/>
            <p:cNvGrpSpPr/>
            <p:nvPr/>
          </p:nvGrpSpPr>
          <p:grpSpPr>
            <a:xfrm>
              <a:off x="0" y="0"/>
              <a:ext cx="326348" cy="324995"/>
              <a:chOff x="0" y="0"/>
              <a:chExt cx="986888" cy="982797"/>
            </a:xfrm>
          </p:grpSpPr>
          <p:sp>
            <p:nvSpPr>
              <p:cNvPr id="767" name="Google Shape;767;p15"/>
              <p:cNvSpPr/>
              <p:nvPr/>
            </p:nvSpPr>
            <p:spPr>
              <a:xfrm>
                <a:off x="0" y="0"/>
                <a:ext cx="986888" cy="982797"/>
              </a:xfrm>
              <a:custGeom>
                <a:avLst/>
                <a:gdLst/>
                <a:ahLst/>
                <a:cxnLst/>
                <a:rect l="l" t="t" r="r" b="b"/>
                <a:pathLst>
                  <a:path w="986888" h="982797" extrusionOk="0">
                    <a:moveTo>
                      <a:pt x="493444" y="0"/>
                    </a:moveTo>
                    <a:cubicBezTo>
                      <a:pt x="220922" y="0"/>
                      <a:pt x="0" y="220007"/>
                      <a:pt x="0" y="491398"/>
                    </a:cubicBezTo>
                    <a:cubicBezTo>
                      <a:pt x="0" y="762790"/>
                      <a:pt x="220922" y="982797"/>
                      <a:pt x="493444" y="982797"/>
                    </a:cubicBezTo>
                    <a:cubicBezTo>
                      <a:pt x="765965" y="982797"/>
                      <a:pt x="986888" y="762790"/>
                      <a:pt x="986888" y="491398"/>
                    </a:cubicBezTo>
                    <a:cubicBezTo>
                      <a:pt x="986888" y="220007"/>
                      <a:pt x="765965" y="0"/>
                      <a:pt x="493444" y="0"/>
                    </a:cubicBezTo>
                    <a:close/>
                  </a:path>
                </a:pathLst>
              </a:custGeom>
              <a:solidFill>
                <a:srgbClr val="FFFFFF"/>
              </a:solidFill>
              <a:ln w="19050" cap="sq" cmpd="sng">
                <a:solidFill>
                  <a:srgbClr val="20538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5"/>
              <p:cNvSpPr txBox="1"/>
              <p:nvPr/>
            </p:nvSpPr>
            <p:spPr>
              <a:xfrm>
                <a:off x="92521" y="63562"/>
                <a:ext cx="801846" cy="827098"/>
              </a:xfrm>
              <a:prstGeom prst="rect">
                <a:avLst/>
              </a:prstGeom>
              <a:noFill/>
              <a:ln>
                <a:noFill/>
              </a:ln>
            </p:spPr>
            <p:txBody>
              <a:bodyPr spcFirstLastPara="1" wrap="square" lIns="36500" tIns="36500" rIns="36500" bIns="365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9" name="Google Shape;769;p15"/>
            <p:cNvGrpSpPr/>
            <p:nvPr/>
          </p:nvGrpSpPr>
          <p:grpSpPr>
            <a:xfrm>
              <a:off x="76315" y="76315"/>
              <a:ext cx="177460" cy="176190"/>
              <a:chOff x="0" y="0"/>
              <a:chExt cx="571488" cy="567397"/>
            </a:xfrm>
          </p:grpSpPr>
          <p:sp>
            <p:nvSpPr>
              <p:cNvPr id="770" name="Google Shape;770;p15"/>
              <p:cNvSpPr/>
              <p:nvPr/>
            </p:nvSpPr>
            <p:spPr>
              <a:xfrm>
                <a:off x="0" y="0"/>
                <a:ext cx="571488" cy="567397"/>
              </a:xfrm>
              <a:custGeom>
                <a:avLst/>
                <a:gdLst/>
                <a:ahLst/>
                <a:cxnLst/>
                <a:rect l="l" t="t" r="r" b="b"/>
                <a:pathLst>
                  <a:path w="571488" h="567397" extrusionOk="0">
                    <a:moveTo>
                      <a:pt x="285744" y="0"/>
                    </a:moveTo>
                    <a:cubicBezTo>
                      <a:pt x="127932" y="0"/>
                      <a:pt x="0" y="127016"/>
                      <a:pt x="0" y="283698"/>
                    </a:cubicBezTo>
                    <a:cubicBezTo>
                      <a:pt x="0" y="440381"/>
                      <a:pt x="127932" y="567397"/>
                      <a:pt x="285744" y="567397"/>
                    </a:cubicBezTo>
                    <a:cubicBezTo>
                      <a:pt x="443556" y="567397"/>
                      <a:pt x="571488" y="440381"/>
                      <a:pt x="571488" y="283698"/>
                    </a:cubicBezTo>
                    <a:cubicBezTo>
                      <a:pt x="571488" y="127016"/>
                      <a:pt x="443556" y="0"/>
                      <a:pt x="285744" y="0"/>
                    </a:cubicBezTo>
                    <a:close/>
                  </a:path>
                </a:pathLst>
              </a:custGeom>
              <a:solidFill>
                <a:srgbClr val="20538B"/>
              </a:solidFill>
              <a:ln w="19050" cap="sq" cmpd="sng">
                <a:solidFill>
                  <a:srgbClr val="20538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5"/>
              <p:cNvSpPr txBox="1"/>
              <p:nvPr/>
            </p:nvSpPr>
            <p:spPr>
              <a:xfrm>
                <a:off x="53577" y="24618"/>
                <a:ext cx="464334" cy="489585"/>
              </a:xfrm>
              <a:prstGeom prst="rect">
                <a:avLst/>
              </a:prstGeom>
              <a:noFill/>
              <a:ln>
                <a:noFill/>
              </a:ln>
            </p:spPr>
            <p:txBody>
              <a:bodyPr spcFirstLastPara="1" wrap="square" lIns="36500" tIns="36500" rIns="36500" bIns="365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72" name="Google Shape;772;p15"/>
          <p:cNvGrpSpPr/>
          <p:nvPr/>
        </p:nvGrpSpPr>
        <p:grpSpPr>
          <a:xfrm>
            <a:off x="10887630" y="5293864"/>
            <a:ext cx="244761" cy="579810"/>
            <a:chOff x="0" y="0"/>
            <a:chExt cx="326348" cy="773080"/>
          </a:xfrm>
        </p:grpSpPr>
        <p:cxnSp>
          <p:nvCxnSpPr>
            <p:cNvPr id="773" name="Google Shape;773;p15"/>
            <p:cNvCxnSpPr/>
            <p:nvPr/>
          </p:nvCxnSpPr>
          <p:spPr>
            <a:xfrm rot="10800000">
              <a:off x="170939" y="301908"/>
              <a:ext cx="0" cy="471172"/>
            </a:xfrm>
            <a:prstGeom prst="straightConnector1">
              <a:avLst/>
            </a:prstGeom>
            <a:noFill/>
            <a:ln w="25400" cap="flat" cmpd="sng">
              <a:solidFill>
                <a:srgbClr val="20538B"/>
              </a:solidFill>
              <a:prstDash val="solid"/>
              <a:round/>
              <a:headEnd type="diamond" w="lg" len="lg"/>
              <a:tailEnd type="none" w="sm" len="sm"/>
            </a:ln>
          </p:spPr>
        </p:cxnSp>
        <p:grpSp>
          <p:nvGrpSpPr>
            <p:cNvPr id="774" name="Google Shape;774;p15"/>
            <p:cNvGrpSpPr/>
            <p:nvPr/>
          </p:nvGrpSpPr>
          <p:grpSpPr>
            <a:xfrm>
              <a:off x="0" y="0"/>
              <a:ext cx="326348" cy="324995"/>
              <a:chOff x="0" y="0"/>
              <a:chExt cx="986888" cy="982797"/>
            </a:xfrm>
          </p:grpSpPr>
          <p:sp>
            <p:nvSpPr>
              <p:cNvPr id="775" name="Google Shape;775;p15"/>
              <p:cNvSpPr/>
              <p:nvPr/>
            </p:nvSpPr>
            <p:spPr>
              <a:xfrm>
                <a:off x="0" y="0"/>
                <a:ext cx="986888" cy="982797"/>
              </a:xfrm>
              <a:custGeom>
                <a:avLst/>
                <a:gdLst/>
                <a:ahLst/>
                <a:cxnLst/>
                <a:rect l="l" t="t" r="r" b="b"/>
                <a:pathLst>
                  <a:path w="986888" h="982797" extrusionOk="0">
                    <a:moveTo>
                      <a:pt x="493444" y="0"/>
                    </a:moveTo>
                    <a:cubicBezTo>
                      <a:pt x="220922" y="0"/>
                      <a:pt x="0" y="220007"/>
                      <a:pt x="0" y="491398"/>
                    </a:cubicBezTo>
                    <a:cubicBezTo>
                      <a:pt x="0" y="762790"/>
                      <a:pt x="220922" y="982797"/>
                      <a:pt x="493444" y="982797"/>
                    </a:cubicBezTo>
                    <a:cubicBezTo>
                      <a:pt x="765965" y="982797"/>
                      <a:pt x="986888" y="762790"/>
                      <a:pt x="986888" y="491398"/>
                    </a:cubicBezTo>
                    <a:cubicBezTo>
                      <a:pt x="986888" y="220007"/>
                      <a:pt x="765965" y="0"/>
                      <a:pt x="493444" y="0"/>
                    </a:cubicBezTo>
                    <a:close/>
                  </a:path>
                </a:pathLst>
              </a:custGeom>
              <a:solidFill>
                <a:srgbClr val="FFFFFF"/>
              </a:solidFill>
              <a:ln w="19050" cap="sq" cmpd="sng">
                <a:solidFill>
                  <a:srgbClr val="20538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92521" y="63562"/>
                <a:ext cx="801846" cy="827098"/>
              </a:xfrm>
              <a:prstGeom prst="rect">
                <a:avLst/>
              </a:prstGeom>
              <a:noFill/>
              <a:ln>
                <a:noFill/>
              </a:ln>
            </p:spPr>
            <p:txBody>
              <a:bodyPr spcFirstLastPara="1" wrap="square" lIns="36500" tIns="36500" rIns="36500" bIns="365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76315" y="76315"/>
              <a:ext cx="177460" cy="176190"/>
              <a:chOff x="0" y="0"/>
              <a:chExt cx="571488" cy="567397"/>
            </a:xfrm>
          </p:grpSpPr>
          <p:sp>
            <p:nvSpPr>
              <p:cNvPr id="778" name="Google Shape;778;p15"/>
              <p:cNvSpPr/>
              <p:nvPr/>
            </p:nvSpPr>
            <p:spPr>
              <a:xfrm>
                <a:off x="0" y="0"/>
                <a:ext cx="571488" cy="567397"/>
              </a:xfrm>
              <a:custGeom>
                <a:avLst/>
                <a:gdLst/>
                <a:ahLst/>
                <a:cxnLst/>
                <a:rect l="l" t="t" r="r" b="b"/>
                <a:pathLst>
                  <a:path w="571488" h="567397" extrusionOk="0">
                    <a:moveTo>
                      <a:pt x="285744" y="0"/>
                    </a:moveTo>
                    <a:cubicBezTo>
                      <a:pt x="127932" y="0"/>
                      <a:pt x="0" y="127016"/>
                      <a:pt x="0" y="283698"/>
                    </a:cubicBezTo>
                    <a:cubicBezTo>
                      <a:pt x="0" y="440381"/>
                      <a:pt x="127932" y="567397"/>
                      <a:pt x="285744" y="567397"/>
                    </a:cubicBezTo>
                    <a:cubicBezTo>
                      <a:pt x="443556" y="567397"/>
                      <a:pt x="571488" y="440381"/>
                      <a:pt x="571488" y="283698"/>
                    </a:cubicBezTo>
                    <a:cubicBezTo>
                      <a:pt x="571488" y="127016"/>
                      <a:pt x="443556" y="0"/>
                      <a:pt x="285744" y="0"/>
                    </a:cubicBezTo>
                    <a:close/>
                  </a:path>
                </a:pathLst>
              </a:custGeom>
              <a:solidFill>
                <a:srgbClr val="20538B"/>
              </a:solidFill>
              <a:ln w="19050" cap="sq" cmpd="sng">
                <a:solidFill>
                  <a:srgbClr val="20538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53577" y="24618"/>
                <a:ext cx="464334" cy="489585"/>
              </a:xfrm>
              <a:prstGeom prst="rect">
                <a:avLst/>
              </a:prstGeom>
              <a:noFill/>
              <a:ln>
                <a:noFill/>
              </a:ln>
            </p:spPr>
            <p:txBody>
              <a:bodyPr spcFirstLastPara="1" wrap="square" lIns="36500" tIns="36500" rIns="36500" bIns="365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80" name="Google Shape;780;p15"/>
          <p:cNvGrpSpPr/>
          <p:nvPr/>
        </p:nvGrpSpPr>
        <p:grpSpPr>
          <a:xfrm>
            <a:off x="14619650" y="5293864"/>
            <a:ext cx="244761" cy="579810"/>
            <a:chOff x="0" y="0"/>
            <a:chExt cx="326348" cy="773080"/>
          </a:xfrm>
        </p:grpSpPr>
        <p:cxnSp>
          <p:nvCxnSpPr>
            <p:cNvPr id="781" name="Google Shape;781;p15"/>
            <p:cNvCxnSpPr/>
            <p:nvPr/>
          </p:nvCxnSpPr>
          <p:spPr>
            <a:xfrm rot="10800000">
              <a:off x="170939" y="301908"/>
              <a:ext cx="0" cy="471172"/>
            </a:xfrm>
            <a:prstGeom prst="straightConnector1">
              <a:avLst/>
            </a:prstGeom>
            <a:noFill/>
            <a:ln w="25400" cap="flat" cmpd="sng">
              <a:solidFill>
                <a:srgbClr val="20538B"/>
              </a:solidFill>
              <a:prstDash val="solid"/>
              <a:round/>
              <a:headEnd type="diamond" w="lg" len="lg"/>
              <a:tailEnd type="none" w="sm" len="sm"/>
            </a:ln>
          </p:spPr>
        </p:cxnSp>
        <p:grpSp>
          <p:nvGrpSpPr>
            <p:cNvPr id="782" name="Google Shape;782;p15"/>
            <p:cNvGrpSpPr/>
            <p:nvPr/>
          </p:nvGrpSpPr>
          <p:grpSpPr>
            <a:xfrm>
              <a:off x="0" y="0"/>
              <a:ext cx="326348" cy="324995"/>
              <a:chOff x="0" y="0"/>
              <a:chExt cx="986888" cy="982797"/>
            </a:xfrm>
          </p:grpSpPr>
          <p:sp>
            <p:nvSpPr>
              <p:cNvPr id="783" name="Google Shape;783;p15"/>
              <p:cNvSpPr/>
              <p:nvPr/>
            </p:nvSpPr>
            <p:spPr>
              <a:xfrm>
                <a:off x="0" y="0"/>
                <a:ext cx="986888" cy="982797"/>
              </a:xfrm>
              <a:custGeom>
                <a:avLst/>
                <a:gdLst/>
                <a:ahLst/>
                <a:cxnLst/>
                <a:rect l="l" t="t" r="r" b="b"/>
                <a:pathLst>
                  <a:path w="986888" h="982797" extrusionOk="0">
                    <a:moveTo>
                      <a:pt x="493444" y="0"/>
                    </a:moveTo>
                    <a:cubicBezTo>
                      <a:pt x="220922" y="0"/>
                      <a:pt x="0" y="220007"/>
                      <a:pt x="0" y="491398"/>
                    </a:cubicBezTo>
                    <a:cubicBezTo>
                      <a:pt x="0" y="762790"/>
                      <a:pt x="220922" y="982797"/>
                      <a:pt x="493444" y="982797"/>
                    </a:cubicBezTo>
                    <a:cubicBezTo>
                      <a:pt x="765965" y="982797"/>
                      <a:pt x="986888" y="762790"/>
                      <a:pt x="986888" y="491398"/>
                    </a:cubicBezTo>
                    <a:cubicBezTo>
                      <a:pt x="986888" y="220007"/>
                      <a:pt x="765965" y="0"/>
                      <a:pt x="493444" y="0"/>
                    </a:cubicBezTo>
                    <a:close/>
                  </a:path>
                </a:pathLst>
              </a:custGeom>
              <a:solidFill>
                <a:srgbClr val="FFFFFF"/>
              </a:solidFill>
              <a:ln w="19050" cap="sq" cmpd="sng">
                <a:solidFill>
                  <a:srgbClr val="20538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5"/>
              <p:cNvSpPr txBox="1"/>
              <p:nvPr/>
            </p:nvSpPr>
            <p:spPr>
              <a:xfrm>
                <a:off x="92521" y="63562"/>
                <a:ext cx="801846" cy="827098"/>
              </a:xfrm>
              <a:prstGeom prst="rect">
                <a:avLst/>
              </a:prstGeom>
              <a:noFill/>
              <a:ln>
                <a:noFill/>
              </a:ln>
            </p:spPr>
            <p:txBody>
              <a:bodyPr spcFirstLastPara="1" wrap="square" lIns="36500" tIns="36500" rIns="36500" bIns="365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5" name="Google Shape;785;p15"/>
            <p:cNvGrpSpPr/>
            <p:nvPr/>
          </p:nvGrpSpPr>
          <p:grpSpPr>
            <a:xfrm>
              <a:off x="76315" y="76315"/>
              <a:ext cx="177460" cy="176190"/>
              <a:chOff x="0" y="0"/>
              <a:chExt cx="571488" cy="567397"/>
            </a:xfrm>
          </p:grpSpPr>
          <p:sp>
            <p:nvSpPr>
              <p:cNvPr id="786" name="Google Shape;786;p15"/>
              <p:cNvSpPr/>
              <p:nvPr/>
            </p:nvSpPr>
            <p:spPr>
              <a:xfrm>
                <a:off x="0" y="0"/>
                <a:ext cx="571488" cy="567397"/>
              </a:xfrm>
              <a:custGeom>
                <a:avLst/>
                <a:gdLst/>
                <a:ahLst/>
                <a:cxnLst/>
                <a:rect l="l" t="t" r="r" b="b"/>
                <a:pathLst>
                  <a:path w="571488" h="567397" extrusionOk="0">
                    <a:moveTo>
                      <a:pt x="285744" y="0"/>
                    </a:moveTo>
                    <a:cubicBezTo>
                      <a:pt x="127932" y="0"/>
                      <a:pt x="0" y="127016"/>
                      <a:pt x="0" y="283698"/>
                    </a:cubicBezTo>
                    <a:cubicBezTo>
                      <a:pt x="0" y="440381"/>
                      <a:pt x="127932" y="567397"/>
                      <a:pt x="285744" y="567397"/>
                    </a:cubicBezTo>
                    <a:cubicBezTo>
                      <a:pt x="443556" y="567397"/>
                      <a:pt x="571488" y="440381"/>
                      <a:pt x="571488" y="283698"/>
                    </a:cubicBezTo>
                    <a:cubicBezTo>
                      <a:pt x="571488" y="127016"/>
                      <a:pt x="443556" y="0"/>
                      <a:pt x="285744" y="0"/>
                    </a:cubicBezTo>
                    <a:close/>
                  </a:path>
                </a:pathLst>
              </a:custGeom>
              <a:solidFill>
                <a:srgbClr val="20538B"/>
              </a:solidFill>
              <a:ln w="19050" cap="sq" cmpd="sng">
                <a:solidFill>
                  <a:srgbClr val="20538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5"/>
              <p:cNvSpPr txBox="1"/>
              <p:nvPr/>
            </p:nvSpPr>
            <p:spPr>
              <a:xfrm>
                <a:off x="53577" y="24618"/>
                <a:ext cx="464334" cy="489585"/>
              </a:xfrm>
              <a:prstGeom prst="rect">
                <a:avLst/>
              </a:prstGeom>
              <a:noFill/>
              <a:ln>
                <a:noFill/>
              </a:ln>
            </p:spPr>
            <p:txBody>
              <a:bodyPr spcFirstLastPara="1" wrap="square" lIns="36500" tIns="36500" rIns="36500" bIns="365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788" name="Google Shape;788;p15"/>
          <p:cNvSpPr txBox="1"/>
          <p:nvPr/>
        </p:nvSpPr>
        <p:spPr>
          <a:xfrm>
            <a:off x="6802179" y="4028257"/>
            <a:ext cx="1047486" cy="309245"/>
          </a:xfrm>
          <a:prstGeom prst="rect">
            <a:avLst/>
          </a:prstGeom>
          <a:noFill/>
          <a:ln>
            <a:noFill/>
          </a:ln>
        </p:spPr>
        <p:txBody>
          <a:bodyPr spcFirstLastPara="1" wrap="square" lIns="0" tIns="0" rIns="0" bIns="0" anchor="t" anchorCtr="0">
            <a:spAutoFit/>
          </a:bodyPr>
          <a:lstStyle/>
          <a:p>
            <a:pPr marL="0" marR="0" lvl="0" indent="0" algn="ctr" rtl="0">
              <a:lnSpc>
                <a:spcPct val="140023"/>
              </a:lnSpc>
              <a:spcBef>
                <a:spcPts val="0"/>
              </a:spcBef>
              <a:spcAft>
                <a:spcPts val="0"/>
              </a:spcAft>
              <a:buNone/>
            </a:pPr>
            <a:r>
              <a:rPr lang="en-US" sz="1699" b="0" i="0" u="none" strike="noStrike" cap="none">
                <a:solidFill>
                  <a:srgbClr val="20538B"/>
                </a:solidFill>
                <a:latin typeface="Poppins"/>
                <a:ea typeface="Poppins"/>
                <a:cs typeface="Poppins"/>
                <a:sym typeface="Poppins"/>
              </a:rPr>
              <a:t>STEP 02</a:t>
            </a:r>
            <a:endParaRPr/>
          </a:p>
        </p:txBody>
      </p:sp>
      <p:sp>
        <p:nvSpPr>
          <p:cNvPr id="789" name="Google Shape;789;p15"/>
          <p:cNvSpPr txBox="1"/>
          <p:nvPr/>
        </p:nvSpPr>
        <p:spPr>
          <a:xfrm>
            <a:off x="9781277" y="4577728"/>
            <a:ext cx="2401641" cy="464820"/>
          </a:xfrm>
          <a:prstGeom prst="rect">
            <a:avLst/>
          </a:prstGeom>
          <a:noFill/>
          <a:ln>
            <a:noFill/>
          </a:ln>
        </p:spPr>
        <p:txBody>
          <a:bodyPr spcFirstLastPara="1" wrap="square" lIns="0" tIns="0" rIns="0" bIns="0" anchor="t" anchorCtr="0">
            <a:spAutoFit/>
          </a:bodyPr>
          <a:lstStyle/>
          <a:p>
            <a:pPr marL="0" marR="0" lvl="0" indent="0" algn="ctr" rtl="0">
              <a:lnSpc>
                <a:spcPct val="140014"/>
              </a:lnSpc>
              <a:spcBef>
                <a:spcPts val="0"/>
              </a:spcBef>
              <a:spcAft>
                <a:spcPts val="0"/>
              </a:spcAft>
              <a:buNone/>
            </a:pPr>
            <a:r>
              <a:rPr lang="en-US" sz="2699" b="1" i="0" u="none" strike="noStrike" cap="none">
                <a:solidFill>
                  <a:srgbClr val="20538B"/>
                </a:solidFill>
                <a:latin typeface="Arial"/>
                <a:ea typeface="Arial"/>
                <a:cs typeface="Arial"/>
                <a:sym typeface="Arial"/>
              </a:rPr>
              <a:t>검증</a:t>
            </a:r>
            <a:endParaRPr/>
          </a:p>
        </p:txBody>
      </p:sp>
      <p:sp>
        <p:nvSpPr>
          <p:cNvPr id="790" name="Google Shape;790;p15"/>
          <p:cNvSpPr txBox="1"/>
          <p:nvPr/>
        </p:nvSpPr>
        <p:spPr>
          <a:xfrm>
            <a:off x="10510233" y="4028257"/>
            <a:ext cx="1047486" cy="309245"/>
          </a:xfrm>
          <a:prstGeom prst="rect">
            <a:avLst/>
          </a:prstGeom>
          <a:noFill/>
          <a:ln>
            <a:noFill/>
          </a:ln>
        </p:spPr>
        <p:txBody>
          <a:bodyPr spcFirstLastPara="1" wrap="square" lIns="0" tIns="0" rIns="0" bIns="0" anchor="t" anchorCtr="0">
            <a:spAutoFit/>
          </a:bodyPr>
          <a:lstStyle/>
          <a:p>
            <a:pPr marL="0" marR="0" lvl="0" indent="0" algn="ctr" rtl="0">
              <a:lnSpc>
                <a:spcPct val="140023"/>
              </a:lnSpc>
              <a:spcBef>
                <a:spcPts val="0"/>
              </a:spcBef>
              <a:spcAft>
                <a:spcPts val="0"/>
              </a:spcAft>
              <a:buNone/>
            </a:pPr>
            <a:r>
              <a:rPr lang="en-US" sz="1699" b="0" i="0" u="none" strike="noStrike" cap="none">
                <a:solidFill>
                  <a:srgbClr val="20538B"/>
                </a:solidFill>
                <a:latin typeface="Poppins"/>
                <a:ea typeface="Poppins"/>
                <a:cs typeface="Poppins"/>
                <a:sym typeface="Poppins"/>
              </a:rPr>
              <a:t>STEP 03</a:t>
            </a:r>
            <a:endParaRPr/>
          </a:p>
        </p:txBody>
      </p:sp>
      <p:sp>
        <p:nvSpPr>
          <p:cNvPr id="791" name="Google Shape;791;p15"/>
          <p:cNvSpPr txBox="1"/>
          <p:nvPr/>
        </p:nvSpPr>
        <p:spPr>
          <a:xfrm>
            <a:off x="13541210" y="4577728"/>
            <a:ext cx="2401641" cy="464820"/>
          </a:xfrm>
          <a:prstGeom prst="rect">
            <a:avLst/>
          </a:prstGeom>
          <a:noFill/>
          <a:ln>
            <a:noFill/>
          </a:ln>
        </p:spPr>
        <p:txBody>
          <a:bodyPr spcFirstLastPara="1" wrap="square" lIns="0" tIns="0" rIns="0" bIns="0" anchor="t" anchorCtr="0">
            <a:spAutoFit/>
          </a:bodyPr>
          <a:lstStyle/>
          <a:p>
            <a:pPr marL="0" marR="0" lvl="0" indent="0" algn="ctr" rtl="0">
              <a:lnSpc>
                <a:spcPct val="140014"/>
              </a:lnSpc>
              <a:spcBef>
                <a:spcPts val="0"/>
              </a:spcBef>
              <a:spcAft>
                <a:spcPts val="0"/>
              </a:spcAft>
              <a:buNone/>
            </a:pPr>
            <a:r>
              <a:rPr lang="en-US" sz="2699" b="1" i="0" u="none" strike="noStrike" cap="none">
                <a:solidFill>
                  <a:srgbClr val="20538B"/>
                </a:solidFill>
                <a:latin typeface="Arial"/>
                <a:ea typeface="Arial"/>
                <a:cs typeface="Arial"/>
                <a:sym typeface="Arial"/>
              </a:rPr>
              <a:t>PDF 2종 생성</a:t>
            </a:r>
            <a:endParaRPr/>
          </a:p>
        </p:txBody>
      </p:sp>
      <p:sp>
        <p:nvSpPr>
          <p:cNvPr id="792" name="Google Shape;792;p15"/>
          <p:cNvSpPr txBox="1"/>
          <p:nvPr/>
        </p:nvSpPr>
        <p:spPr>
          <a:xfrm>
            <a:off x="14218287" y="4028257"/>
            <a:ext cx="1047486" cy="309245"/>
          </a:xfrm>
          <a:prstGeom prst="rect">
            <a:avLst/>
          </a:prstGeom>
          <a:noFill/>
          <a:ln>
            <a:noFill/>
          </a:ln>
        </p:spPr>
        <p:txBody>
          <a:bodyPr spcFirstLastPara="1" wrap="square" lIns="0" tIns="0" rIns="0" bIns="0" anchor="t" anchorCtr="0">
            <a:spAutoFit/>
          </a:bodyPr>
          <a:lstStyle/>
          <a:p>
            <a:pPr marL="0" marR="0" lvl="0" indent="0" algn="ctr" rtl="0">
              <a:lnSpc>
                <a:spcPct val="140023"/>
              </a:lnSpc>
              <a:spcBef>
                <a:spcPts val="0"/>
              </a:spcBef>
              <a:spcAft>
                <a:spcPts val="0"/>
              </a:spcAft>
              <a:buNone/>
            </a:pPr>
            <a:r>
              <a:rPr lang="en-US" sz="1699" b="0" i="0" u="none" strike="noStrike" cap="none">
                <a:solidFill>
                  <a:srgbClr val="20538B"/>
                </a:solidFill>
                <a:latin typeface="Poppins"/>
                <a:ea typeface="Poppins"/>
                <a:cs typeface="Poppins"/>
                <a:sym typeface="Poppins"/>
              </a:rPr>
              <a:t>STEP 04</a:t>
            </a:r>
            <a:endParaRPr/>
          </a:p>
        </p:txBody>
      </p:sp>
      <p:sp>
        <p:nvSpPr>
          <p:cNvPr id="793" name="Google Shape;793;p15"/>
          <p:cNvSpPr txBox="1"/>
          <p:nvPr/>
        </p:nvSpPr>
        <p:spPr>
          <a:xfrm>
            <a:off x="9936558" y="6034346"/>
            <a:ext cx="2302426" cy="960024"/>
          </a:xfrm>
          <a:prstGeom prst="rect">
            <a:avLst/>
          </a:prstGeom>
          <a:noFill/>
          <a:ln>
            <a:noFill/>
          </a:ln>
        </p:spPr>
        <p:txBody>
          <a:bodyPr spcFirstLastPara="1" wrap="square" lIns="0" tIns="0" rIns="0" bIns="0" anchor="t" anchorCtr="0">
            <a:spAutoFit/>
          </a:bodyPr>
          <a:lstStyle/>
          <a:p>
            <a:pPr marL="0" marR="0" lvl="0" indent="0" algn="l" rtl="0">
              <a:lnSpc>
                <a:spcPct val="163013"/>
              </a:lnSpc>
              <a:spcBef>
                <a:spcPts val="0"/>
              </a:spcBef>
              <a:spcAft>
                <a:spcPts val="0"/>
              </a:spcAft>
              <a:buNone/>
            </a:pPr>
            <a:r>
              <a:rPr lang="en-US" sz="1606" b="0" i="0" u="none" strike="noStrike" cap="none">
                <a:solidFill>
                  <a:srgbClr val="94B6DA"/>
                </a:solidFill>
                <a:latin typeface="Arial"/>
                <a:ea typeface="Arial"/>
                <a:cs typeface="Arial"/>
                <a:sym typeface="Arial"/>
              </a:rPr>
              <a:t>LLM이 쓴 취약점·법령·사례 ID를 실제 데이터와 대조해 없는 ID는 지웁니다.</a:t>
            </a:r>
            <a:endParaRPr/>
          </a:p>
        </p:txBody>
      </p:sp>
      <p:sp>
        <p:nvSpPr>
          <p:cNvPr id="794" name="Google Shape;794;p15"/>
          <p:cNvSpPr txBox="1"/>
          <p:nvPr/>
        </p:nvSpPr>
        <p:spPr>
          <a:xfrm>
            <a:off x="13512668" y="6034346"/>
            <a:ext cx="2600070" cy="960024"/>
          </a:xfrm>
          <a:prstGeom prst="rect">
            <a:avLst/>
          </a:prstGeom>
          <a:noFill/>
          <a:ln>
            <a:noFill/>
          </a:ln>
        </p:spPr>
        <p:txBody>
          <a:bodyPr spcFirstLastPara="1" wrap="square" lIns="0" tIns="0" rIns="0" bIns="0" anchor="t" anchorCtr="0">
            <a:spAutoFit/>
          </a:bodyPr>
          <a:lstStyle/>
          <a:p>
            <a:pPr marL="0" marR="0" lvl="0" indent="0" algn="l" rtl="0">
              <a:lnSpc>
                <a:spcPct val="163013"/>
              </a:lnSpc>
              <a:spcBef>
                <a:spcPts val="0"/>
              </a:spcBef>
              <a:spcAft>
                <a:spcPts val="0"/>
              </a:spcAft>
              <a:buNone/>
            </a:pPr>
            <a:r>
              <a:rPr lang="en-US" sz="1606" b="0" i="0" u="none" strike="noStrike" cap="none">
                <a:solidFill>
                  <a:srgbClr val="94B6DA"/>
                </a:solidFill>
                <a:latin typeface="Arial"/>
                <a:ea typeface="Arial"/>
                <a:cs typeface="Arial"/>
                <a:sym typeface="Arial"/>
              </a:rPr>
              <a:t>같은 데이터로 경영진용 슬라이드와 실무진용 상세 보고서를 만듭니다.</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grpSp>
        <p:nvGrpSpPr>
          <p:cNvPr id="248" name="Google Shape;248;h32a9095667746e33_0_0"/>
          <p:cNvGrpSpPr/>
          <p:nvPr/>
        </p:nvGrpSpPr>
        <p:grpSpPr>
          <a:xfrm>
            <a:off x="-1081199" y="3274283"/>
            <a:ext cx="20615733" cy="7012716"/>
            <a:chOff x="-99239" y="-86"/>
            <a:chExt cx="27487644" cy="9350288"/>
          </a:xfrm>
        </p:grpSpPr>
        <p:grpSp>
          <p:nvGrpSpPr>
            <p:cNvPr id="249" name="Google Shape;249;h32a9095667746e33_0_0"/>
            <p:cNvGrpSpPr/>
            <p:nvPr/>
          </p:nvGrpSpPr>
          <p:grpSpPr>
            <a:xfrm rot="-5400000">
              <a:off x="11107617" y="-11206942"/>
              <a:ext cx="4770761" cy="27184472"/>
              <a:chOff x="0" y="-38100"/>
              <a:chExt cx="1831597" cy="10436700"/>
            </a:xfrm>
          </p:grpSpPr>
          <p:sp>
            <p:nvSpPr>
              <p:cNvPr id="250" name="Google Shape;250;h32a9095667746e33_0_0"/>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251" name="Google Shape;251;h32a9095667746e33_0_0"/>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2" name="Google Shape;252;h32a9095667746e33_0_0"/>
            <p:cNvGrpSpPr/>
            <p:nvPr/>
          </p:nvGrpSpPr>
          <p:grpSpPr>
            <a:xfrm rot="-5400000">
              <a:off x="11637133" y="-6401070"/>
              <a:ext cx="4579844" cy="26922700"/>
              <a:chOff x="0" y="-38100"/>
              <a:chExt cx="1758300" cy="10336200"/>
            </a:xfrm>
          </p:grpSpPr>
          <p:sp>
            <p:nvSpPr>
              <p:cNvPr id="253" name="Google Shape;253;h32a9095667746e33_0_0"/>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254" name="Google Shape;254;h32a9095667746e33_0_0"/>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55" name="Google Shape;255;h32a9095667746e33_0_0"/>
          <p:cNvGrpSpPr/>
          <p:nvPr/>
        </p:nvGrpSpPr>
        <p:grpSpPr>
          <a:xfrm>
            <a:off x="731085" y="622850"/>
            <a:ext cx="16825838" cy="9050174"/>
            <a:chOff x="0" y="-108814"/>
            <a:chExt cx="22434451" cy="12066898"/>
          </a:xfrm>
        </p:grpSpPr>
        <p:grpSp>
          <p:nvGrpSpPr>
            <p:cNvPr id="256" name="Google Shape;256;h32a9095667746e33_0_0"/>
            <p:cNvGrpSpPr/>
            <p:nvPr/>
          </p:nvGrpSpPr>
          <p:grpSpPr>
            <a:xfrm>
              <a:off x="26537" y="10214891"/>
              <a:ext cx="22386840" cy="1743193"/>
              <a:chOff x="0" y="-47625"/>
              <a:chExt cx="9809754" cy="763855"/>
            </a:xfrm>
          </p:grpSpPr>
          <p:sp>
            <p:nvSpPr>
              <p:cNvPr id="257" name="Google Shape;257;h32a9095667746e33_0_0"/>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258" name="Google Shape;258;h32a9095667746e33_0_0"/>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9" name="Google Shape;259;h32a9095667746e33_0_0"/>
            <p:cNvGrpSpPr/>
            <p:nvPr/>
          </p:nvGrpSpPr>
          <p:grpSpPr>
            <a:xfrm>
              <a:off x="0" y="-108814"/>
              <a:ext cx="22434451" cy="11946166"/>
              <a:chOff x="0" y="-47625"/>
              <a:chExt cx="9819000" cy="5228539"/>
            </a:xfrm>
          </p:grpSpPr>
          <p:sp>
            <p:nvSpPr>
              <p:cNvPr id="260" name="Google Shape;260;h32a9095667746e33_0_0"/>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261" name="Google Shape;261;h32a9095667746e33_0_0"/>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62" name="Google Shape;262;h32a9095667746e33_0_0"/>
          <p:cNvGrpSpPr/>
          <p:nvPr/>
        </p:nvGrpSpPr>
        <p:grpSpPr>
          <a:xfrm>
            <a:off x="763743" y="662704"/>
            <a:ext cx="16759942" cy="1561150"/>
            <a:chOff x="0" y="-38100"/>
            <a:chExt cx="8581200" cy="799319"/>
          </a:xfrm>
        </p:grpSpPr>
        <p:sp>
          <p:nvSpPr>
            <p:cNvPr id="263" name="Google Shape;263;h32a9095667746e33_0_0"/>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264" name="Google Shape;264;h32a9095667746e33_0_0"/>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5" name="Google Shape;265;h32a9095667746e33_0_0"/>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266" name="Google Shape;266;h32a9095667746e33_0_0"/>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267" name="Google Shape;267;h32a9095667746e33_0_0"/>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268" name="Google Shape;268;h32a9095667746e33_0_0"/>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269" name="Google Shape;269;h32a9095667746e33_0_0"/>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270" name="Google Shape;270;h32a9095667746e33_0_0"/>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271" name="Google Shape;271;h32a9095667746e33_0_0"/>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272" name="Google Shape;272;h32a9095667746e33_0_0"/>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273" name="Google Shape;273;h32a9095667746e33_0_0"/>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검증 코드</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274" name="Google Shape;274;h32a9095667746e33_0_0"/>
          <p:cNvSpPr txBox="1"/>
          <p:nvPr/>
        </p:nvSpPr>
        <p:spPr>
          <a:xfrm>
            <a:off x="1437501" y="920715"/>
            <a:ext cx="83460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07</a:t>
            </a:r>
            <a:endParaRPr/>
          </a:p>
        </p:txBody>
      </p:sp>
      <p:sp>
        <p:nvSpPr>
          <p:cNvPr id="275" name="Google Shape;275;h32a9095667746e33_0_0"/>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engine.py validate()</a:t>
            </a:r>
            <a:endParaRPr/>
          </a:p>
        </p:txBody>
      </p:sp>
      <p:sp>
        <p:nvSpPr>
          <p:cNvPr id="276" name="Google Shape;276;h32a9095667746e33_0_0"/>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LLM 출력을 그대로 쓰지 않고, 코드가 실제 데이터와 대조한 뒤에만 보고서에 넣습니다.</a:t>
            </a:r>
            <a:endParaRPr/>
          </a:p>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걸린 항목은 run_log.json에 경고로 남습니다.</a:t>
            </a:r>
            <a:endParaRPr/>
          </a:p>
        </p:txBody>
      </p:sp>
      <p:sp>
        <p:nvSpPr>
          <p:cNvPr id="277" name="Google Shape;277;h32a9095667746e33_0_0"/>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검사하는 것</a:t>
            </a:r>
            <a:endParaRPr/>
          </a:p>
        </p:txBody>
      </p:sp>
      <p:sp>
        <p:nvSpPr>
          <p:cNvPr id="278" name="Google Shape;278;h32a9095667746e33_0_0"/>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없는 취약점·조문·사례 ID 제거</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후보 밖·참고 등급 사례 인용 차단</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로드맵 누락 취약점 자동 추가</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문장 속 원화 금액 경고</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grpSp>
        <p:nvGrpSpPr>
          <p:cNvPr id="177" name="Google Shape;177;p4"/>
          <p:cNvGrpSpPr/>
          <p:nvPr/>
        </p:nvGrpSpPr>
        <p:grpSpPr>
          <a:xfrm>
            <a:off x="-1081198" y="3274348"/>
            <a:ext cx="20615256" cy="7012652"/>
            <a:chOff x="-99237" y="-1"/>
            <a:chExt cx="27487007" cy="9350203"/>
          </a:xfrm>
        </p:grpSpPr>
        <p:grpSp>
          <p:nvGrpSpPr>
            <p:cNvPr id="178" name="Google Shape;178;p4"/>
            <p:cNvGrpSpPr/>
            <p:nvPr/>
          </p:nvGrpSpPr>
          <p:grpSpPr>
            <a:xfrm rot="-5400000">
              <a:off x="11107419" y="-11206657"/>
              <a:ext cx="4770675" cy="27183987"/>
              <a:chOff x="0" y="-38100"/>
              <a:chExt cx="1831597" cy="10436700"/>
            </a:xfrm>
          </p:grpSpPr>
          <p:sp>
            <p:nvSpPr>
              <p:cNvPr id="179" name="Google Shape;179;p4"/>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180" name="Google Shape;180;p4"/>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1" name="Google Shape;181;p4"/>
            <p:cNvGrpSpPr/>
            <p:nvPr/>
          </p:nvGrpSpPr>
          <p:grpSpPr>
            <a:xfrm rot="-5400000">
              <a:off x="11636974" y="-6400594"/>
              <a:ext cx="4579528" cy="26922063"/>
              <a:chOff x="0" y="-38100"/>
              <a:chExt cx="1758210" cy="10336140"/>
            </a:xfrm>
          </p:grpSpPr>
          <p:sp>
            <p:nvSpPr>
              <p:cNvPr id="182" name="Google Shape;182;p4"/>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183" name="Google Shape;183;p4"/>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84" name="Google Shape;184;p4"/>
          <p:cNvGrpSpPr/>
          <p:nvPr/>
        </p:nvGrpSpPr>
        <p:grpSpPr>
          <a:xfrm>
            <a:off x="731085" y="618412"/>
            <a:ext cx="16825832" cy="9050183"/>
            <a:chOff x="0" y="-108814"/>
            <a:chExt cx="22434442" cy="12066910"/>
          </a:xfrm>
        </p:grpSpPr>
        <p:grpSp>
          <p:nvGrpSpPr>
            <p:cNvPr id="185" name="Google Shape;185;p4"/>
            <p:cNvGrpSpPr/>
            <p:nvPr/>
          </p:nvGrpSpPr>
          <p:grpSpPr>
            <a:xfrm>
              <a:off x="26537" y="10214890"/>
              <a:ext cx="22386981" cy="1743206"/>
              <a:chOff x="0" y="-47625"/>
              <a:chExt cx="9809754" cy="763855"/>
            </a:xfrm>
          </p:grpSpPr>
          <p:sp>
            <p:nvSpPr>
              <p:cNvPr id="186" name="Google Shape;186;p4"/>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187" name="Google Shape;187;p4"/>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8" name="Google Shape;188;p4"/>
            <p:cNvGrpSpPr/>
            <p:nvPr/>
          </p:nvGrpSpPr>
          <p:grpSpPr>
            <a:xfrm>
              <a:off x="0" y="-108814"/>
              <a:ext cx="22434442" cy="11946255"/>
              <a:chOff x="0" y="-47625"/>
              <a:chExt cx="9818922" cy="5228539"/>
            </a:xfrm>
          </p:grpSpPr>
          <p:sp>
            <p:nvSpPr>
              <p:cNvPr id="189" name="Google Shape;189;p4"/>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190" name="Google Shape;190;p4"/>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91" name="Google Shape;191;p4"/>
          <p:cNvGrpSpPr/>
          <p:nvPr/>
        </p:nvGrpSpPr>
        <p:grpSpPr>
          <a:xfrm>
            <a:off x="763743" y="662703"/>
            <a:ext cx="16760151" cy="1561172"/>
            <a:chOff x="0" y="-38100"/>
            <a:chExt cx="8581180" cy="799319"/>
          </a:xfrm>
        </p:grpSpPr>
        <p:sp>
          <p:nvSpPr>
            <p:cNvPr id="192" name="Google Shape;192;p4"/>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193" name="Google Shape;193;p4"/>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4" name="Google Shape;194;p4"/>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195" name="Google Shape;195;p4"/>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4">
              <a:alphaModFix/>
            </a:blip>
            <a:stretch>
              <a:fillRect/>
            </a:stretch>
          </a:blipFill>
          <a:ln>
            <a:noFill/>
          </a:ln>
        </p:spPr>
      </p:sp>
      <p:sp>
        <p:nvSpPr>
          <p:cNvPr id="196" name="Google Shape;196;p4"/>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4">
              <a:alphaModFix/>
            </a:blip>
            <a:stretch>
              <a:fillRect/>
            </a:stretch>
          </a:blipFill>
          <a:ln>
            <a:noFill/>
          </a:ln>
        </p:spPr>
      </p:sp>
      <p:sp>
        <p:nvSpPr>
          <p:cNvPr id="197" name="Google Shape;197;p4"/>
          <p:cNvSpPr/>
          <p:nvPr/>
        </p:nvSpPr>
        <p:spPr>
          <a:xfrm>
            <a:off x="9757649" y="6581971"/>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5">
              <a:alphaModFix/>
            </a:blip>
            <a:stretch>
              <a:fillRect/>
            </a:stretch>
          </a:blipFill>
          <a:ln>
            <a:noFill/>
          </a:ln>
        </p:spPr>
      </p:sp>
      <p:sp>
        <p:nvSpPr>
          <p:cNvPr id="198" name="Google Shape;198;p4"/>
          <p:cNvSpPr/>
          <p:nvPr/>
        </p:nvSpPr>
        <p:spPr>
          <a:xfrm>
            <a:off x="9757649" y="7226246"/>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5">
              <a:alphaModFix/>
            </a:blip>
            <a:stretch>
              <a:fillRect/>
            </a:stretch>
          </a:blipFill>
          <a:ln>
            <a:noFill/>
          </a:ln>
        </p:spPr>
      </p:sp>
      <p:sp>
        <p:nvSpPr>
          <p:cNvPr id="199" name="Google Shape;199;p4"/>
          <p:cNvSpPr/>
          <p:nvPr/>
        </p:nvSpPr>
        <p:spPr>
          <a:xfrm>
            <a:off x="9757649" y="791563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5">
              <a:alphaModFix/>
            </a:blip>
            <a:stretch>
              <a:fillRect/>
            </a:stretch>
          </a:blipFill>
          <a:ln>
            <a:noFill/>
          </a:ln>
        </p:spPr>
      </p:sp>
      <p:sp>
        <p:nvSpPr>
          <p:cNvPr id="200" name="Google Shape;200;p4"/>
          <p:cNvSpPr txBox="1"/>
          <p:nvPr/>
        </p:nvSpPr>
        <p:spPr>
          <a:xfrm>
            <a:off x="2412975" y="965888"/>
            <a:ext cx="82350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경영진용 보고서</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201" name="Google Shape;201;p4"/>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08</a:t>
            </a:r>
            <a:endParaRPr/>
          </a:p>
        </p:txBody>
      </p:sp>
      <p:sp>
        <p:nvSpPr>
          <p:cNvPr id="202" name="Google Shape;202;p4"/>
          <p:cNvSpPr txBox="1"/>
          <p:nvPr/>
        </p:nvSpPr>
        <p:spPr>
          <a:xfrm>
            <a:off x="9757649" y="2925850"/>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a:solidFill>
                  <a:srgbClr val="20538B"/>
                </a:solidFill>
              </a:rPr>
              <a:t>입력</a:t>
            </a:r>
            <a:endParaRPr/>
          </a:p>
        </p:txBody>
      </p:sp>
      <p:sp>
        <p:nvSpPr>
          <p:cNvPr id="203" name="Google Shape;203;p4"/>
          <p:cNvSpPr txBox="1"/>
          <p:nvPr/>
        </p:nvSpPr>
        <p:spPr>
          <a:xfrm>
            <a:off x="9757649" y="3486584"/>
            <a:ext cx="6567300" cy="2772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a:solidFill>
                  <a:srgbClr val="20538B"/>
                </a:solidFill>
              </a:rPr>
              <a:t>module3 출력 JSON (SCAN-2026-002, 취약 1건)</a:t>
            </a:r>
            <a:endParaRPr sz="1800" b="0" i="0" u="none" strike="noStrike" cap="none">
              <a:solidFill>
                <a:srgbClr val="20538B"/>
              </a:solidFill>
              <a:latin typeface="Arial"/>
              <a:ea typeface="Arial"/>
              <a:cs typeface="Arial"/>
              <a:sym typeface="Arial"/>
            </a:endParaRPr>
          </a:p>
        </p:txBody>
      </p:sp>
      <p:sp>
        <p:nvSpPr>
          <p:cNvPr id="204" name="Google Shape;204;p4"/>
          <p:cNvSpPr txBox="1"/>
          <p:nvPr/>
        </p:nvSpPr>
        <p:spPr>
          <a:xfrm>
            <a:off x="9757649" y="590510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a:solidFill>
                  <a:srgbClr val="20538B"/>
                </a:solidFill>
              </a:rPr>
              <a:t>이 진단에서 나온 결과</a:t>
            </a:r>
            <a:endParaRPr/>
          </a:p>
        </p:txBody>
      </p:sp>
      <p:sp>
        <p:nvSpPr>
          <p:cNvPr id="205" name="Google Shape;205;p4"/>
          <p:cNvSpPr txBox="1"/>
          <p:nvPr/>
        </p:nvSpPr>
        <p:spPr>
          <a:xfrm>
            <a:off x="10349250" y="6532700"/>
            <a:ext cx="4957200" cy="22653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a:solidFill>
                  <a:srgbClr val="20538B"/>
                </a:solidFill>
              </a:rPr>
              <a:t>전체 위험 수준 '심각'</a:t>
            </a:r>
            <a:endParaRPr/>
          </a:p>
          <a:p>
            <a:pPr marL="0" marR="0" lvl="0" indent="0" algn="l" rtl="0">
              <a:lnSpc>
                <a:spcPct val="222061"/>
              </a:lnSpc>
              <a:spcBef>
                <a:spcPts val="0"/>
              </a:spcBef>
              <a:spcAft>
                <a:spcPts val="0"/>
              </a:spcAft>
              <a:buNone/>
            </a:pPr>
            <a:r>
              <a:rPr lang="en-US" sz="1999">
                <a:solidFill>
                  <a:srgbClr val="20538B"/>
                </a:solidFill>
              </a:rPr>
              <a:t>법정 상한 1억 5,000만 원</a:t>
            </a:r>
            <a:endParaRPr/>
          </a:p>
          <a:p>
            <a:pPr marL="0" marR="0" lvl="0" indent="0" algn="l" rtl="0">
              <a:lnSpc>
                <a:spcPct val="222061"/>
              </a:lnSpc>
              <a:spcBef>
                <a:spcPts val="0"/>
              </a:spcBef>
              <a:spcAft>
                <a:spcPts val="0"/>
              </a:spcAft>
              <a:buNone/>
            </a:pPr>
            <a:r>
              <a:rPr lang="en-US" sz="1999">
                <a:solidFill>
                  <a:srgbClr val="20538B"/>
                </a:solidFill>
              </a:rPr>
              <a:t>유사 처분 사례 4건 인용</a:t>
            </a:r>
            <a:endParaRPr/>
          </a:p>
          <a:p>
            <a:pPr marL="0" marR="0" lvl="0" indent="0" algn="l" rtl="0">
              <a:lnSpc>
                <a:spcPct val="222061"/>
              </a:lnSpc>
              <a:spcBef>
                <a:spcPts val="0"/>
              </a:spcBef>
              <a:spcAft>
                <a:spcPts val="0"/>
              </a:spcAft>
              <a:buNone/>
            </a:pPr>
            <a:endParaRPr/>
          </a:p>
        </p:txBody>
      </p:sp>
      <p:pic>
        <p:nvPicPr>
          <p:cNvPr id="206" name="Google Shape;206;p4"/>
          <p:cNvPicPr preferRelativeResize="0"/>
          <p:nvPr/>
        </p:nvPicPr>
        <p:blipFill>
          <a:blip r:embed="rId6">
            <a:alphaModFix/>
          </a:blip>
          <a:stretch>
            <a:fillRect/>
          </a:stretch>
        </p:blipFill>
        <p:spPr>
          <a:xfrm>
            <a:off x="1093375" y="2887829"/>
            <a:ext cx="8035899" cy="4520193"/>
          </a:xfrm>
          <a:prstGeom prst="rect">
            <a:avLst/>
          </a:prstGeom>
          <a:noFill/>
          <a:ln w="38100" cap="flat" cmpd="sng">
            <a:solidFill>
              <a:schemeClr val="dk1"/>
            </a:solidFill>
            <a:prstDash val="solid"/>
            <a:round/>
            <a:headEnd type="none" w="sm" len="sm"/>
            <a:tailEnd type="none" w="sm" len="sm"/>
          </a:ln>
        </p:spPr>
      </p:pic>
      <p:sp>
        <p:nvSpPr>
          <p:cNvPr id="207" name="Google Shape;207;p4"/>
          <p:cNvSpPr/>
          <p:nvPr/>
        </p:nvSpPr>
        <p:spPr>
          <a:xfrm>
            <a:off x="9363698" y="4147862"/>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4">
              <a:alphaModFix/>
            </a:blip>
            <a:stretch>
              <a:fillRect/>
            </a:stretch>
          </a:blipFill>
          <a:ln>
            <a:noFill/>
          </a:ln>
        </p:spPr>
      </p:sp>
      <p:sp>
        <p:nvSpPr>
          <p:cNvPr id="208" name="Google Shape;208;p4"/>
          <p:cNvSpPr txBox="1"/>
          <p:nvPr/>
        </p:nvSpPr>
        <p:spPr>
          <a:xfrm>
            <a:off x="9757649" y="40426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a:solidFill>
                  <a:srgbClr val="20538B"/>
                </a:solidFill>
              </a:rPr>
              <a:t>구성</a:t>
            </a:r>
            <a:endParaRPr/>
          </a:p>
        </p:txBody>
      </p:sp>
      <p:sp>
        <p:nvSpPr>
          <p:cNvPr id="209" name="report_engine extra body"/>
          <p:cNvSpPr txBox="1"/>
          <p:nvPr/>
        </p:nvSpPr>
        <p:spPr>
          <a:xfrm>
            <a:off x="9757649" y="4526280"/>
            <a:ext cx="6567300" cy="109728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a:solidFill>
                  <a:srgbClr val="20538B"/>
                </a:solidFill>
              </a:rPr>
              <a:t>16:9 슬라이드 7장 · 결론·위험·과징금·로드맵</a:t>
            </a:r>
            <a:endParaRPr sz="1800" b="0" i="0" u="none" strike="noStrike" cap="none">
              <a:solidFill>
                <a:srgbClr val="20538B"/>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grpSp>
        <p:nvGrpSpPr>
          <p:cNvPr id="213" name="Google Shape;213;p5"/>
          <p:cNvGrpSpPr/>
          <p:nvPr/>
        </p:nvGrpSpPr>
        <p:grpSpPr>
          <a:xfrm>
            <a:off x="-1081198" y="3274348"/>
            <a:ext cx="20615256" cy="7012652"/>
            <a:chOff x="-99237" y="-1"/>
            <a:chExt cx="27487007" cy="9350203"/>
          </a:xfrm>
        </p:grpSpPr>
        <p:grpSp>
          <p:nvGrpSpPr>
            <p:cNvPr id="214" name="Google Shape;214;p5"/>
            <p:cNvGrpSpPr/>
            <p:nvPr/>
          </p:nvGrpSpPr>
          <p:grpSpPr>
            <a:xfrm rot="-5400000">
              <a:off x="11107419" y="-11206657"/>
              <a:ext cx="4770675" cy="27183987"/>
              <a:chOff x="0" y="-38100"/>
              <a:chExt cx="1831597" cy="10436700"/>
            </a:xfrm>
          </p:grpSpPr>
          <p:sp>
            <p:nvSpPr>
              <p:cNvPr id="215" name="Google Shape;215;p5"/>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216" name="Google Shape;216;p5"/>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7" name="Google Shape;217;p5"/>
            <p:cNvGrpSpPr/>
            <p:nvPr/>
          </p:nvGrpSpPr>
          <p:grpSpPr>
            <a:xfrm rot="-5400000">
              <a:off x="11636974" y="-6400594"/>
              <a:ext cx="4579528" cy="26922063"/>
              <a:chOff x="0" y="-38100"/>
              <a:chExt cx="1758210" cy="10336140"/>
            </a:xfrm>
          </p:grpSpPr>
          <p:sp>
            <p:nvSpPr>
              <p:cNvPr id="218" name="Google Shape;218;p5"/>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219" name="Google Shape;219;p5"/>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20" name="Google Shape;220;p5"/>
          <p:cNvGrpSpPr/>
          <p:nvPr/>
        </p:nvGrpSpPr>
        <p:grpSpPr>
          <a:xfrm>
            <a:off x="731085" y="622849"/>
            <a:ext cx="16825832" cy="9050183"/>
            <a:chOff x="0" y="-108814"/>
            <a:chExt cx="22434442" cy="12066910"/>
          </a:xfrm>
        </p:grpSpPr>
        <p:grpSp>
          <p:nvGrpSpPr>
            <p:cNvPr id="221" name="Google Shape;221;p5"/>
            <p:cNvGrpSpPr/>
            <p:nvPr/>
          </p:nvGrpSpPr>
          <p:grpSpPr>
            <a:xfrm>
              <a:off x="26537" y="10214890"/>
              <a:ext cx="22386981" cy="1743206"/>
              <a:chOff x="0" y="-47625"/>
              <a:chExt cx="9809754" cy="763855"/>
            </a:xfrm>
          </p:grpSpPr>
          <p:sp>
            <p:nvSpPr>
              <p:cNvPr id="222" name="Google Shape;222;p5"/>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223" name="Google Shape;223;p5"/>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4" name="Google Shape;224;p5"/>
            <p:cNvGrpSpPr/>
            <p:nvPr/>
          </p:nvGrpSpPr>
          <p:grpSpPr>
            <a:xfrm>
              <a:off x="0" y="-108814"/>
              <a:ext cx="22434442" cy="11946255"/>
              <a:chOff x="0" y="-47625"/>
              <a:chExt cx="9818922" cy="5228539"/>
            </a:xfrm>
          </p:grpSpPr>
          <p:sp>
            <p:nvSpPr>
              <p:cNvPr id="225" name="Google Shape;225;p5"/>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226" name="Google Shape;226;p5"/>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27" name="Google Shape;227;p5"/>
          <p:cNvGrpSpPr/>
          <p:nvPr/>
        </p:nvGrpSpPr>
        <p:grpSpPr>
          <a:xfrm>
            <a:off x="763743" y="662703"/>
            <a:ext cx="16760151" cy="1561172"/>
            <a:chOff x="0" y="-38100"/>
            <a:chExt cx="8581180" cy="799319"/>
          </a:xfrm>
        </p:grpSpPr>
        <p:sp>
          <p:nvSpPr>
            <p:cNvPr id="228" name="Google Shape;228;p5"/>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229" name="Google Shape;229;p5"/>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0" name="Google Shape;230;p5"/>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231" name="Google Shape;231;p5"/>
          <p:cNvSpPr/>
          <p:nvPr/>
        </p:nvSpPr>
        <p:spPr>
          <a:xfrm>
            <a:off x="2089657" y="2795323"/>
            <a:ext cx="6626340" cy="6016877"/>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232" name="Google Shape;232;p5"/>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233" name="Google Shape;233;p5"/>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234" name="Google Shape;234;p5"/>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235" name="Google Shape;235;p5"/>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236" name="Google Shape;236;p5"/>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237" name="Google Shape;237;p5"/>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238" name="Google Shape;238;p5"/>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실무진용 보고서</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239" name="Google Shape;239;p5"/>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09</a:t>
            </a:r>
            <a:endParaRPr/>
          </a:p>
        </p:txBody>
      </p:sp>
      <p:sp>
        <p:nvSpPr>
          <p:cNvPr id="240" name="Google Shape;240;p5"/>
          <p:cNvSpPr txBox="1"/>
          <p:nvPr/>
        </p:nvSpPr>
        <p:spPr>
          <a:xfrm>
            <a:off x="9757649" y="2853963"/>
            <a:ext cx="6140301" cy="49085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구성</a:t>
            </a:r>
            <a:endParaRPr/>
          </a:p>
        </p:txBody>
      </p:sp>
      <p:sp>
        <p:nvSpPr>
          <p:cNvPr id="241" name="Google Shape;241;p5"/>
          <p:cNvSpPr txBox="1"/>
          <p:nvPr/>
        </p:nvSpPr>
        <p:spPr>
          <a:xfrm>
            <a:off x="9757649" y="3597209"/>
            <a:ext cx="6567231" cy="1739265"/>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A4 상세 보고서 7쪽: 진단 개요, 결과 요약, 취약점 상세, 부록.</a:t>
            </a:r>
            <a:endParaRPr/>
          </a:p>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판단 기준과 조치 방법은 KISA 가이드 원문을, 관련 법령은 조문 원문을 그대로 싣습니다.</a:t>
            </a:r>
            <a:endParaRPr/>
          </a:p>
        </p:txBody>
      </p:sp>
      <p:sp>
        <p:nvSpPr>
          <p:cNvPr id="242" name="Google Shape;242;p5"/>
          <p:cNvSpPr txBox="1"/>
          <p:nvPr/>
        </p:nvSpPr>
        <p:spPr>
          <a:xfrm>
            <a:off x="9757649" y="5797273"/>
            <a:ext cx="6140301" cy="49085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취약점 상세에 담는 것</a:t>
            </a:r>
            <a:endParaRPr/>
          </a:p>
        </p:txBody>
      </p:sp>
      <p:sp>
        <p:nvSpPr>
          <p:cNvPr id="243" name="Google Shape;243;p5"/>
          <p:cNvSpPr txBox="1"/>
          <p:nvPr/>
        </p:nvSpPr>
        <p:spPr>
          <a:xfrm>
            <a:off x="10280413" y="6397348"/>
            <a:ext cx="4957155" cy="2188846"/>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현황·판단 기준·조치 방법</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관련 법령 원문과 매핑 근거</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미검토 매핑은 '검토 전' 표시</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부록: 과징금 산정·우선순위</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pSp>
        <p:nvGrpSpPr>
          <p:cNvPr id="283" name="Google Shape;283;h32a9095667746e33_0_34"/>
          <p:cNvGrpSpPr/>
          <p:nvPr/>
        </p:nvGrpSpPr>
        <p:grpSpPr>
          <a:xfrm>
            <a:off x="-1081199" y="3274283"/>
            <a:ext cx="20615733" cy="7012716"/>
            <a:chOff x="-99239" y="-86"/>
            <a:chExt cx="27487644" cy="9350288"/>
          </a:xfrm>
        </p:grpSpPr>
        <p:grpSp>
          <p:nvGrpSpPr>
            <p:cNvPr id="284" name="Google Shape;284;h32a9095667746e33_0_34"/>
            <p:cNvGrpSpPr/>
            <p:nvPr/>
          </p:nvGrpSpPr>
          <p:grpSpPr>
            <a:xfrm rot="-5400000">
              <a:off x="11107617" y="-11206942"/>
              <a:ext cx="4770761" cy="27184472"/>
              <a:chOff x="0" y="-38100"/>
              <a:chExt cx="1831597" cy="10436700"/>
            </a:xfrm>
          </p:grpSpPr>
          <p:sp>
            <p:nvSpPr>
              <p:cNvPr id="285" name="Google Shape;285;h32a9095667746e33_0_34"/>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286" name="Google Shape;286;h32a9095667746e33_0_34"/>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7" name="Google Shape;287;h32a9095667746e33_0_34"/>
            <p:cNvGrpSpPr/>
            <p:nvPr/>
          </p:nvGrpSpPr>
          <p:grpSpPr>
            <a:xfrm rot="-5400000">
              <a:off x="11637133" y="-6401070"/>
              <a:ext cx="4579844" cy="26922700"/>
              <a:chOff x="0" y="-38100"/>
              <a:chExt cx="1758300" cy="10336200"/>
            </a:xfrm>
          </p:grpSpPr>
          <p:sp>
            <p:nvSpPr>
              <p:cNvPr id="288" name="Google Shape;288;h32a9095667746e33_0_34"/>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289" name="Google Shape;289;h32a9095667746e33_0_34"/>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90" name="Google Shape;290;h32a9095667746e33_0_34"/>
          <p:cNvGrpSpPr/>
          <p:nvPr/>
        </p:nvGrpSpPr>
        <p:grpSpPr>
          <a:xfrm>
            <a:off x="731085" y="622850"/>
            <a:ext cx="16825838" cy="9050174"/>
            <a:chOff x="0" y="-108814"/>
            <a:chExt cx="22434451" cy="12066898"/>
          </a:xfrm>
        </p:grpSpPr>
        <p:grpSp>
          <p:nvGrpSpPr>
            <p:cNvPr id="291" name="Google Shape;291;h32a9095667746e33_0_34"/>
            <p:cNvGrpSpPr/>
            <p:nvPr/>
          </p:nvGrpSpPr>
          <p:grpSpPr>
            <a:xfrm>
              <a:off x="26537" y="10214891"/>
              <a:ext cx="22386840" cy="1743193"/>
              <a:chOff x="0" y="-47625"/>
              <a:chExt cx="9809754" cy="763855"/>
            </a:xfrm>
          </p:grpSpPr>
          <p:sp>
            <p:nvSpPr>
              <p:cNvPr id="292" name="Google Shape;292;h32a9095667746e33_0_34"/>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293" name="Google Shape;293;h32a9095667746e33_0_34"/>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4" name="Google Shape;294;h32a9095667746e33_0_34"/>
            <p:cNvGrpSpPr/>
            <p:nvPr/>
          </p:nvGrpSpPr>
          <p:grpSpPr>
            <a:xfrm>
              <a:off x="0" y="-108814"/>
              <a:ext cx="22434451" cy="11946166"/>
              <a:chOff x="0" y="-47625"/>
              <a:chExt cx="9819000" cy="5228539"/>
            </a:xfrm>
          </p:grpSpPr>
          <p:sp>
            <p:nvSpPr>
              <p:cNvPr id="295" name="Google Shape;295;h32a9095667746e33_0_34"/>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296" name="Google Shape;296;h32a9095667746e33_0_34"/>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97" name="Google Shape;297;h32a9095667746e33_0_34"/>
          <p:cNvGrpSpPr/>
          <p:nvPr/>
        </p:nvGrpSpPr>
        <p:grpSpPr>
          <a:xfrm>
            <a:off x="763743" y="662704"/>
            <a:ext cx="16759942" cy="1561150"/>
            <a:chOff x="0" y="-38100"/>
            <a:chExt cx="8581200" cy="799319"/>
          </a:xfrm>
        </p:grpSpPr>
        <p:sp>
          <p:nvSpPr>
            <p:cNvPr id="298" name="Google Shape;298;h32a9095667746e33_0_34"/>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299" name="Google Shape;299;h32a9095667746e33_0_34"/>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00" name="Google Shape;300;h32a9095667746e33_0_34"/>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01" name="Google Shape;301;h32a9095667746e33_0_34"/>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02" name="Google Shape;302;h32a9095667746e33_0_34"/>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03" name="Google Shape;303;h32a9095667746e33_0_34"/>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04" name="Google Shape;304;h32a9095667746e33_0_34"/>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05" name="Google Shape;305;h32a9095667746e33_0_34"/>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06" name="Google Shape;306;h32a9095667746e33_0_34"/>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07" name="Google Shape;307;h32a9095667746e33_0_34"/>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08" name="Google Shape;308;h32a9095667746e33_0_34"/>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실무진용 부록</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09" name="Google Shape;309;h32a9095667746e33_0_34"/>
          <p:cNvSpPr txBox="1"/>
          <p:nvPr/>
        </p:nvSpPr>
        <p:spPr>
          <a:xfrm>
            <a:off x="1437501" y="920715"/>
            <a:ext cx="83460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10</a:t>
            </a:r>
            <a:endParaRPr/>
          </a:p>
        </p:txBody>
      </p:sp>
      <p:sp>
        <p:nvSpPr>
          <p:cNvPr id="310" name="Google Shape;310;h32a9095667746e33_0_34"/>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숫자의 출처를 남긴다</a:t>
            </a:r>
            <a:endParaRPr/>
          </a:p>
        </p:txBody>
      </p:sp>
      <p:sp>
        <p:nvSpPr>
          <p:cNvPr id="311" name="Google Shape;311;h32a9095667746e33_0_34"/>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보고서의 금액과 판정이 어디서 나왔는지 부록에서 추적할 수 있게 했습니다.</a:t>
            </a:r>
            <a:endParaRPr/>
          </a:p>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화면은 SCAN-2026-002의 4.2 생성 방식과 4.3 과징금 노출 산정입니다.</a:t>
            </a:r>
            <a:endParaRPr/>
          </a:p>
        </p:txBody>
      </p:sp>
      <p:sp>
        <p:nvSpPr>
          <p:cNvPr id="312" name="Google Shape;312;h32a9095667746e33_0_34"/>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부록 구성</a:t>
            </a:r>
            <a:endParaRPr/>
          </a:p>
        </p:txBody>
      </p:sp>
      <p:sp>
        <p:nvSpPr>
          <p:cNvPr id="313" name="Google Shape;313;h32a9095667746e33_0_34"/>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4.1 기준 문서 원본 목록</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4.2 보고서 생성 방식</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4.3 과징금 노출 산정</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4.4~4.5 우선순위·가정·제외</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grpSp>
        <p:nvGrpSpPr>
          <p:cNvPr id="577" name="Google Shape;577;p12"/>
          <p:cNvGrpSpPr/>
          <p:nvPr/>
        </p:nvGrpSpPr>
        <p:grpSpPr>
          <a:xfrm>
            <a:off x="-1081198" y="3274348"/>
            <a:ext cx="20615256" cy="7012652"/>
            <a:chOff x="-99237" y="-1"/>
            <a:chExt cx="27487007" cy="9350203"/>
          </a:xfrm>
        </p:grpSpPr>
        <p:grpSp>
          <p:nvGrpSpPr>
            <p:cNvPr id="578" name="Google Shape;578;p12"/>
            <p:cNvGrpSpPr/>
            <p:nvPr/>
          </p:nvGrpSpPr>
          <p:grpSpPr>
            <a:xfrm rot="-5400000">
              <a:off x="11107419" y="-11206657"/>
              <a:ext cx="4770675" cy="27183987"/>
              <a:chOff x="0" y="-38100"/>
              <a:chExt cx="1831597" cy="10436700"/>
            </a:xfrm>
          </p:grpSpPr>
          <p:sp>
            <p:nvSpPr>
              <p:cNvPr id="579" name="Google Shape;579;p12"/>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580" name="Google Shape;580;p12"/>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81" name="Google Shape;581;p12"/>
            <p:cNvGrpSpPr/>
            <p:nvPr/>
          </p:nvGrpSpPr>
          <p:grpSpPr>
            <a:xfrm rot="-5400000">
              <a:off x="11636974" y="-6400594"/>
              <a:ext cx="4579528" cy="26922063"/>
              <a:chOff x="0" y="-38100"/>
              <a:chExt cx="1758210" cy="10336140"/>
            </a:xfrm>
          </p:grpSpPr>
          <p:sp>
            <p:nvSpPr>
              <p:cNvPr id="582" name="Google Shape;582;p12"/>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583" name="Google Shape;583;p12"/>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84" name="Google Shape;584;p12"/>
          <p:cNvGrpSpPr/>
          <p:nvPr/>
        </p:nvGrpSpPr>
        <p:grpSpPr>
          <a:xfrm>
            <a:off x="731085" y="622849"/>
            <a:ext cx="16825832" cy="9050183"/>
            <a:chOff x="0" y="-108814"/>
            <a:chExt cx="22434442" cy="12066910"/>
          </a:xfrm>
        </p:grpSpPr>
        <p:grpSp>
          <p:nvGrpSpPr>
            <p:cNvPr id="585" name="Google Shape;585;p12"/>
            <p:cNvGrpSpPr/>
            <p:nvPr/>
          </p:nvGrpSpPr>
          <p:grpSpPr>
            <a:xfrm>
              <a:off x="26537" y="10214890"/>
              <a:ext cx="22386981" cy="1743206"/>
              <a:chOff x="0" y="-47625"/>
              <a:chExt cx="9809754" cy="763855"/>
            </a:xfrm>
          </p:grpSpPr>
          <p:sp>
            <p:nvSpPr>
              <p:cNvPr id="586" name="Google Shape;586;p12"/>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587" name="Google Shape;587;p12"/>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88" name="Google Shape;588;p12"/>
            <p:cNvGrpSpPr/>
            <p:nvPr/>
          </p:nvGrpSpPr>
          <p:grpSpPr>
            <a:xfrm>
              <a:off x="0" y="-108814"/>
              <a:ext cx="22434442" cy="11946255"/>
              <a:chOff x="0" y="-47625"/>
              <a:chExt cx="9818922" cy="5228539"/>
            </a:xfrm>
          </p:grpSpPr>
          <p:sp>
            <p:nvSpPr>
              <p:cNvPr id="589" name="Google Shape;589;p12"/>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590" name="Google Shape;590;p12"/>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91" name="Google Shape;591;p12"/>
          <p:cNvGrpSpPr/>
          <p:nvPr/>
        </p:nvGrpSpPr>
        <p:grpSpPr>
          <a:xfrm>
            <a:off x="763743" y="662703"/>
            <a:ext cx="16760151" cy="1561172"/>
            <a:chOff x="0" y="-38100"/>
            <a:chExt cx="8581180" cy="799319"/>
          </a:xfrm>
        </p:grpSpPr>
        <p:sp>
          <p:nvSpPr>
            <p:cNvPr id="592" name="Google Shape;592;p12"/>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593" name="Google Shape;593;p12"/>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94" name="Google Shape;594;p12"/>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595" name="Google Shape;595;p12"/>
          <p:cNvSpPr txBox="1"/>
          <p:nvPr/>
        </p:nvSpPr>
        <p:spPr>
          <a:xfrm>
            <a:off x="2394993" y="893156"/>
            <a:ext cx="7519287" cy="1114425"/>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비교 실험</a:t>
            </a:r>
            <a:endParaRPr/>
          </a:p>
        </p:txBody>
      </p:sp>
      <p:sp>
        <p:nvSpPr>
          <p:cNvPr id="596" name="Google Shape;596;p12"/>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11</a:t>
            </a:r>
            <a:endParaRPr/>
          </a:p>
        </p:txBody>
      </p:sp>
      <p:grpSp>
        <p:nvGrpSpPr>
          <p:cNvPr id="597" name="Google Shape;597;p12"/>
          <p:cNvGrpSpPr/>
          <p:nvPr/>
        </p:nvGrpSpPr>
        <p:grpSpPr>
          <a:xfrm>
            <a:off x="2089657" y="2690706"/>
            <a:ext cx="6858108" cy="6264656"/>
            <a:chOff x="0" y="-47625"/>
            <a:chExt cx="1941975" cy="1773931"/>
          </a:xfrm>
        </p:grpSpPr>
        <p:sp>
          <p:nvSpPr>
            <p:cNvPr id="598" name="Google Shape;598;p12"/>
            <p:cNvSpPr/>
            <p:nvPr/>
          </p:nvSpPr>
          <p:spPr>
            <a:xfrm>
              <a:off x="0" y="0"/>
              <a:ext cx="1941975" cy="1726306"/>
            </a:xfrm>
            <a:custGeom>
              <a:avLst/>
              <a:gdLst/>
              <a:ahLst/>
              <a:cxnLst/>
              <a:rect l="l" t="t" r="r" b="b"/>
              <a:pathLst>
                <a:path w="1941975" h="1726306" extrusionOk="0">
                  <a:moveTo>
                    <a:pt x="0" y="0"/>
                  </a:moveTo>
                  <a:lnTo>
                    <a:pt x="1941975" y="0"/>
                  </a:lnTo>
                  <a:lnTo>
                    <a:pt x="1941975" y="1726306"/>
                  </a:lnTo>
                  <a:lnTo>
                    <a:pt x="0" y="1726306"/>
                  </a:lnTo>
                  <a:close/>
                </a:path>
              </a:pathLst>
            </a:custGeom>
            <a:solidFill>
              <a:srgbClr val="FFFFFF">
                <a:alpha val="77647"/>
              </a:srgbClr>
            </a:solidFill>
            <a:ln w="9525" cap="sq" cmpd="sng">
              <a:solidFill>
                <a:srgbClr val="20538B">
                  <a:alpha val="77647"/>
                </a:srgbClr>
              </a:solidFill>
              <a:prstDash val="solid"/>
              <a:miter lim="8000"/>
              <a:headEnd type="none" w="sm" len="sm"/>
              <a:tailEnd type="none" w="sm" len="sm"/>
            </a:ln>
          </p:spPr>
        </p:sp>
        <p:sp>
          <p:nvSpPr>
            <p:cNvPr id="599" name="Google Shape;599;p12"/>
            <p:cNvSpPr txBox="1"/>
            <p:nvPr/>
          </p:nvSpPr>
          <p:spPr>
            <a:xfrm>
              <a:off x="0" y="-47625"/>
              <a:ext cx="1941975" cy="1773931"/>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600" name="Google Shape;600;p12"/>
          <p:cNvPicPr preferRelativeResize="0"/>
          <p:nvPr/>
        </p:nvPicPr>
        <p:blipFill rotWithShape="1">
          <a:blip r:embed="rId4">
            <a:alphaModFix/>
          </a:blip>
          <a:srcRect/>
          <a:stretch/>
        </p:blipFill>
        <p:spPr>
          <a:xfrm>
            <a:off x="1695661" y="2448005"/>
            <a:ext cx="7668917" cy="7009390"/>
          </a:xfrm>
          <a:prstGeom prst="rect">
            <a:avLst/>
          </a:prstGeom>
          <a:noFill/>
          <a:ln>
            <a:noFill/>
          </a:ln>
        </p:spPr>
      </p:pic>
      <p:grpSp>
        <p:nvGrpSpPr>
          <p:cNvPr id="601" name="Google Shape;601;p12"/>
          <p:cNvGrpSpPr/>
          <p:nvPr/>
        </p:nvGrpSpPr>
        <p:grpSpPr>
          <a:xfrm>
            <a:off x="10058158" y="2689243"/>
            <a:ext cx="5976595" cy="871374"/>
            <a:chOff x="0" y="-47625"/>
            <a:chExt cx="1677766" cy="244615"/>
          </a:xfrm>
        </p:grpSpPr>
        <p:sp>
          <p:nvSpPr>
            <p:cNvPr id="602" name="Google Shape;602;p12"/>
            <p:cNvSpPr/>
            <p:nvPr/>
          </p:nvSpPr>
          <p:spPr>
            <a:xfrm>
              <a:off x="0" y="0"/>
              <a:ext cx="1677766" cy="196990"/>
            </a:xfrm>
            <a:custGeom>
              <a:avLst/>
              <a:gdLst/>
              <a:ahLst/>
              <a:cxnLst/>
              <a:rect l="l" t="t" r="r" b="b"/>
              <a:pathLst>
                <a:path w="1677766" h="196990" extrusionOk="0">
                  <a:moveTo>
                    <a:pt x="0" y="0"/>
                  </a:moveTo>
                  <a:lnTo>
                    <a:pt x="1677766" y="0"/>
                  </a:lnTo>
                  <a:lnTo>
                    <a:pt x="1677766" y="196990"/>
                  </a:lnTo>
                  <a:lnTo>
                    <a:pt x="0" y="196990"/>
                  </a:lnTo>
                  <a:close/>
                </a:path>
              </a:pathLst>
            </a:custGeom>
            <a:solidFill>
              <a:srgbClr val="EEF6FF"/>
            </a:solidFill>
            <a:ln w="9525" cap="sq" cmpd="sng">
              <a:solidFill>
                <a:srgbClr val="20538B"/>
              </a:solidFill>
              <a:prstDash val="solid"/>
              <a:miter lim="8000"/>
              <a:headEnd type="none" w="sm" len="sm"/>
              <a:tailEnd type="none" w="sm" len="sm"/>
            </a:ln>
          </p:spPr>
        </p:sp>
        <p:sp>
          <p:nvSpPr>
            <p:cNvPr id="603" name="Google Shape;603;p12"/>
            <p:cNvSpPr txBox="1"/>
            <p:nvPr/>
          </p:nvSpPr>
          <p:spPr>
            <a:xfrm>
              <a:off x="0" y="-47625"/>
              <a:ext cx="1677766" cy="244615"/>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04" name="Google Shape;604;p12"/>
          <p:cNvGrpSpPr/>
          <p:nvPr/>
        </p:nvGrpSpPr>
        <p:grpSpPr>
          <a:xfrm>
            <a:off x="9888830" y="5425262"/>
            <a:ext cx="6145923" cy="3530100"/>
            <a:chOff x="0" y="-47625"/>
            <a:chExt cx="1725300" cy="990979"/>
          </a:xfrm>
        </p:grpSpPr>
        <p:sp>
          <p:nvSpPr>
            <p:cNvPr id="605" name="Google Shape;605;p12"/>
            <p:cNvSpPr/>
            <p:nvPr/>
          </p:nvSpPr>
          <p:spPr>
            <a:xfrm>
              <a:off x="0" y="0"/>
              <a:ext cx="1725300" cy="943354"/>
            </a:xfrm>
            <a:custGeom>
              <a:avLst/>
              <a:gdLst/>
              <a:ahLst/>
              <a:cxnLst/>
              <a:rect l="l" t="t" r="r" b="b"/>
              <a:pathLst>
                <a:path w="1725300" h="943354" extrusionOk="0">
                  <a:moveTo>
                    <a:pt x="0" y="0"/>
                  </a:moveTo>
                  <a:lnTo>
                    <a:pt x="1725300" y="0"/>
                  </a:lnTo>
                  <a:lnTo>
                    <a:pt x="1725300" y="943354"/>
                  </a:lnTo>
                  <a:lnTo>
                    <a:pt x="0" y="943354"/>
                  </a:lnTo>
                  <a:close/>
                </a:path>
              </a:pathLst>
            </a:custGeom>
            <a:solidFill>
              <a:srgbClr val="EEF6FF">
                <a:alpha val="40784"/>
              </a:srgbClr>
            </a:solidFill>
            <a:ln>
              <a:noFill/>
            </a:ln>
          </p:spPr>
        </p:sp>
        <p:sp>
          <p:nvSpPr>
            <p:cNvPr id="606" name="Google Shape;606;p12"/>
            <p:cNvSpPr txBox="1"/>
            <p:nvPr/>
          </p:nvSpPr>
          <p:spPr>
            <a:xfrm>
              <a:off x="0" y="-47625"/>
              <a:ext cx="1725300" cy="990979"/>
            </a:xfrm>
            <a:prstGeom prst="rect">
              <a:avLst/>
            </a:prstGeom>
            <a:noFill/>
            <a:ln>
              <a:noFill/>
            </a:ln>
          </p:spPr>
          <p:txBody>
            <a:bodyPr spcFirstLastPara="1" wrap="square" lIns="50800" tIns="50800" rIns="50800" bIns="50800" anchor="ctr" anchorCtr="0">
              <a:noAutofit/>
            </a:bodyPr>
            <a:lstStyle/>
            <a:p>
              <a:pPr marL="0" marR="0" lvl="0" indent="0" algn="ctr" rtl="0">
                <a:lnSpc>
                  <a:spcPct val="188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07" name="Google Shape;607;p12"/>
          <p:cNvSpPr txBox="1"/>
          <p:nvPr/>
        </p:nvSpPr>
        <p:spPr>
          <a:xfrm>
            <a:off x="10090381" y="3853681"/>
            <a:ext cx="5843596" cy="1383777"/>
          </a:xfrm>
          <a:prstGeom prst="rect">
            <a:avLst/>
          </a:prstGeom>
          <a:noFill/>
          <a:ln>
            <a:noFill/>
          </a:ln>
        </p:spPr>
        <p:txBody>
          <a:bodyPr spcFirstLastPara="1" wrap="square" lIns="0" tIns="0" rIns="0" bIns="0" anchor="t" anchorCtr="0">
            <a:spAutoFit/>
          </a:bodyPr>
          <a:lstStyle/>
          <a:p>
            <a:pPr marL="0" marR="0" lvl="0" indent="0" algn="l" rtl="0">
              <a:lnSpc>
                <a:spcPct val="154040"/>
              </a:lnSpc>
              <a:spcBef>
                <a:spcPts val="0"/>
              </a:spcBef>
              <a:spcAft>
                <a:spcPts val="0"/>
              </a:spcAft>
              <a:buNone/>
            </a:pPr>
            <a:r>
              <a:rPr lang="en-US" sz="1782" b="0" i="0" u="none" strike="noStrike" cap="none">
                <a:solidFill>
                  <a:srgbClr val="94B6DA"/>
                </a:solidFill>
                <a:latin typeface="Arial"/>
                <a:ea typeface="Arial"/>
                <a:cs typeface="Arial"/>
                <a:sym typeface="Arial"/>
              </a:rPr>
              <a:t>GPT-4o·temperature 0.2·같은 출력 형식으로 진단 3건을 5회씩 생성해 자동 채점했습니다.</a:t>
            </a:r>
            <a:endParaRPr/>
          </a:p>
          <a:p>
            <a:pPr marL="0" marR="0" lvl="0" indent="0" algn="l" rtl="0">
              <a:lnSpc>
                <a:spcPct val="154040"/>
              </a:lnSpc>
              <a:spcBef>
                <a:spcPts val="0"/>
              </a:spcBef>
              <a:spcAft>
                <a:spcPts val="0"/>
              </a:spcAft>
              <a:buNone/>
            </a:pPr>
            <a:r>
              <a:rPr lang="en-US" sz="1782" b="0" i="0" u="none" strike="noStrike" cap="none">
                <a:solidFill>
                  <a:srgbClr val="94B6DA"/>
                </a:solidFill>
                <a:latin typeface="Arial"/>
                <a:ea typeface="Arial"/>
                <a:cs typeface="Arial"/>
                <a:sym typeface="Arial"/>
              </a:rPr>
              <a:t>LLM 단독은 진단 JSON·매출·사례 과징금을 그대로 받았습니다.</a:t>
            </a:r>
            <a:endParaRPr/>
          </a:p>
        </p:txBody>
      </p:sp>
      <p:sp>
        <p:nvSpPr>
          <p:cNvPr id="608" name="Google Shape;608;p12"/>
          <p:cNvSpPr txBox="1"/>
          <p:nvPr/>
        </p:nvSpPr>
        <p:spPr>
          <a:xfrm>
            <a:off x="10343541" y="2944132"/>
            <a:ext cx="5405830" cy="490855"/>
          </a:xfrm>
          <a:prstGeom prst="rect">
            <a:avLst/>
          </a:prstGeom>
          <a:noFill/>
          <a:ln>
            <a:noFill/>
          </a:ln>
        </p:spPr>
        <p:txBody>
          <a:bodyPr spcFirstLastPara="1" wrap="square" lIns="0" tIns="0" rIns="0" bIns="0" anchor="t" anchorCtr="0">
            <a:spAutoFit/>
          </a:bodyPr>
          <a:lstStyle/>
          <a:p>
            <a:pPr marL="0" marR="0" lvl="0" indent="0" algn="ctr" rtl="0">
              <a:lnSpc>
                <a:spcPct val="140014"/>
              </a:lnSpc>
              <a:spcBef>
                <a:spcPts val="0"/>
              </a:spcBef>
              <a:spcAft>
                <a:spcPts val="0"/>
              </a:spcAft>
              <a:buNone/>
            </a:pPr>
            <a:r>
              <a:rPr lang="en-US" sz="2799" b="1" i="0" u="none" strike="noStrike" cap="none">
                <a:solidFill>
                  <a:srgbClr val="20538B"/>
                </a:solidFill>
                <a:latin typeface="Arial"/>
                <a:ea typeface="Arial"/>
                <a:cs typeface="Arial"/>
                <a:sym typeface="Arial"/>
              </a:rPr>
              <a:t>실험 설계</a:t>
            </a:r>
            <a:endParaRPr/>
          </a:p>
        </p:txBody>
      </p:sp>
      <p:sp>
        <p:nvSpPr>
          <p:cNvPr id="609" name="Google Shape;609;p12"/>
          <p:cNvSpPr/>
          <p:nvPr/>
        </p:nvSpPr>
        <p:spPr>
          <a:xfrm>
            <a:off x="10281349" y="5965903"/>
            <a:ext cx="206063" cy="199881"/>
          </a:xfrm>
          <a:custGeom>
            <a:avLst/>
            <a:gdLst/>
            <a:ahLst/>
            <a:cxnLst/>
            <a:rect l="l" t="t" r="r" b="b"/>
            <a:pathLst>
              <a:path w="206063" h="199881" extrusionOk="0">
                <a:moveTo>
                  <a:pt x="0" y="0"/>
                </a:moveTo>
                <a:lnTo>
                  <a:pt x="206063" y="0"/>
                </a:lnTo>
                <a:lnTo>
                  <a:pt x="206063" y="199880"/>
                </a:lnTo>
                <a:lnTo>
                  <a:pt x="0" y="199880"/>
                </a:lnTo>
                <a:lnTo>
                  <a:pt x="0" y="0"/>
                </a:lnTo>
                <a:close/>
              </a:path>
            </a:pathLst>
          </a:custGeom>
          <a:blipFill rotWithShape="1">
            <a:blip r:embed="rId5">
              <a:alphaModFix/>
            </a:blip>
            <a:stretch>
              <a:fillRect/>
            </a:stretch>
          </a:blipFill>
          <a:ln>
            <a:noFill/>
          </a:ln>
        </p:spPr>
      </p:sp>
      <p:sp>
        <p:nvSpPr>
          <p:cNvPr id="610" name="Google Shape;610;p12"/>
          <p:cNvSpPr txBox="1"/>
          <p:nvPr/>
        </p:nvSpPr>
        <p:spPr>
          <a:xfrm>
            <a:off x="10789920" y="5757845"/>
            <a:ext cx="2743200" cy="485394"/>
          </a:xfrm>
          <a:prstGeom prst="rect">
            <a:avLst/>
          </a:prstGeom>
          <a:noFill/>
          <a:ln>
            <a:noFill/>
          </a:ln>
        </p:spPr>
        <p:txBody>
          <a:bodyPr spcFirstLastPara="1" wrap="square" lIns="0" tIns="0" rIns="0" bIns="0" anchor="t" anchorCtr="0">
            <a:spAutoFit/>
          </a:bodyPr>
          <a:lstStyle/>
          <a:p>
            <a:pPr marL="0" marR="0" lvl="0" indent="0" algn="l" rtl="0">
              <a:lnSpc>
                <a:spcPct val="167000"/>
              </a:lnSpc>
              <a:spcBef>
                <a:spcPts val="0"/>
              </a:spcBef>
              <a:spcAft>
                <a:spcPts val="0"/>
              </a:spcAft>
              <a:buNone/>
            </a:pPr>
            <a:r>
              <a:rPr lang="en-US" sz="2000" b="1" i="0" u="none" strike="noStrike" cap="none">
                <a:solidFill>
                  <a:srgbClr val="20538B"/>
                </a:solidFill>
                <a:latin typeface="Arial"/>
                <a:ea typeface="Arial"/>
                <a:cs typeface="Arial"/>
                <a:sym typeface="Arial"/>
              </a:rPr>
              <a:t>오류 있는 보고서</a:t>
            </a:r>
            <a:endParaRPr/>
          </a:p>
        </p:txBody>
      </p:sp>
      <p:sp>
        <p:nvSpPr>
          <p:cNvPr id="611" name="Google Shape;611;p12"/>
          <p:cNvSpPr txBox="1"/>
          <p:nvPr/>
        </p:nvSpPr>
        <p:spPr>
          <a:xfrm>
            <a:off x="13533120" y="5757845"/>
            <a:ext cx="2651760" cy="485394"/>
          </a:xfrm>
          <a:prstGeom prst="rect">
            <a:avLst/>
          </a:prstGeom>
          <a:noFill/>
          <a:ln>
            <a:noFill/>
          </a:ln>
        </p:spPr>
        <p:txBody>
          <a:bodyPr spcFirstLastPara="1" wrap="square" lIns="0" tIns="0" rIns="0" bIns="0" anchor="t" anchorCtr="0">
            <a:spAutoFit/>
          </a:bodyPr>
          <a:lstStyle/>
          <a:p>
            <a:pPr marL="0" marR="0" lvl="0" indent="0" algn="l" rtl="0">
              <a:lnSpc>
                <a:spcPct val="167000"/>
              </a:lnSpc>
              <a:spcBef>
                <a:spcPts val="0"/>
              </a:spcBef>
              <a:spcAft>
                <a:spcPts val="0"/>
              </a:spcAft>
              <a:buNone/>
            </a:pPr>
            <a:r>
              <a:rPr lang="en-US" sz="2000" b="1" i="0" u="none" strike="noStrike" cap="none">
                <a:solidFill>
                  <a:srgbClr val="20538B"/>
                </a:solidFill>
                <a:latin typeface="Arial"/>
                <a:ea typeface="Arial"/>
                <a:cs typeface="Arial"/>
                <a:sym typeface="Arial"/>
              </a:rPr>
              <a:t>15/15 → 0/15</a:t>
            </a:r>
            <a:endParaRPr/>
          </a:p>
        </p:txBody>
      </p:sp>
      <p:sp>
        <p:nvSpPr>
          <p:cNvPr id="612" name="Google Shape;612;p12"/>
          <p:cNvSpPr/>
          <p:nvPr/>
        </p:nvSpPr>
        <p:spPr>
          <a:xfrm>
            <a:off x="10281349" y="6740746"/>
            <a:ext cx="206063" cy="199881"/>
          </a:xfrm>
          <a:custGeom>
            <a:avLst/>
            <a:gdLst/>
            <a:ahLst/>
            <a:cxnLst/>
            <a:rect l="l" t="t" r="r" b="b"/>
            <a:pathLst>
              <a:path w="206063" h="199881" extrusionOk="0">
                <a:moveTo>
                  <a:pt x="0" y="0"/>
                </a:moveTo>
                <a:lnTo>
                  <a:pt x="206063" y="0"/>
                </a:lnTo>
                <a:lnTo>
                  <a:pt x="206063" y="199881"/>
                </a:lnTo>
                <a:lnTo>
                  <a:pt x="0" y="199881"/>
                </a:lnTo>
                <a:lnTo>
                  <a:pt x="0" y="0"/>
                </a:lnTo>
                <a:close/>
              </a:path>
            </a:pathLst>
          </a:custGeom>
          <a:blipFill rotWithShape="1">
            <a:blip r:embed="rId5">
              <a:alphaModFix/>
            </a:blip>
            <a:stretch>
              <a:fillRect/>
            </a:stretch>
          </a:blipFill>
          <a:ln>
            <a:noFill/>
          </a:ln>
        </p:spPr>
      </p:sp>
      <p:sp>
        <p:nvSpPr>
          <p:cNvPr id="613" name="Google Shape;613;p12"/>
          <p:cNvSpPr txBox="1"/>
          <p:nvPr/>
        </p:nvSpPr>
        <p:spPr>
          <a:xfrm>
            <a:off x="10789920" y="6532688"/>
            <a:ext cx="2743200" cy="485394"/>
          </a:xfrm>
          <a:prstGeom prst="rect">
            <a:avLst/>
          </a:prstGeom>
          <a:noFill/>
          <a:ln>
            <a:noFill/>
          </a:ln>
        </p:spPr>
        <p:txBody>
          <a:bodyPr spcFirstLastPara="1" wrap="square" lIns="0" tIns="0" rIns="0" bIns="0" anchor="t" anchorCtr="0">
            <a:spAutoFit/>
          </a:bodyPr>
          <a:lstStyle/>
          <a:p>
            <a:pPr marL="0" marR="0" lvl="0" indent="0" algn="l" rtl="0">
              <a:lnSpc>
                <a:spcPct val="167000"/>
              </a:lnSpc>
              <a:spcBef>
                <a:spcPts val="0"/>
              </a:spcBef>
              <a:spcAft>
                <a:spcPts val="0"/>
              </a:spcAft>
              <a:buNone/>
            </a:pPr>
            <a:r>
              <a:rPr lang="en-US" sz="2000" b="1" i="0" u="none" strike="noStrike" cap="none">
                <a:solidFill>
                  <a:srgbClr val="20538B"/>
                </a:solidFill>
                <a:latin typeface="Arial"/>
                <a:ea typeface="Arial"/>
                <a:cs typeface="Arial"/>
                <a:sym typeface="Arial"/>
              </a:rPr>
              <a:t>양호 항목 오보</a:t>
            </a:r>
            <a:endParaRPr/>
          </a:p>
        </p:txBody>
      </p:sp>
      <p:sp>
        <p:nvSpPr>
          <p:cNvPr id="614" name="Google Shape;614;p12"/>
          <p:cNvSpPr txBox="1"/>
          <p:nvPr/>
        </p:nvSpPr>
        <p:spPr>
          <a:xfrm>
            <a:off x="13533120" y="6532688"/>
            <a:ext cx="2651760" cy="485394"/>
          </a:xfrm>
          <a:prstGeom prst="rect">
            <a:avLst/>
          </a:prstGeom>
          <a:noFill/>
          <a:ln>
            <a:noFill/>
          </a:ln>
        </p:spPr>
        <p:txBody>
          <a:bodyPr spcFirstLastPara="1" wrap="square" lIns="0" tIns="0" rIns="0" bIns="0" anchor="t" anchorCtr="0">
            <a:spAutoFit/>
          </a:bodyPr>
          <a:lstStyle/>
          <a:p>
            <a:pPr marL="0" marR="0" lvl="0" indent="0" algn="l" rtl="0">
              <a:lnSpc>
                <a:spcPct val="167000"/>
              </a:lnSpc>
              <a:spcBef>
                <a:spcPts val="0"/>
              </a:spcBef>
              <a:spcAft>
                <a:spcPts val="0"/>
              </a:spcAft>
              <a:buNone/>
            </a:pPr>
            <a:r>
              <a:rPr lang="en-US" sz="2000" b="1" i="0" u="none" strike="noStrike" cap="none">
                <a:solidFill>
                  <a:srgbClr val="20538B"/>
                </a:solidFill>
                <a:latin typeface="Arial"/>
                <a:ea typeface="Arial"/>
                <a:cs typeface="Arial"/>
                <a:sym typeface="Arial"/>
              </a:rPr>
              <a:t>23건 → 0건</a:t>
            </a:r>
            <a:endParaRPr/>
          </a:p>
        </p:txBody>
      </p:sp>
      <p:sp>
        <p:nvSpPr>
          <p:cNvPr id="615" name="Google Shape;615;p12"/>
          <p:cNvSpPr/>
          <p:nvPr/>
        </p:nvSpPr>
        <p:spPr>
          <a:xfrm>
            <a:off x="10281349" y="7515589"/>
            <a:ext cx="206063" cy="199881"/>
          </a:xfrm>
          <a:custGeom>
            <a:avLst/>
            <a:gdLst/>
            <a:ahLst/>
            <a:cxnLst/>
            <a:rect l="l" t="t" r="r" b="b"/>
            <a:pathLst>
              <a:path w="206063" h="199881" extrusionOk="0">
                <a:moveTo>
                  <a:pt x="0" y="0"/>
                </a:moveTo>
                <a:lnTo>
                  <a:pt x="206063" y="0"/>
                </a:lnTo>
                <a:lnTo>
                  <a:pt x="206063" y="199881"/>
                </a:lnTo>
                <a:lnTo>
                  <a:pt x="0" y="199881"/>
                </a:lnTo>
                <a:lnTo>
                  <a:pt x="0" y="0"/>
                </a:lnTo>
                <a:close/>
              </a:path>
            </a:pathLst>
          </a:custGeom>
          <a:blipFill rotWithShape="1">
            <a:blip r:embed="rId5">
              <a:alphaModFix/>
            </a:blip>
            <a:stretch>
              <a:fillRect/>
            </a:stretch>
          </a:blipFill>
          <a:ln>
            <a:noFill/>
          </a:ln>
        </p:spPr>
      </p:sp>
      <p:sp>
        <p:nvSpPr>
          <p:cNvPr id="616" name="Google Shape;616;p12"/>
          <p:cNvSpPr txBox="1"/>
          <p:nvPr/>
        </p:nvSpPr>
        <p:spPr>
          <a:xfrm>
            <a:off x="10789920" y="7307531"/>
            <a:ext cx="2743200" cy="485394"/>
          </a:xfrm>
          <a:prstGeom prst="rect">
            <a:avLst/>
          </a:prstGeom>
          <a:noFill/>
          <a:ln>
            <a:noFill/>
          </a:ln>
        </p:spPr>
        <p:txBody>
          <a:bodyPr spcFirstLastPara="1" wrap="square" lIns="0" tIns="0" rIns="0" bIns="0" anchor="t" anchorCtr="0">
            <a:spAutoFit/>
          </a:bodyPr>
          <a:lstStyle/>
          <a:p>
            <a:pPr marL="0" marR="0" lvl="0" indent="0" algn="l" rtl="0">
              <a:lnSpc>
                <a:spcPct val="167000"/>
              </a:lnSpc>
              <a:spcBef>
                <a:spcPts val="0"/>
              </a:spcBef>
              <a:spcAft>
                <a:spcPts val="0"/>
              </a:spcAft>
              <a:buNone/>
            </a:pPr>
            <a:r>
              <a:rPr lang="en-US" sz="2000" b="1" i="0" u="none" strike="noStrike" cap="none">
                <a:solidFill>
                  <a:srgbClr val="20538B"/>
                </a:solidFill>
                <a:latin typeface="Arial"/>
                <a:ea typeface="Arial"/>
                <a:cs typeface="Arial"/>
                <a:sym typeface="Arial"/>
              </a:rPr>
              <a:t>관련성 낮은 사례</a:t>
            </a:r>
            <a:endParaRPr/>
          </a:p>
        </p:txBody>
      </p:sp>
      <p:sp>
        <p:nvSpPr>
          <p:cNvPr id="617" name="Google Shape;617;p12"/>
          <p:cNvSpPr txBox="1"/>
          <p:nvPr/>
        </p:nvSpPr>
        <p:spPr>
          <a:xfrm>
            <a:off x="13533120" y="7307531"/>
            <a:ext cx="2651760" cy="485394"/>
          </a:xfrm>
          <a:prstGeom prst="rect">
            <a:avLst/>
          </a:prstGeom>
          <a:noFill/>
          <a:ln>
            <a:noFill/>
          </a:ln>
        </p:spPr>
        <p:txBody>
          <a:bodyPr spcFirstLastPara="1" wrap="square" lIns="0" tIns="0" rIns="0" bIns="0" anchor="t" anchorCtr="0">
            <a:spAutoFit/>
          </a:bodyPr>
          <a:lstStyle/>
          <a:p>
            <a:pPr marL="0" marR="0" lvl="0" indent="0" algn="l" rtl="0">
              <a:lnSpc>
                <a:spcPct val="167000"/>
              </a:lnSpc>
              <a:spcBef>
                <a:spcPts val="0"/>
              </a:spcBef>
              <a:spcAft>
                <a:spcPts val="0"/>
              </a:spcAft>
              <a:buNone/>
            </a:pPr>
            <a:r>
              <a:rPr lang="en-US" sz="2000" b="1" i="0" u="none" strike="noStrike" cap="none">
                <a:solidFill>
                  <a:srgbClr val="20538B"/>
                </a:solidFill>
                <a:latin typeface="Arial"/>
                <a:ea typeface="Arial"/>
                <a:cs typeface="Arial"/>
                <a:sym typeface="Arial"/>
              </a:rPr>
              <a:t>13건 → 0건</a:t>
            </a:r>
            <a:endParaRPr/>
          </a:p>
        </p:txBody>
      </p:sp>
      <p:sp>
        <p:nvSpPr>
          <p:cNvPr id="618" name="Google Shape;618;p12"/>
          <p:cNvSpPr/>
          <p:nvPr/>
        </p:nvSpPr>
        <p:spPr>
          <a:xfrm>
            <a:off x="10281349" y="8290433"/>
            <a:ext cx="206063" cy="199881"/>
          </a:xfrm>
          <a:custGeom>
            <a:avLst/>
            <a:gdLst/>
            <a:ahLst/>
            <a:cxnLst/>
            <a:rect l="l" t="t" r="r" b="b"/>
            <a:pathLst>
              <a:path w="206063" h="199881" extrusionOk="0">
                <a:moveTo>
                  <a:pt x="0" y="0"/>
                </a:moveTo>
                <a:lnTo>
                  <a:pt x="206063" y="0"/>
                </a:lnTo>
                <a:lnTo>
                  <a:pt x="206063" y="199880"/>
                </a:lnTo>
                <a:lnTo>
                  <a:pt x="0" y="199880"/>
                </a:lnTo>
                <a:lnTo>
                  <a:pt x="0" y="0"/>
                </a:lnTo>
                <a:close/>
              </a:path>
            </a:pathLst>
          </a:custGeom>
          <a:blipFill rotWithShape="1">
            <a:blip r:embed="rId5">
              <a:alphaModFix/>
            </a:blip>
            <a:stretch>
              <a:fillRect/>
            </a:stretch>
          </a:blipFill>
          <a:ln>
            <a:noFill/>
          </a:ln>
        </p:spPr>
      </p:sp>
      <p:sp>
        <p:nvSpPr>
          <p:cNvPr id="619" name="Google Shape;619;p12"/>
          <p:cNvSpPr txBox="1"/>
          <p:nvPr/>
        </p:nvSpPr>
        <p:spPr>
          <a:xfrm>
            <a:off x="10789920" y="8082375"/>
            <a:ext cx="2743200" cy="485394"/>
          </a:xfrm>
          <a:prstGeom prst="rect">
            <a:avLst/>
          </a:prstGeom>
          <a:noFill/>
          <a:ln>
            <a:noFill/>
          </a:ln>
        </p:spPr>
        <p:txBody>
          <a:bodyPr spcFirstLastPara="1" wrap="square" lIns="0" tIns="0" rIns="0" bIns="0" anchor="t" anchorCtr="0">
            <a:spAutoFit/>
          </a:bodyPr>
          <a:lstStyle/>
          <a:p>
            <a:pPr marL="0" marR="0" lvl="0" indent="0" algn="l" rtl="0">
              <a:lnSpc>
                <a:spcPct val="167000"/>
              </a:lnSpc>
              <a:spcBef>
                <a:spcPts val="0"/>
              </a:spcBef>
              <a:spcAft>
                <a:spcPts val="0"/>
              </a:spcAft>
              <a:buNone/>
            </a:pPr>
            <a:r>
              <a:rPr lang="en-US" sz="2000" b="1" i="0" u="none" strike="noStrike" cap="none">
                <a:solidFill>
                  <a:srgbClr val="20538B"/>
                </a:solidFill>
                <a:latin typeface="Arial"/>
                <a:ea typeface="Arial"/>
                <a:cs typeface="Arial"/>
                <a:sym typeface="Arial"/>
              </a:rPr>
              <a:t>요약 속 과징금</a:t>
            </a:r>
            <a:endParaRPr/>
          </a:p>
        </p:txBody>
      </p:sp>
      <p:sp>
        <p:nvSpPr>
          <p:cNvPr id="620" name="Google Shape;620;p12"/>
          <p:cNvSpPr txBox="1"/>
          <p:nvPr/>
        </p:nvSpPr>
        <p:spPr>
          <a:xfrm>
            <a:off x="13533120" y="8084663"/>
            <a:ext cx="2651760" cy="485394"/>
          </a:xfrm>
          <a:prstGeom prst="rect">
            <a:avLst/>
          </a:prstGeom>
          <a:noFill/>
          <a:ln>
            <a:noFill/>
          </a:ln>
        </p:spPr>
        <p:txBody>
          <a:bodyPr spcFirstLastPara="1" wrap="square" lIns="0" tIns="0" rIns="0" bIns="0" anchor="t" anchorCtr="0">
            <a:spAutoFit/>
          </a:bodyPr>
          <a:lstStyle/>
          <a:p>
            <a:pPr marL="0" marR="0" lvl="0" indent="0" algn="l" rtl="0">
              <a:lnSpc>
                <a:spcPct val="167000"/>
              </a:lnSpc>
              <a:spcBef>
                <a:spcPts val="0"/>
              </a:spcBef>
              <a:spcAft>
                <a:spcPts val="0"/>
              </a:spcAft>
              <a:buNone/>
            </a:pPr>
            <a:r>
              <a:rPr lang="en-US" sz="2000" b="1" i="0" u="none" strike="noStrike" cap="none">
                <a:solidFill>
                  <a:srgbClr val="20538B"/>
                </a:solidFill>
                <a:latin typeface="Arial"/>
                <a:ea typeface="Arial"/>
                <a:cs typeface="Arial"/>
                <a:sym typeface="Arial"/>
              </a:rPr>
              <a:t>5건 → 0건</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grpSp>
        <p:nvGrpSpPr>
          <p:cNvPr id="663" name="Google Shape;663;p14"/>
          <p:cNvGrpSpPr/>
          <p:nvPr/>
        </p:nvGrpSpPr>
        <p:grpSpPr>
          <a:xfrm>
            <a:off x="-1081198" y="3274348"/>
            <a:ext cx="20615256" cy="7012652"/>
            <a:chOff x="-99237" y="-1"/>
            <a:chExt cx="27487007" cy="9350203"/>
          </a:xfrm>
        </p:grpSpPr>
        <p:grpSp>
          <p:nvGrpSpPr>
            <p:cNvPr id="664" name="Google Shape;664;p14"/>
            <p:cNvGrpSpPr/>
            <p:nvPr/>
          </p:nvGrpSpPr>
          <p:grpSpPr>
            <a:xfrm rot="-5400000">
              <a:off x="11107419" y="-11206657"/>
              <a:ext cx="4770675" cy="27183987"/>
              <a:chOff x="0" y="-38100"/>
              <a:chExt cx="1831597" cy="10436700"/>
            </a:xfrm>
          </p:grpSpPr>
          <p:sp>
            <p:nvSpPr>
              <p:cNvPr id="665" name="Google Shape;665;p14"/>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666" name="Google Shape;666;p14"/>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67" name="Google Shape;667;p14"/>
            <p:cNvGrpSpPr/>
            <p:nvPr/>
          </p:nvGrpSpPr>
          <p:grpSpPr>
            <a:xfrm rot="-5400000">
              <a:off x="11636974" y="-6400594"/>
              <a:ext cx="4579528" cy="26922063"/>
              <a:chOff x="0" y="-38100"/>
              <a:chExt cx="1758210" cy="10336140"/>
            </a:xfrm>
          </p:grpSpPr>
          <p:sp>
            <p:nvSpPr>
              <p:cNvPr id="668" name="Google Shape;668;p14"/>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669" name="Google Shape;669;p14"/>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670" name="Google Shape;670;p14"/>
          <p:cNvGrpSpPr/>
          <p:nvPr/>
        </p:nvGrpSpPr>
        <p:grpSpPr>
          <a:xfrm>
            <a:off x="731085" y="622849"/>
            <a:ext cx="16825832" cy="9050183"/>
            <a:chOff x="0" y="-108814"/>
            <a:chExt cx="22434442" cy="12066910"/>
          </a:xfrm>
        </p:grpSpPr>
        <p:grpSp>
          <p:nvGrpSpPr>
            <p:cNvPr id="671" name="Google Shape;671;p14"/>
            <p:cNvGrpSpPr/>
            <p:nvPr/>
          </p:nvGrpSpPr>
          <p:grpSpPr>
            <a:xfrm>
              <a:off x="26537" y="10214890"/>
              <a:ext cx="22386981" cy="1743206"/>
              <a:chOff x="0" y="-47625"/>
              <a:chExt cx="9809754" cy="763855"/>
            </a:xfrm>
          </p:grpSpPr>
          <p:sp>
            <p:nvSpPr>
              <p:cNvPr id="672" name="Google Shape;672;p14"/>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673" name="Google Shape;673;p14"/>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74" name="Google Shape;674;p14"/>
            <p:cNvGrpSpPr/>
            <p:nvPr/>
          </p:nvGrpSpPr>
          <p:grpSpPr>
            <a:xfrm>
              <a:off x="0" y="-108814"/>
              <a:ext cx="22434442" cy="11946255"/>
              <a:chOff x="0" y="-47625"/>
              <a:chExt cx="9818922" cy="5228539"/>
            </a:xfrm>
          </p:grpSpPr>
          <p:sp>
            <p:nvSpPr>
              <p:cNvPr id="675" name="Google Shape;675;p14"/>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676" name="Google Shape;676;p14"/>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677" name="Google Shape;677;p14"/>
          <p:cNvGrpSpPr/>
          <p:nvPr/>
        </p:nvGrpSpPr>
        <p:grpSpPr>
          <a:xfrm>
            <a:off x="763743" y="662703"/>
            <a:ext cx="16760151" cy="1561172"/>
            <a:chOff x="0" y="-38100"/>
            <a:chExt cx="8581180" cy="799319"/>
          </a:xfrm>
        </p:grpSpPr>
        <p:sp>
          <p:nvSpPr>
            <p:cNvPr id="678" name="Google Shape;678;p14"/>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679" name="Google Shape;679;p14"/>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80" name="Google Shape;680;p14"/>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681" name="Google Shape;681;p14"/>
          <p:cNvSpPr txBox="1"/>
          <p:nvPr/>
        </p:nvSpPr>
        <p:spPr>
          <a:xfrm>
            <a:off x="2394993" y="893156"/>
            <a:ext cx="7519287" cy="1114425"/>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정량 결과</a:t>
            </a:r>
            <a:endParaRPr/>
          </a:p>
        </p:txBody>
      </p:sp>
      <p:sp>
        <p:nvSpPr>
          <p:cNvPr id="682" name="Google Shape;682;p14"/>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12</a:t>
            </a:r>
            <a:endParaRPr/>
          </a:p>
        </p:txBody>
      </p:sp>
      <p:grpSp>
        <p:nvGrpSpPr>
          <p:cNvPr id="683" name="Google Shape;683;p14"/>
          <p:cNvGrpSpPr/>
          <p:nvPr/>
        </p:nvGrpSpPr>
        <p:grpSpPr>
          <a:xfrm>
            <a:off x="1939780" y="7885924"/>
            <a:ext cx="14408441" cy="1027371"/>
            <a:chOff x="0" y="-47625"/>
            <a:chExt cx="3954116" cy="281942"/>
          </a:xfrm>
        </p:grpSpPr>
        <p:sp>
          <p:nvSpPr>
            <p:cNvPr id="684" name="Google Shape;684;p14"/>
            <p:cNvSpPr/>
            <p:nvPr/>
          </p:nvSpPr>
          <p:spPr>
            <a:xfrm>
              <a:off x="0" y="0"/>
              <a:ext cx="3954116" cy="234317"/>
            </a:xfrm>
            <a:custGeom>
              <a:avLst/>
              <a:gdLst/>
              <a:ahLst/>
              <a:cxnLst/>
              <a:rect l="l" t="t" r="r" b="b"/>
              <a:pathLst>
                <a:path w="3954116" h="234317" extrusionOk="0">
                  <a:moveTo>
                    <a:pt x="0" y="0"/>
                  </a:moveTo>
                  <a:lnTo>
                    <a:pt x="3954116" y="0"/>
                  </a:lnTo>
                  <a:lnTo>
                    <a:pt x="3954116" y="234317"/>
                  </a:lnTo>
                  <a:lnTo>
                    <a:pt x="0" y="234317"/>
                  </a:lnTo>
                  <a:close/>
                </a:path>
              </a:pathLst>
            </a:custGeom>
            <a:solidFill>
              <a:srgbClr val="FFFFFF"/>
            </a:solidFill>
            <a:ln w="9525" cap="sq" cmpd="sng">
              <a:solidFill>
                <a:srgbClr val="20538B"/>
              </a:solidFill>
              <a:prstDash val="solid"/>
              <a:miter lim="8000"/>
              <a:headEnd type="none" w="sm" len="sm"/>
              <a:tailEnd type="none" w="sm" len="sm"/>
            </a:ln>
          </p:spPr>
        </p:sp>
        <p:sp>
          <p:nvSpPr>
            <p:cNvPr id="685" name="Google Shape;685;p14"/>
            <p:cNvSpPr txBox="1"/>
            <p:nvPr/>
          </p:nvSpPr>
          <p:spPr>
            <a:xfrm>
              <a:off x="0" y="-47625"/>
              <a:ext cx="3954116" cy="281942"/>
            </a:xfrm>
            <a:prstGeom prst="rect">
              <a:avLst/>
            </a:prstGeom>
            <a:noFill/>
            <a:ln>
              <a:noFill/>
            </a:ln>
          </p:spPr>
          <p:txBody>
            <a:bodyPr spcFirstLastPara="1" wrap="square" lIns="50800" tIns="50800" rIns="50800" bIns="50800" anchor="ctr" anchorCtr="0">
              <a:noAutofit/>
            </a:bodyPr>
            <a:lstStyle/>
            <a:p>
              <a:pPr marL="0" marR="0" lvl="0" indent="0" algn="ctr" rtl="0">
                <a:lnSpc>
                  <a:spcPct val="171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86" name="Google Shape;686;p14"/>
          <p:cNvGrpSpPr/>
          <p:nvPr/>
        </p:nvGrpSpPr>
        <p:grpSpPr>
          <a:xfrm>
            <a:off x="2926275" y="2946626"/>
            <a:ext cx="847741" cy="897413"/>
            <a:chOff x="0" y="-47625"/>
            <a:chExt cx="812800" cy="860425"/>
          </a:xfrm>
        </p:grpSpPr>
        <p:sp>
          <p:nvSpPr>
            <p:cNvPr id="687" name="Google Shape;68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F6FF">
                <a:alpha val="8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4"/>
            <p:cNvSpPr txBox="1"/>
            <p:nvPr/>
          </p:nvSpPr>
          <p:spPr>
            <a:xfrm>
              <a:off x="76200" y="-47625"/>
              <a:ext cx="660400" cy="784225"/>
            </a:xfrm>
            <a:prstGeom prst="rect">
              <a:avLst/>
            </a:prstGeom>
            <a:noFill/>
            <a:ln>
              <a:noFill/>
            </a:ln>
          </p:spPr>
          <p:txBody>
            <a:bodyPr spcFirstLastPara="1" wrap="square" lIns="54275" tIns="54275" rIns="54275" bIns="54275" anchor="ctr" anchorCtr="0">
              <a:noAutofit/>
            </a:bodyPr>
            <a:lstStyle/>
            <a:p>
              <a:pPr marL="0" marR="0" lvl="0" indent="0" algn="ctr" rtl="0">
                <a:lnSpc>
                  <a:spcPct val="2412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89" name="Google Shape;689;p14"/>
          <p:cNvSpPr/>
          <p:nvPr/>
        </p:nvSpPr>
        <p:spPr>
          <a:xfrm>
            <a:off x="3122355" y="3184116"/>
            <a:ext cx="455581" cy="472105"/>
          </a:xfrm>
          <a:custGeom>
            <a:avLst/>
            <a:gdLst/>
            <a:ahLst/>
            <a:cxnLst/>
            <a:rect l="l" t="t" r="r" b="b"/>
            <a:pathLst>
              <a:path w="455581" h="472105" extrusionOk="0">
                <a:moveTo>
                  <a:pt x="0" y="0"/>
                </a:moveTo>
                <a:lnTo>
                  <a:pt x="455581" y="0"/>
                </a:lnTo>
                <a:lnTo>
                  <a:pt x="455581" y="472105"/>
                </a:lnTo>
                <a:lnTo>
                  <a:pt x="0" y="472105"/>
                </a:lnTo>
                <a:lnTo>
                  <a:pt x="0" y="0"/>
                </a:lnTo>
                <a:close/>
              </a:path>
            </a:pathLst>
          </a:custGeom>
          <a:blipFill rotWithShape="1">
            <a:blip r:embed="rId4">
              <a:alphaModFix/>
            </a:blip>
            <a:stretch>
              <a:fillRect/>
            </a:stretch>
          </a:blipFill>
          <a:ln>
            <a:noFill/>
          </a:ln>
        </p:spPr>
      </p:sp>
      <p:cxnSp>
        <p:nvCxnSpPr>
          <p:cNvPr id="690" name="Google Shape;690;p14"/>
          <p:cNvCxnSpPr/>
          <p:nvPr/>
        </p:nvCxnSpPr>
        <p:spPr>
          <a:xfrm>
            <a:off x="2015765" y="5605589"/>
            <a:ext cx="2772921" cy="13174"/>
          </a:xfrm>
          <a:prstGeom prst="straightConnector1">
            <a:avLst/>
          </a:prstGeom>
          <a:noFill/>
          <a:ln w="28575" cap="flat" cmpd="sng">
            <a:solidFill>
              <a:srgbClr val="DDD8C3"/>
            </a:solidFill>
            <a:prstDash val="dot"/>
            <a:round/>
            <a:headEnd type="none" w="sm" len="sm"/>
            <a:tailEnd type="none" w="sm" len="sm"/>
          </a:ln>
        </p:spPr>
      </p:cxnSp>
      <p:grpSp>
        <p:nvGrpSpPr>
          <p:cNvPr id="691" name="Google Shape;691;p14"/>
          <p:cNvGrpSpPr/>
          <p:nvPr/>
        </p:nvGrpSpPr>
        <p:grpSpPr>
          <a:xfrm>
            <a:off x="6806970" y="2946626"/>
            <a:ext cx="847741" cy="897413"/>
            <a:chOff x="0" y="-47625"/>
            <a:chExt cx="812800" cy="860425"/>
          </a:xfrm>
        </p:grpSpPr>
        <p:sp>
          <p:nvSpPr>
            <p:cNvPr id="692" name="Google Shape;692;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F6FF">
                <a:alpha val="8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4"/>
            <p:cNvSpPr txBox="1"/>
            <p:nvPr/>
          </p:nvSpPr>
          <p:spPr>
            <a:xfrm>
              <a:off x="76200" y="-47625"/>
              <a:ext cx="660400" cy="784225"/>
            </a:xfrm>
            <a:prstGeom prst="rect">
              <a:avLst/>
            </a:prstGeom>
            <a:noFill/>
            <a:ln>
              <a:noFill/>
            </a:ln>
          </p:spPr>
          <p:txBody>
            <a:bodyPr spcFirstLastPara="1" wrap="square" lIns="54275" tIns="54275" rIns="54275" bIns="54275" anchor="ctr" anchorCtr="0">
              <a:noAutofit/>
            </a:bodyPr>
            <a:lstStyle/>
            <a:p>
              <a:pPr marL="0" marR="0" lvl="0" indent="0" algn="ctr" rtl="0">
                <a:lnSpc>
                  <a:spcPct val="2412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94" name="Google Shape;694;p14"/>
          <p:cNvCxnSpPr/>
          <p:nvPr/>
        </p:nvCxnSpPr>
        <p:spPr>
          <a:xfrm>
            <a:off x="5896460" y="5605589"/>
            <a:ext cx="2772921" cy="13174"/>
          </a:xfrm>
          <a:prstGeom prst="straightConnector1">
            <a:avLst/>
          </a:prstGeom>
          <a:noFill/>
          <a:ln w="28575" cap="flat" cmpd="sng">
            <a:solidFill>
              <a:srgbClr val="DDD8C3"/>
            </a:solidFill>
            <a:prstDash val="dot"/>
            <a:round/>
            <a:headEnd type="none" w="sm" len="sm"/>
            <a:tailEnd type="none" w="sm" len="sm"/>
          </a:ln>
        </p:spPr>
      </p:cxnSp>
      <p:grpSp>
        <p:nvGrpSpPr>
          <p:cNvPr id="695" name="Google Shape;695;p14"/>
          <p:cNvGrpSpPr/>
          <p:nvPr/>
        </p:nvGrpSpPr>
        <p:grpSpPr>
          <a:xfrm>
            <a:off x="10700914" y="2973408"/>
            <a:ext cx="847741" cy="897413"/>
            <a:chOff x="0" y="-47625"/>
            <a:chExt cx="812800" cy="860425"/>
          </a:xfrm>
        </p:grpSpPr>
        <p:sp>
          <p:nvSpPr>
            <p:cNvPr id="696" name="Google Shape;696;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F6FF">
                <a:alpha val="8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4"/>
            <p:cNvSpPr txBox="1"/>
            <p:nvPr/>
          </p:nvSpPr>
          <p:spPr>
            <a:xfrm>
              <a:off x="76200" y="-47625"/>
              <a:ext cx="660400" cy="784225"/>
            </a:xfrm>
            <a:prstGeom prst="rect">
              <a:avLst/>
            </a:prstGeom>
            <a:noFill/>
            <a:ln>
              <a:noFill/>
            </a:ln>
          </p:spPr>
          <p:txBody>
            <a:bodyPr spcFirstLastPara="1" wrap="square" lIns="54275" tIns="54275" rIns="54275" bIns="54275" anchor="ctr" anchorCtr="0">
              <a:noAutofit/>
            </a:bodyPr>
            <a:lstStyle/>
            <a:p>
              <a:pPr marL="0" marR="0" lvl="0" indent="0" algn="ctr" rtl="0">
                <a:lnSpc>
                  <a:spcPct val="2412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98" name="Google Shape;698;p14"/>
          <p:cNvCxnSpPr/>
          <p:nvPr/>
        </p:nvCxnSpPr>
        <p:spPr>
          <a:xfrm>
            <a:off x="9790405" y="5632371"/>
            <a:ext cx="2772921" cy="13174"/>
          </a:xfrm>
          <a:prstGeom prst="straightConnector1">
            <a:avLst/>
          </a:prstGeom>
          <a:noFill/>
          <a:ln w="28575" cap="flat" cmpd="sng">
            <a:solidFill>
              <a:srgbClr val="DDD8C3"/>
            </a:solidFill>
            <a:prstDash val="dot"/>
            <a:round/>
            <a:headEnd type="none" w="sm" len="sm"/>
            <a:tailEnd type="none" w="sm" len="sm"/>
          </a:ln>
        </p:spPr>
      </p:cxnSp>
      <p:grpSp>
        <p:nvGrpSpPr>
          <p:cNvPr id="699" name="Google Shape;699;p14"/>
          <p:cNvGrpSpPr/>
          <p:nvPr/>
        </p:nvGrpSpPr>
        <p:grpSpPr>
          <a:xfrm>
            <a:off x="14509289" y="2991040"/>
            <a:ext cx="847741" cy="897413"/>
            <a:chOff x="0" y="-47625"/>
            <a:chExt cx="812800" cy="860425"/>
          </a:xfrm>
        </p:grpSpPr>
        <p:sp>
          <p:nvSpPr>
            <p:cNvPr id="700" name="Google Shape;70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F6FF">
                <a:alpha val="8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4"/>
            <p:cNvSpPr txBox="1"/>
            <p:nvPr/>
          </p:nvSpPr>
          <p:spPr>
            <a:xfrm>
              <a:off x="76200" y="-47625"/>
              <a:ext cx="660400" cy="784225"/>
            </a:xfrm>
            <a:prstGeom prst="rect">
              <a:avLst/>
            </a:prstGeom>
            <a:noFill/>
            <a:ln>
              <a:noFill/>
            </a:ln>
          </p:spPr>
          <p:txBody>
            <a:bodyPr spcFirstLastPara="1" wrap="square" lIns="54275" tIns="54275" rIns="54275" bIns="54275" anchor="ctr" anchorCtr="0">
              <a:noAutofit/>
            </a:bodyPr>
            <a:lstStyle/>
            <a:p>
              <a:pPr marL="0" marR="0" lvl="0" indent="0" algn="ctr" rtl="0">
                <a:lnSpc>
                  <a:spcPct val="2412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702" name="Google Shape;702;p14"/>
          <p:cNvCxnSpPr/>
          <p:nvPr/>
        </p:nvCxnSpPr>
        <p:spPr>
          <a:xfrm>
            <a:off x="13598780" y="5650003"/>
            <a:ext cx="2772921" cy="13174"/>
          </a:xfrm>
          <a:prstGeom prst="straightConnector1">
            <a:avLst/>
          </a:prstGeom>
          <a:noFill/>
          <a:ln w="28575" cap="flat" cmpd="sng">
            <a:solidFill>
              <a:srgbClr val="DDD8C3"/>
            </a:solidFill>
            <a:prstDash val="dot"/>
            <a:round/>
            <a:headEnd type="none" w="sm" len="sm"/>
            <a:tailEnd type="none" w="sm" len="sm"/>
          </a:ln>
        </p:spPr>
      </p:cxnSp>
      <p:cxnSp>
        <p:nvCxnSpPr>
          <p:cNvPr id="703" name="Google Shape;703;p14"/>
          <p:cNvCxnSpPr/>
          <p:nvPr/>
        </p:nvCxnSpPr>
        <p:spPr>
          <a:xfrm rot="10800000">
            <a:off x="5308609" y="2996298"/>
            <a:ext cx="0" cy="4199643"/>
          </a:xfrm>
          <a:prstGeom prst="straightConnector1">
            <a:avLst/>
          </a:prstGeom>
          <a:noFill/>
          <a:ln w="28575" cap="flat" cmpd="sng">
            <a:solidFill>
              <a:srgbClr val="DDD8C3"/>
            </a:solidFill>
            <a:prstDash val="dot"/>
            <a:round/>
            <a:headEnd type="none" w="sm" len="sm"/>
            <a:tailEnd type="none" w="sm" len="sm"/>
          </a:ln>
        </p:spPr>
      </p:cxnSp>
      <p:cxnSp>
        <p:nvCxnSpPr>
          <p:cNvPr id="704" name="Google Shape;704;p14"/>
          <p:cNvCxnSpPr/>
          <p:nvPr/>
        </p:nvCxnSpPr>
        <p:spPr>
          <a:xfrm rot="10800000">
            <a:off x="9194543" y="2974271"/>
            <a:ext cx="0" cy="4243697"/>
          </a:xfrm>
          <a:prstGeom prst="straightConnector1">
            <a:avLst/>
          </a:prstGeom>
          <a:noFill/>
          <a:ln w="28575" cap="flat" cmpd="sng">
            <a:solidFill>
              <a:srgbClr val="DDD8C3"/>
            </a:solidFill>
            <a:prstDash val="dot"/>
            <a:round/>
            <a:headEnd type="none" w="sm" len="sm"/>
            <a:tailEnd type="none" w="sm" len="sm"/>
          </a:ln>
        </p:spPr>
      </p:cxnSp>
      <p:cxnSp>
        <p:nvCxnSpPr>
          <p:cNvPr id="705" name="Google Shape;705;p14"/>
          <p:cNvCxnSpPr/>
          <p:nvPr/>
        </p:nvCxnSpPr>
        <p:spPr>
          <a:xfrm rot="10800000">
            <a:off x="13080478" y="2974271"/>
            <a:ext cx="0" cy="4243697"/>
          </a:xfrm>
          <a:prstGeom prst="straightConnector1">
            <a:avLst/>
          </a:prstGeom>
          <a:noFill/>
          <a:ln w="28575" cap="flat" cmpd="sng">
            <a:solidFill>
              <a:srgbClr val="DDD8C3"/>
            </a:solidFill>
            <a:prstDash val="dot"/>
            <a:round/>
            <a:headEnd type="none" w="sm" len="sm"/>
            <a:tailEnd type="none" w="sm" len="sm"/>
          </a:ln>
        </p:spPr>
      </p:cxnSp>
      <p:sp>
        <p:nvSpPr>
          <p:cNvPr id="706" name="Google Shape;706;p14"/>
          <p:cNvSpPr/>
          <p:nvPr/>
        </p:nvSpPr>
        <p:spPr>
          <a:xfrm>
            <a:off x="7008787" y="3173497"/>
            <a:ext cx="444106" cy="482724"/>
          </a:xfrm>
          <a:custGeom>
            <a:avLst/>
            <a:gdLst/>
            <a:ahLst/>
            <a:cxnLst/>
            <a:rect l="l" t="t" r="r" b="b"/>
            <a:pathLst>
              <a:path w="444106" h="482724" extrusionOk="0">
                <a:moveTo>
                  <a:pt x="0" y="0"/>
                </a:moveTo>
                <a:lnTo>
                  <a:pt x="444106" y="0"/>
                </a:lnTo>
                <a:lnTo>
                  <a:pt x="444106" y="482724"/>
                </a:lnTo>
                <a:lnTo>
                  <a:pt x="0" y="482724"/>
                </a:lnTo>
                <a:lnTo>
                  <a:pt x="0" y="0"/>
                </a:lnTo>
                <a:close/>
              </a:path>
            </a:pathLst>
          </a:custGeom>
          <a:blipFill rotWithShape="1">
            <a:blip r:embed="rId5">
              <a:alphaModFix/>
            </a:blip>
            <a:stretch>
              <a:fillRect/>
            </a:stretch>
          </a:blipFill>
          <a:ln>
            <a:noFill/>
          </a:ln>
        </p:spPr>
      </p:sp>
      <p:sp>
        <p:nvSpPr>
          <p:cNvPr id="707" name="Google Shape;707;p14"/>
          <p:cNvSpPr/>
          <p:nvPr/>
        </p:nvSpPr>
        <p:spPr>
          <a:xfrm>
            <a:off x="10970992" y="3234822"/>
            <a:ext cx="307587" cy="424258"/>
          </a:xfrm>
          <a:custGeom>
            <a:avLst/>
            <a:gdLst/>
            <a:ahLst/>
            <a:cxnLst/>
            <a:rect l="l" t="t" r="r" b="b"/>
            <a:pathLst>
              <a:path w="307587" h="424258" extrusionOk="0">
                <a:moveTo>
                  <a:pt x="0" y="0"/>
                </a:moveTo>
                <a:lnTo>
                  <a:pt x="307586" y="0"/>
                </a:lnTo>
                <a:lnTo>
                  <a:pt x="307586" y="424258"/>
                </a:lnTo>
                <a:lnTo>
                  <a:pt x="0" y="424258"/>
                </a:lnTo>
                <a:lnTo>
                  <a:pt x="0" y="0"/>
                </a:lnTo>
                <a:close/>
              </a:path>
            </a:pathLst>
          </a:custGeom>
          <a:blipFill rotWithShape="1">
            <a:blip r:embed="rId6">
              <a:alphaModFix/>
            </a:blip>
            <a:stretch>
              <a:fillRect/>
            </a:stretch>
          </a:blipFill>
          <a:ln>
            <a:noFill/>
          </a:ln>
        </p:spPr>
      </p:sp>
      <p:sp>
        <p:nvSpPr>
          <p:cNvPr id="708" name="Google Shape;708;p14"/>
          <p:cNvSpPr/>
          <p:nvPr/>
        </p:nvSpPr>
        <p:spPr>
          <a:xfrm>
            <a:off x="14716422" y="3252454"/>
            <a:ext cx="433475" cy="426973"/>
          </a:xfrm>
          <a:custGeom>
            <a:avLst/>
            <a:gdLst/>
            <a:ahLst/>
            <a:cxnLst/>
            <a:rect l="l" t="t" r="r" b="b"/>
            <a:pathLst>
              <a:path w="433475" h="426973" extrusionOk="0">
                <a:moveTo>
                  <a:pt x="0" y="0"/>
                </a:moveTo>
                <a:lnTo>
                  <a:pt x="433475" y="0"/>
                </a:lnTo>
                <a:lnTo>
                  <a:pt x="433475" y="426973"/>
                </a:lnTo>
                <a:lnTo>
                  <a:pt x="0" y="426973"/>
                </a:lnTo>
                <a:lnTo>
                  <a:pt x="0" y="0"/>
                </a:lnTo>
                <a:close/>
              </a:path>
            </a:pathLst>
          </a:custGeom>
          <a:blipFill rotWithShape="1">
            <a:blip r:embed="rId7">
              <a:alphaModFix/>
            </a:blip>
            <a:stretch>
              <a:fillRect/>
            </a:stretch>
          </a:blipFill>
          <a:ln>
            <a:noFill/>
          </a:ln>
        </p:spPr>
      </p:sp>
      <p:sp>
        <p:nvSpPr>
          <p:cNvPr id="709" name="Google Shape;709;p14"/>
          <p:cNvSpPr txBox="1"/>
          <p:nvPr/>
        </p:nvSpPr>
        <p:spPr>
          <a:xfrm>
            <a:off x="2029294" y="3679713"/>
            <a:ext cx="2677935" cy="1756537"/>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10366" b="1" i="0" u="none" strike="noStrike" cap="none">
                <a:solidFill>
                  <a:srgbClr val="20538B"/>
                </a:solidFill>
                <a:latin typeface="Arial"/>
                <a:ea typeface="Arial"/>
                <a:cs typeface="Arial"/>
                <a:sym typeface="Arial"/>
              </a:rPr>
              <a:t>0</a:t>
            </a:r>
            <a:endParaRPr/>
          </a:p>
        </p:txBody>
      </p:sp>
      <p:sp>
        <p:nvSpPr>
          <p:cNvPr id="710" name="Google Shape;710;p14"/>
          <p:cNvSpPr txBox="1"/>
          <p:nvPr/>
        </p:nvSpPr>
        <p:spPr>
          <a:xfrm>
            <a:off x="4351313" y="4711538"/>
            <a:ext cx="582801" cy="427389"/>
          </a:xfrm>
          <a:prstGeom prst="rect">
            <a:avLst/>
          </a:prstGeom>
          <a:noFill/>
          <a:ln>
            <a:noFill/>
          </a:ln>
        </p:spPr>
        <p:txBody>
          <a:bodyPr spcFirstLastPara="1" wrap="square" lIns="0" tIns="0" rIns="0" bIns="0" anchor="t" anchorCtr="0">
            <a:spAutoFit/>
          </a:bodyPr>
          <a:lstStyle/>
          <a:p>
            <a:pPr marL="0" marR="0" lvl="0" indent="0" algn="ctr" rtl="0">
              <a:lnSpc>
                <a:spcPct val="140015"/>
              </a:lnSpc>
              <a:spcBef>
                <a:spcPts val="0"/>
              </a:spcBef>
              <a:spcAft>
                <a:spcPts val="0"/>
              </a:spcAft>
              <a:buNone/>
            </a:pPr>
            <a:r>
              <a:rPr lang="en-US" sz="2544" b="1" i="0" u="none" strike="noStrike" cap="none">
                <a:solidFill>
                  <a:srgbClr val="20538B"/>
                </a:solidFill>
                <a:latin typeface="Arial"/>
                <a:ea typeface="Arial"/>
                <a:cs typeface="Arial"/>
                <a:sym typeface="Arial"/>
              </a:rPr>
              <a:t>건</a:t>
            </a:r>
            <a:endParaRPr/>
          </a:p>
        </p:txBody>
      </p:sp>
      <p:sp>
        <p:nvSpPr>
          <p:cNvPr id="711" name="Google Shape;711;p14"/>
          <p:cNvSpPr txBox="1"/>
          <p:nvPr/>
        </p:nvSpPr>
        <p:spPr>
          <a:xfrm>
            <a:off x="2367835" y="5895483"/>
            <a:ext cx="1964621" cy="431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500" b="1" i="0" u="none" strike="noStrike" cap="none">
                <a:solidFill>
                  <a:srgbClr val="20538B"/>
                </a:solidFill>
                <a:latin typeface="Arial"/>
                <a:ea typeface="Arial"/>
                <a:cs typeface="Arial"/>
                <a:sym typeface="Arial"/>
              </a:rPr>
              <a:t>엔진 오류</a:t>
            </a:r>
            <a:endParaRPr/>
          </a:p>
        </p:txBody>
      </p:sp>
      <p:sp>
        <p:nvSpPr>
          <p:cNvPr id="712" name="Google Shape;712;p14"/>
          <p:cNvSpPr txBox="1"/>
          <p:nvPr/>
        </p:nvSpPr>
        <p:spPr>
          <a:xfrm>
            <a:off x="1654521" y="6622043"/>
            <a:ext cx="3427480" cy="5698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700" b="0" i="0" u="none" strike="noStrike" cap="none">
                <a:solidFill>
                  <a:srgbClr val="20538B"/>
                </a:solidFill>
                <a:latin typeface="Arial"/>
                <a:ea typeface="Arial"/>
                <a:cs typeface="Arial"/>
                <a:sym typeface="Arial"/>
              </a:rPr>
              <a:t>엔진 보고서 15건 오류 0건</a:t>
            </a:r>
            <a:endParaRPr/>
          </a:p>
          <a:p>
            <a:pPr marL="0" marR="0" lvl="0" indent="0" algn="ctr" rtl="0">
              <a:lnSpc>
                <a:spcPct val="128000"/>
              </a:lnSpc>
              <a:spcBef>
                <a:spcPts val="0"/>
              </a:spcBef>
              <a:spcAft>
                <a:spcPts val="0"/>
              </a:spcAft>
              <a:buNone/>
            </a:pPr>
            <a:r>
              <a:rPr lang="en-US" sz="1700" b="0" i="0" u="none" strike="noStrike" cap="none">
                <a:solidFill>
                  <a:srgbClr val="20538B"/>
                </a:solidFill>
                <a:latin typeface="Arial"/>
                <a:ea typeface="Arial"/>
                <a:cs typeface="Arial"/>
                <a:sym typeface="Arial"/>
              </a:rPr>
              <a:t>(LLM 단독은 15건 모두 오류)</a:t>
            </a:r>
            <a:endParaRPr/>
          </a:p>
        </p:txBody>
      </p:sp>
      <p:sp>
        <p:nvSpPr>
          <p:cNvPr id="713" name="Google Shape;713;p14"/>
          <p:cNvSpPr txBox="1"/>
          <p:nvPr/>
        </p:nvSpPr>
        <p:spPr>
          <a:xfrm>
            <a:off x="3368261" y="8279413"/>
            <a:ext cx="9578678" cy="356108"/>
          </a:xfrm>
          <a:prstGeom prst="rect">
            <a:avLst/>
          </a:prstGeom>
          <a:noFill/>
          <a:ln>
            <a:noFill/>
          </a:ln>
        </p:spPr>
        <p:txBody>
          <a:bodyPr spcFirstLastPara="1" wrap="square" lIns="0" tIns="0" rIns="0" bIns="0" anchor="t" anchorCtr="0">
            <a:spAutoFit/>
          </a:bodyPr>
          <a:lstStyle/>
          <a:p>
            <a:pPr marL="0" marR="0" lvl="0" indent="0" algn="l" rtl="0">
              <a:lnSpc>
                <a:spcPct val="154028"/>
              </a:lnSpc>
              <a:spcBef>
                <a:spcPts val="0"/>
              </a:spcBef>
              <a:spcAft>
                <a:spcPts val="0"/>
              </a:spcAft>
              <a:buNone/>
            </a:pPr>
            <a:r>
              <a:rPr lang="en-US" sz="1899" b="0" i="0" u="none" strike="noStrike" cap="none">
                <a:solidFill>
                  <a:srgbClr val="20538B"/>
                </a:solidFill>
                <a:latin typeface="Arial"/>
                <a:ea typeface="Arial"/>
                <a:cs typeface="Arial"/>
                <a:sym typeface="Arial"/>
              </a:rPr>
              <a:t>진단 3건 × 5회 실측 (GPT-4o) · 취약점 8건 중 7건에 동일 결함 사례 매칭</a:t>
            </a:r>
            <a:endParaRPr/>
          </a:p>
        </p:txBody>
      </p:sp>
      <p:sp>
        <p:nvSpPr>
          <p:cNvPr id="714" name="Google Shape;714;p14"/>
          <p:cNvSpPr txBox="1"/>
          <p:nvPr/>
        </p:nvSpPr>
        <p:spPr>
          <a:xfrm>
            <a:off x="5982022" y="3679713"/>
            <a:ext cx="2386535" cy="1756537"/>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10366" b="1" i="0" u="none" strike="noStrike" cap="none">
                <a:solidFill>
                  <a:srgbClr val="20538B"/>
                </a:solidFill>
                <a:latin typeface="Arial"/>
                <a:ea typeface="Arial"/>
                <a:cs typeface="Arial"/>
                <a:sym typeface="Arial"/>
              </a:rPr>
              <a:t>8/8</a:t>
            </a:r>
            <a:endParaRPr/>
          </a:p>
        </p:txBody>
      </p:sp>
      <p:sp>
        <p:nvSpPr>
          <p:cNvPr id="715" name="Google Shape;715;p14"/>
          <p:cNvSpPr txBox="1"/>
          <p:nvPr/>
        </p:nvSpPr>
        <p:spPr>
          <a:xfrm>
            <a:off x="7993539" y="4693488"/>
            <a:ext cx="582801" cy="427389"/>
          </a:xfrm>
          <a:prstGeom prst="rect">
            <a:avLst/>
          </a:prstGeom>
          <a:noFill/>
          <a:ln>
            <a:noFill/>
          </a:ln>
        </p:spPr>
        <p:txBody>
          <a:bodyPr spcFirstLastPara="1" wrap="square" lIns="0" tIns="0" rIns="0" bIns="0" anchor="t" anchorCtr="0">
            <a:spAutoFit/>
          </a:bodyPr>
          <a:lstStyle/>
          <a:p>
            <a:pPr marL="0" marR="0" lvl="0" indent="0" algn="ctr" rtl="0">
              <a:lnSpc>
                <a:spcPct val="140015"/>
              </a:lnSpc>
              <a:spcBef>
                <a:spcPts val="0"/>
              </a:spcBef>
              <a:spcAft>
                <a:spcPts val="0"/>
              </a:spcAft>
              <a:buNone/>
            </a:pPr>
            <a:endParaRPr/>
          </a:p>
        </p:txBody>
      </p:sp>
      <p:sp>
        <p:nvSpPr>
          <p:cNvPr id="716" name="Google Shape;716;p14"/>
          <p:cNvSpPr txBox="1"/>
          <p:nvPr/>
        </p:nvSpPr>
        <p:spPr>
          <a:xfrm>
            <a:off x="6320318" y="5895483"/>
            <a:ext cx="1964621" cy="41529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1" i="0" u="none" strike="noStrike" cap="none">
                <a:solidFill>
                  <a:srgbClr val="20538B"/>
                </a:solidFill>
                <a:latin typeface="Arial"/>
                <a:ea typeface="Arial"/>
                <a:cs typeface="Arial"/>
                <a:sym typeface="Arial"/>
              </a:rPr>
              <a:t>오류 탐지</a:t>
            </a:r>
            <a:endParaRPr/>
          </a:p>
        </p:txBody>
      </p:sp>
      <p:sp>
        <p:nvSpPr>
          <p:cNvPr id="717" name="Google Shape;717;p14"/>
          <p:cNvSpPr txBox="1"/>
          <p:nvPr/>
        </p:nvSpPr>
        <p:spPr>
          <a:xfrm>
            <a:off x="5535216" y="6622043"/>
            <a:ext cx="3427480" cy="5698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700" b="0" i="0" u="none" strike="noStrike" cap="none">
                <a:solidFill>
                  <a:srgbClr val="20538B"/>
                </a:solidFill>
                <a:latin typeface="Arial"/>
                <a:ea typeface="Arial"/>
                <a:cs typeface="Arial"/>
                <a:sym typeface="Arial"/>
              </a:rPr>
              <a:t>가짜 ID·금액 등 8종 주입 시험</a:t>
            </a:r>
            <a:endParaRPr/>
          </a:p>
          <a:p>
            <a:pPr marL="0" marR="0" lvl="0" indent="0" algn="ctr" rtl="0">
              <a:lnSpc>
                <a:spcPct val="128000"/>
              </a:lnSpc>
              <a:spcBef>
                <a:spcPts val="0"/>
              </a:spcBef>
              <a:spcAft>
                <a:spcPts val="0"/>
              </a:spcAft>
              <a:buNone/>
            </a:pPr>
            <a:r>
              <a:rPr lang="en-US" sz="1700" b="0" i="0" u="none" strike="noStrike" cap="none">
                <a:solidFill>
                  <a:srgbClr val="20538B"/>
                </a:solidFill>
                <a:latin typeface="Arial"/>
                <a:ea typeface="Arial"/>
                <a:cs typeface="Arial"/>
                <a:sym typeface="Arial"/>
              </a:rPr>
              <a:t>8종 모두 탐지·제거·경고</a:t>
            </a:r>
            <a:endParaRPr/>
          </a:p>
        </p:txBody>
      </p:sp>
      <p:sp>
        <p:nvSpPr>
          <p:cNvPr id="718" name="Google Shape;718;p14"/>
          <p:cNvSpPr txBox="1"/>
          <p:nvPr/>
        </p:nvSpPr>
        <p:spPr>
          <a:xfrm>
            <a:off x="9429161" y="3706496"/>
            <a:ext cx="3134166" cy="1756537"/>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10366" b="1" i="0" u="none" strike="noStrike" cap="none">
                <a:solidFill>
                  <a:srgbClr val="20538B"/>
                </a:solidFill>
                <a:latin typeface="Arial"/>
                <a:ea typeface="Arial"/>
                <a:cs typeface="Arial"/>
                <a:sym typeface="Arial"/>
              </a:rPr>
              <a:t>9.5</a:t>
            </a:r>
            <a:endParaRPr/>
          </a:p>
        </p:txBody>
      </p:sp>
      <p:sp>
        <p:nvSpPr>
          <p:cNvPr id="719" name="Google Shape;719;p14"/>
          <p:cNvSpPr txBox="1"/>
          <p:nvPr/>
        </p:nvSpPr>
        <p:spPr>
          <a:xfrm>
            <a:off x="12130693" y="4720271"/>
            <a:ext cx="582801" cy="427389"/>
          </a:xfrm>
          <a:prstGeom prst="rect">
            <a:avLst/>
          </a:prstGeom>
          <a:noFill/>
          <a:ln>
            <a:noFill/>
          </a:ln>
        </p:spPr>
        <p:txBody>
          <a:bodyPr spcFirstLastPara="1" wrap="square" lIns="0" tIns="0" rIns="0" bIns="0" anchor="t" anchorCtr="0">
            <a:spAutoFit/>
          </a:bodyPr>
          <a:lstStyle/>
          <a:p>
            <a:pPr marL="0" marR="0" lvl="0" indent="0" algn="ctr" rtl="0">
              <a:lnSpc>
                <a:spcPct val="140015"/>
              </a:lnSpc>
              <a:spcBef>
                <a:spcPts val="0"/>
              </a:spcBef>
              <a:spcAft>
                <a:spcPts val="0"/>
              </a:spcAft>
              <a:buNone/>
            </a:pPr>
            <a:r>
              <a:rPr lang="en-US" sz="2544" b="1" i="0" u="none" strike="noStrike" cap="none">
                <a:solidFill>
                  <a:srgbClr val="20538B"/>
                </a:solidFill>
                <a:latin typeface="Arial"/>
                <a:ea typeface="Arial"/>
                <a:cs typeface="Arial"/>
                <a:sym typeface="Arial"/>
              </a:rPr>
              <a:t>초</a:t>
            </a:r>
            <a:endParaRPr/>
          </a:p>
        </p:txBody>
      </p:sp>
      <p:sp>
        <p:nvSpPr>
          <p:cNvPr id="720" name="Google Shape;720;p14"/>
          <p:cNvSpPr txBox="1"/>
          <p:nvPr/>
        </p:nvSpPr>
        <p:spPr>
          <a:xfrm>
            <a:off x="9863707" y="5895483"/>
            <a:ext cx="2558386" cy="41529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1" i="0" u="none" strike="noStrike" cap="none">
                <a:solidFill>
                  <a:srgbClr val="20538B"/>
                </a:solidFill>
                <a:latin typeface="Arial"/>
                <a:ea typeface="Arial"/>
                <a:cs typeface="Arial"/>
                <a:sym typeface="Arial"/>
              </a:rPr>
              <a:t>보고서 1건</a:t>
            </a:r>
            <a:endParaRPr/>
          </a:p>
        </p:txBody>
      </p:sp>
      <p:sp>
        <p:nvSpPr>
          <p:cNvPr id="721" name="Google Shape;721;p14"/>
          <p:cNvSpPr txBox="1"/>
          <p:nvPr/>
        </p:nvSpPr>
        <p:spPr>
          <a:xfrm>
            <a:off x="9429161" y="6648825"/>
            <a:ext cx="3427480" cy="5698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700" b="0" i="0" u="none" strike="noStrike" cap="none">
                <a:solidFill>
                  <a:srgbClr val="20538B"/>
                </a:solidFill>
                <a:latin typeface="Arial"/>
                <a:ea typeface="Arial"/>
                <a:cs typeface="Arial"/>
                <a:sym typeface="Arial"/>
              </a:rPr>
              <a:t>LLM 평균 7.9초 +</a:t>
            </a:r>
            <a:endParaRPr/>
          </a:p>
          <a:p>
            <a:pPr marL="0" marR="0" lvl="0" indent="0" algn="ctr" rtl="0">
              <a:lnSpc>
                <a:spcPct val="128000"/>
              </a:lnSpc>
              <a:spcBef>
                <a:spcPts val="0"/>
              </a:spcBef>
              <a:spcAft>
                <a:spcPts val="0"/>
              </a:spcAft>
              <a:buNone/>
            </a:pPr>
            <a:r>
              <a:rPr lang="en-US" sz="1700" b="0" i="0" u="none" strike="noStrike" cap="none">
                <a:solidFill>
                  <a:srgbClr val="20538B"/>
                </a:solidFill>
                <a:latin typeface="Arial"/>
                <a:ea typeface="Arial"/>
                <a:cs typeface="Arial"/>
                <a:sym typeface="Arial"/>
              </a:rPr>
              <a:t>사례 검색·PDF 2종 1.6초</a:t>
            </a:r>
            <a:endParaRPr/>
          </a:p>
        </p:txBody>
      </p:sp>
      <p:sp>
        <p:nvSpPr>
          <p:cNvPr id="722" name="Google Shape;722;p14"/>
          <p:cNvSpPr txBox="1"/>
          <p:nvPr/>
        </p:nvSpPr>
        <p:spPr>
          <a:xfrm>
            <a:off x="13237535" y="3724127"/>
            <a:ext cx="3134166" cy="1756537"/>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10366" b="1" i="0" u="none" strike="noStrike" cap="none">
                <a:solidFill>
                  <a:srgbClr val="20538B"/>
                </a:solidFill>
                <a:latin typeface="Arial"/>
                <a:ea typeface="Arial"/>
                <a:cs typeface="Arial"/>
                <a:sym typeface="Arial"/>
              </a:rPr>
              <a:t>43%</a:t>
            </a:r>
            <a:endParaRPr/>
          </a:p>
        </p:txBody>
      </p:sp>
      <p:sp>
        <p:nvSpPr>
          <p:cNvPr id="723" name="Google Shape;723;p14"/>
          <p:cNvSpPr txBox="1"/>
          <p:nvPr/>
        </p:nvSpPr>
        <p:spPr>
          <a:xfrm>
            <a:off x="13662213" y="5895483"/>
            <a:ext cx="2541893" cy="41529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1" i="0" u="none" strike="noStrike" cap="none">
                <a:solidFill>
                  <a:srgbClr val="20538B"/>
                </a:solidFill>
                <a:latin typeface="Arial"/>
                <a:ea typeface="Arial"/>
                <a:cs typeface="Arial"/>
                <a:sym typeface="Arial"/>
              </a:rPr>
              <a:t>입력 토큰 절감</a:t>
            </a:r>
            <a:endParaRPr/>
          </a:p>
        </p:txBody>
      </p:sp>
      <p:sp>
        <p:nvSpPr>
          <p:cNvPr id="724" name="Google Shape;724;p14"/>
          <p:cNvSpPr txBox="1"/>
          <p:nvPr/>
        </p:nvSpPr>
        <p:spPr>
          <a:xfrm>
            <a:off x="13219420" y="6651220"/>
            <a:ext cx="3427480" cy="5698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700" b="0" i="0" u="none" strike="noStrike" cap="none">
                <a:solidFill>
                  <a:srgbClr val="20538B"/>
                </a:solidFill>
                <a:latin typeface="Arial"/>
                <a:ea typeface="Arial"/>
                <a:cs typeface="Arial"/>
                <a:sym typeface="Arial"/>
              </a:rPr>
              <a:t>LLM 단독 8,580 → 엔진 4,923</a:t>
            </a:r>
            <a:endParaRPr/>
          </a:p>
          <a:p>
            <a:pPr marL="0" marR="0" lvl="0" indent="0" algn="ctr" rtl="0">
              <a:lnSpc>
                <a:spcPct val="128000"/>
              </a:lnSpc>
              <a:spcBef>
                <a:spcPts val="0"/>
              </a:spcBef>
              <a:spcAft>
                <a:spcPts val="0"/>
              </a:spcAft>
              <a:buNone/>
            </a:pPr>
            <a:r>
              <a:rPr lang="en-US" sz="1700" b="0" i="0" u="none" strike="noStrike" cap="none">
                <a:solidFill>
                  <a:srgbClr val="20538B"/>
                </a:solidFill>
                <a:latin typeface="Arial"/>
                <a:ea typeface="Arial"/>
                <a:cs typeface="Arial"/>
                <a:sym typeface="Arial"/>
              </a:rPr>
              <a:t>필요한 사실만 골라 전달</a:t>
            </a:r>
            <a:endParaRPr/>
          </a:p>
        </p:txBody>
      </p:sp>
      <p:sp>
        <p:nvSpPr>
          <p:cNvPr id="725" name="Google Shape;725;p14"/>
          <p:cNvSpPr/>
          <p:nvPr/>
        </p:nvSpPr>
        <p:spPr>
          <a:xfrm>
            <a:off x="2981405" y="8384149"/>
            <a:ext cx="210787" cy="204464"/>
          </a:xfrm>
          <a:custGeom>
            <a:avLst/>
            <a:gdLst/>
            <a:ahLst/>
            <a:cxnLst/>
            <a:rect l="l" t="t" r="r" b="b"/>
            <a:pathLst>
              <a:path w="210787" h="204464" extrusionOk="0">
                <a:moveTo>
                  <a:pt x="0" y="0"/>
                </a:moveTo>
                <a:lnTo>
                  <a:pt x="210787" y="0"/>
                </a:lnTo>
                <a:lnTo>
                  <a:pt x="210787" y="204463"/>
                </a:lnTo>
                <a:lnTo>
                  <a:pt x="0" y="204463"/>
                </a:lnTo>
                <a:lnTo>
                  <a:pt x="0" y="0"/>
                </a:lnTo>
                <a:close/>
              </a:path>
            </a:pathLst>
          </a:custGeom>
          <a:blipFill rotWithShape="1">
            <a:blip r:embed="rId8">
              <a:alphaModFix/>
            </a:blip>
            <a:stretch>
              <a:fillRect/>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grpSp>
        <p:nvGrpSpPr>
          <p:cNvPr id="150" name="Google Shape;150;p3"/>
          <p:cNvGrpSpPr/>
          <p:nvPr/>
        </p:nvGrpSpPr>
        <p:grpSpPr>
          <a:xfrm>
            <a:off x="-1081198" y="3274348"/>
            <a:ext cx="20615256" cy="7012652"/>
            <a:chOff x="-99237" y="-1"/>
            <a:chExt cx="27487007" cy="9350203"/>
          </a:xfrm>
        </p:grpSpPr>
        <p:grpSp>
          <p:nvGrpSpPr>
            <p:cNvPr id="151" name="Google Shape;151;p3"/>
            <p:cNvGrpSpPr/>
            <p:nvPr/>
          </p:nvGrpSpPr>
          <p:grpSpPr>
            <a:xfrm rot="-5400000">
              <a:off x="11107419" y="-11206657"/>
              <a:ext cx="4770675" cy="27183987"/>
              <a:chOff x="0" y="-38100"/>
              <a:chExt cx="1831597" cy="10436700"/>
            </a:xfrm>
          </p:grpSpPr>
          <p:sp>
            <p:nvSpPr>
              <p:cNvPr id="152" name="Google Shape;152;p3"/>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153" name="Google Shape;153;p3"/>
              <p:cNvSpPr txBox="1"/>
              <p:nvPr/>
            </p:nvSpPr>
            <p:spPr>
              <a:xfrm>
                <a:off x="0" y="-38100"/>
                <a:ext cx="1831597"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4" name="Google Shape;154;p3"/>
            <p:cNvGrpSpPr/>
            <p:nvPr/>
          </p:nvGrpSpPr>
          <p:grpSpPr>
            <a:xfrm rot="-5400000">
              <a:off x="11636974" y="-6400594"/>
              <a:ext cx="4579528" cy="26922063"/>
              <a:chOff x="0" y="-38100"/>
              <a:chExt cx="1758210" cy="10336140"/>
            </a:xfrm>
          </p:grpSpPr>
          <p:sp>
            <p:nvSpPr>
              <p:cNvPr id="155" name="Google Shape;155;p3"/>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156" name="Google Shape;156;p3"/>
              <p:cNvSpPr txBox="1"/>
              <p:nvPr/>
            </p:nvSpPr>
            <p:spPr>
              <a:xfrm>
                <a:off x="0" y="-38100"/>
                <a:ext cx="1758210" cy="1033614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57" name="Google Shape;157;p3"/>
          <p:cNvGrpSpPr/>
          <p:nvPr/>
        </p:nvGrpSpPr>
        <p:grpSpPr>
          <a:xfrm>
            <a:off x="731085" y="622849"/>
            <a:ext cx="16825832" cy="9050183"/>
            <a:chOff x="0" y="-108814"/>
            <a:chExt cx="22434442" cy="12066910"/>
          </a:xfrm>
        </p:grpSpPr>
        <p:grpSp>
          <p:nvGrpSpPr>
            <p:cNvPr id="158" name="Google Shape;158;p3"/>
            <p:cNvGrpSpPr/>
            <p:nvPr/>
          </p:nvGrpSpPr>
          <p:grpSpPr>
            <a:xfrm>
              <a:off x="26537" y="10214890"/>
              <a:ext cx="22386981" cy="1743206"/>
              <a:chOff x="0" y="-47625"/>
              <a:chExt cx="9809754" cy="763855"/>
            </a:xfrm>
          </p:grpSpPr>
          <p:sp>
            <p:nvSpPr>
              <p:cNvPr id="159" name="Google Shape;159;p3"/>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160" name="Google Shape;160;p3"/>
              <p:cNvSpPr txBox="1"/>
              <p:nvPr/>
            </p:nvSpPr>
            <p:spPr>
              <a:xfrm>
                <a:off x="0" y="-47625"/>
                <a:ext cx="9809754" cy="763855"/>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3"/>
            <p:cNvGrpSpPr/>
            <p:nvPr/>
          </p:nvGrpSpPr>
          <p:grpSpPr>
            <a:xfrm>
              <a:off x="0" y="-108814"/>
              <a:ext cx="22434442" cy="11946255"/>
              <a:chOff x="0" y="-47625"/>
              <a:chExt cx="9818922" cy="5228539"/>
            </a:xfrm>
          </p:grpSpPr>
          <p:sp>
            <p:nvSpPr>
              <p:cNvPr id="162" name="Google Shape;162;p3"/>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163" name="Google Shape;163;p3"/>
              <p:cNvSpPr txBox="1"/>
              <p:nvPr/>
            </p:nvSpPr>
            <p:spPr>
              <a:xfrm>
                <a:off x="0" y="-47625"/>
                <a:ext cx="9818921" cy="5228539"/>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64" name="Google Shape;164;p3"/>
          <p:cNvGrpSpPr/>
          <p:nvPr/>
        </p:nvGrpSpPr>
        <p:grpSpPr>
          <a:xfrm>
            <a:off x="763743" y="662703"/>
            <a:ext cx="16760151" cy="1561172"/>
            <a:chOff x="0" y="-38100"/>
            <a:chExt cx="8581180" cy="799319"/>
          </a:xfrm>
        </p:grpSpPr>
        <p:sp>
          <p:nvSpPr>
            <p:cNvPr id="165" name="Google Shape;165;p3"/>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166" name="Google Shape;166;p3"/>
            <p:cNvSpPr txBox="1"/>
            <p:nvPr/>
          </p:nvSpPr>
          <p:spPr>
            <a:xfrm>
              <a:off x="0" y="-38100"/>
              <a:ext cx="8581180" cy="799319"/>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7" name="Google Shape;167;p3"/>
          <p:cNvSpPr/>
          <p:nvPr/>
        </p:nvSpPr>
        <p:spPr>
          <a:xfrm>
            <a:off x="8529670" y="4041017"/>
            <a:ext cx="614330" cy="466891"/>
          </a:xfrm>
          <a:custGeom>
            <a:avLst/>
            <a:gdLst/>
            <a:ahLst/>
            <a:cxnLst/>
            <a:rect l="l" t="t" r="r" b="b"/>
            <a:pathLst>
              <a:path w="614330" h="466891" extrusionOk="0">
                <a:moveTo>
                  <a:pt x="0" y="0"/>
                </a:moveTo>
                <a:lnTo>
                  <a:pt x="614330" y="0"/>
                </a:lnTo>
                <a:lnTo>
                  <a:pt x="614330" y="466891"/>
                </a:lnTo>
                <a:lnTo>
                  <a:pt x="0" y="466891"/>
                </a:lnTo>
                <a:lnTo>
                  <a:pt x="0" y="0"/>
                </a:lnTo>
                <a:close/>
              </a:path>
            </a:pathLst>
          </a:custGeom>
          <a:blipFill rotWithShape="1">
            <a:blip r:embed="rId3">
              <a:alphaModFix/>
            </a:blip>
            <a:stretch>
              <a:fillRect/>
            </a:stretch>
          </a:blipFill>
          <a:ln>
            <a:noFill/>
          </a:ln>
        </p:spPr>
      </p:sp>
      <p:sp>
        <p:nvSpPr>
          <p:cNvPr id="168" name="Google Shape;168;p3"/>
          <p:cNvSpPr/>
          <p:nvPr/>
        </p:nvSpPr>
        <p:spPr>
          <a:xfrm rot="10800000">
            <a:off x="8529670" y="5869584"/>
            <a:ext cx="614330" cy="466891"/>
          </a:xfrm>
          <a:custGeom>
            <a:avLst/>
            <a:gdLst/>
            <a:ahLst/>
            <a:cxnLst/>
            <a:rect l="l" t="t" r="r" b="b"/>
            <a:pathLst>
              <a:path w="614330" h="466891" extrusionOk="0">
                <a:moveTo>
                  <a:pt x="614330" y="466890"/>
                </a:moveTo>
                <a:lnTo>
                  <a:pt x="0" y="466890"/>
                </a:lnTo>
                <a:lnTo>
                  <a:pt x="0" y="0"/>
                </a:lnTo>
                <a:lnTo>
                  <a:pt x="614330" y="0"/>
                </a:lnTo>
                <a:lnTo>
                  <a:pt x="614330" y="466890"/>
                </a:lnTo>
                <a:close/>
              </a:path>
            </a:pathLst>
          </a:custGeom>
          <a:blipFill rotWithShape="1">
            <a:blip r:embed="rId3">
              <a:alphaModFix/>
            </a:blip>
            <a:stretch>
              <a:fillRect/>
            </a:stretch>
          </a:blipFill>
          <a:ln>
            <a:noFill/>
          </a:ln>
        </p:spPr>
      </p:sp>
      <p:sp>
        <p:nvSpPr>
          <p:cNvPr id="169" name="Google Shape;169;p3"/>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4">
              <a:alphaModFix/>
            </a:blip>
            <a:stretch>
              <a:fillRect/>
            </a:stretch>
          </a:blipFill>
          <a:ln>
            <a:noFill/>
          </a:ln>
        </p:spPr>
      </p:sp>
      <p:sp>
        <p:nvSpPr>
          <p:cNvPr id="170" name="Google Shape;170;p3"/>
          <p:cNvSpPr txBox="1"/>
          <p:nvPr/>
        </p:nvSpPr>
        <p:spPr>
          <a:xfrm>
            <a:off x="2381354" y="893156"/>
            <a:ext cx="6107827" cy="1114425"/>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설계 상세 Q&amp;A</a:t>
            </a:r>
            <a:endParaRPr/>
          </a:p>
        </p:txBody>
      </p:sp>
      <p:sp>
        <p:nvSpPr>
          <p:cNvPr id="171" name="Google Shape;171;p3"/>
          <p:cNvSpPr txBox="1"/>
          <p:nvPr/>
        </p:nvSpPr>
        <p:spPr>
          <a:xfrm>
            <a:off x="1437501" y="920715"/>
            <a:ext cx="834743" cy="1077619"/>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4881" b="1" i="0" u="none" strike="noStrike" cap="none">
                <a:solidFill>
                  <a:srgbClr val="CBDDEF"/>
                </a:solidFill>
                <a:latin typeface="Arial"/>
                <a:ea typeface="Arial"/>
                <a:cs typeface="Arial"/>
                <a:sym typeface="Arial"/>
              </a:rPr>
              <a:t>13</a:t>
            </a:r>
            <a:endParaRPr/>
          </a:p>
        </p:txBody>
      </p:sp>
      <p:sp>
        <p:nvSpPr>
          <p:cNvPr id="172" name="Google Shape;172;p3"/>
          <p:cNvSpPr txBox="1"/>
          <p:nvPr/>
        </p:nvSpPr>
        <p:spPr>
          <a:xfrm>
            <a:off x="4321524" y="4863943"/>
            <a:ext cx="9644952" cy="573405"/>
          </a:xfrm>
          <a:prstGeom prst="rect">
            <a:avLst/>
          </a:prstGeom>
          <a:noFill/>
          <a:ln>
            <a:noFill/>
          </a:ln>
        </p:spPr>
        <p:txBody>
          <a:bodyPr spcFirstLastPara="1" wrap="square" lIns="0" tIns="0" rIns="0" bIns="0" anchor="t" anchorCtr="0">
            <a:spAutoFit/>
          </a:bodyPr>
          <a:lstStyle/>
          <a:p>
            <a:pPr marL="0" marR="0" lvl="0" indent="0" algn="ctr" rtl="0">
              <a:lnSpc>
                <a:spcPct val="140012"/>
              </a:lnSpc>
              <a:spcBef>
                <a:spcPts val="0"/>
              </a:spcBef>
              <a:spcAft>
                <a:spcPts val="0"/>
              </a:spcAft>
              <a:buNone/>
            </a:pPr>
            <a:r>
              <a:rPr lang="en-US" sz="3299" b="1" i="0" u="none" strike="noStrike" cap="none">
                <a:solidFill>
                  <a:srgbClr val="20538B"/>
                </a:solidFill>
                <a:latin typeface="Arial"/>
                <a:ea typeface="Arial"/>
                <a:cs typeface="Arial"/>
                <a:sym typeface="Arial"/>
              </a:rPr>
              <a:t>예상 질문 10개 — 답과 근거(실제 코드·실제 출력)를 함께 정리했습니다</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grpSp>
        <p:nvGrpSpPr>
          <p:cNvPr id="318" name="Google Shape;318;h32a9095667746e33_0_68"/>
          <p:cNvGrpSpPr/>
          <p:nvPr/>
        </p:nvGrpSpPr>
        <p:grpSpPr>
          <a:xfrm>
            <a:off x="-1081199" y="3274283"/>
            <a:ext cx="20615733" cy="7012716"/>
            <a:chOff x="-99239" y="-86"/>
            <a:chExt cx="27487644" cy="9350288"/>
          </a:xfrm>
        </p:grpSpPr>
        <p:grpSp>
          <p:nvGrpSpPr>
            <p:cNvPr id="319" name="Google Shape;319;h32a9095667746e33_0_68"/>
            <p:cNvGrpSpPr/>
            <p:nvPr/>
          </p:nvGrpSpPr>
          <p:grpSpPr>
            <a:xfrm rot="-5400000">
              <a:off x="11107617" y="-11206942"/>
              <a:ext cx="4770761" cy="27184472"/>
              <a:chOff x="0" y="-38100"/>
              <a:chExt cx="1831597" cy="10436700"/>
            </a:xfrm>
          </p:grpSpPr>
          <p:sp>
            <p:nvSpPr>
              <p:cNvPr id="320" name="Google Shape;320;h32a9095667746e33_0_68"/>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21" name="Google Shape;321;h32a9095667746e33_0_68"/>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2" name="Google Shape;322;h32a9095667746e33_0_68"/>
            <p:cNvGrpSpPr/>
            <p:nvPr/>
          </p:nvGrpSpPr>
          <p:grpSpPr>
            <a:xfrm rot="-5400000">
              <a:off x="11637133" y="-6401070"/>
              <a:ext cx="4579844" cy="26922700"/>
              <a:chOff x="0" y="-38100"/>
              <a:chExt cx="1758300" cy="10336200"/>
            </a:xfrm>
          </p:grpSpPr>
          <p:sp>
            <p:nvSpPr>
              <p:cNvPr id="323" name="Google Shape;323;h32a9095667746e33_0_68"/>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24" name="Google Shape;324;h32a9095667746e33_0_68"/>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5" name="Google Shape;325;h32a9095667746e33_0_68"/>
          <p:cNvGrpSpPr/>
          <p:nvPr/>
        </p:nvGrpSpPr>
        <p:grpSpPr>
          <a:xfrm>
            <a:off x="731085" y="622850"/>
            <a:ext cx="16825838" cy="9050174"/>
            <a:chOff x="0" y="-108814"/>
            <a:chExt cx="22434451" cy="12066898"/>
          </a:xfrm>
        </p:grpSpPr>
        <p:grpSp>
          <p:nvGrpSpPr>
            <p:cNvPr id="326" name="Google Shape;326;h32a9095667746e33_0_68"/>
            <p:cNvGrpSpPr/>
            <p:nvPr/>
          </p:nvGrpSpPr>
          <p:grpSpPr>
            <a:xfrm>
              <a:off x="26537" y="10214891"/>
              <a:ext cx="22386840" cy="1743193"/>
              <a:chOff x="0" y="-47625"/>
              <a:chExt cx="9809754" cy="763855"/>
            </a:xfrm>
          </p:grpSpPr>
          <p:sp>
            <p:nvSpPr>
              <p:cNvPr id="327" name="Google Shape;327;h32a9095667746e33_0_68"/>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28" name="Google Shape;328;h32a9095667746e33_0_68"/>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h32a9095667746e33_0_68"/>
            <p:cNvGrpSpPr/>
            <p:nvPr/>
          </p:nvGrpSpPr>
          <p:grpSpPr>
            <a:xfrm>
              <a:off x="0" y="-108814"/>
              <a:ext cx="22434451" cy="11946166"/>
              <a:chOff x="0" y="-47625"/>
              <a:chExt cx="9819000" cy="5228539"/>
            </a:xfrm>
          </p:grpSpPr>
          <p:sp>
            <p:nvSpPr>
              <p:cNvPr id="330" name="Google Shape;330;h32a9095667746e33_0_68"/>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331" name="Google Shape;331;h32a9095667746e33_0_68"/>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h32a9095667746e33_0_68"/>
          <p:cNvGrpSpPr/>
          <p:nvPr/>
        </p:nvGrpSpPr>
        <p:grpSpPr>
          <a:xfrm>
            <a:off x="763743" y="662704"/>
            <a:ext cx="16759942" cy="1561150"/>
            <a:chOff x="0" y="-38100"/>
            <a:chExt cx="8581200" cy="799319"/>
          </a:xfrm>
        </p:grpSpPr>
        <p:sp>
          <p:nvSpPr>
            <p:cNvPr id="333" name="Google Shape;333;h32a9095667746e33_0_68"/>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334" name="Google Shape;334;h32a9095667746e33_0_68"/>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h32a9095667746e33_0_68"/>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36" name="Google Shape;336;h32a9095667746e33_0_68"/>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37" name="Google Shape;337;h32a9095667746e33_0_68"/>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38" name="Google Shape;338;h32a9095667746e33_0_68"/>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39" name="Google Shape;339;h32a9095667746e33_0_68"/>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0" name="Google Shape;340;h32a9095667746e33_0_68"/>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1" name="Google Shape;341;h32a9095667746e33_0_68"/>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2" name="Google Shape;342;h32a9095667746e33_0_68"/>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3" name="Google Shape;343;h32a9095667746e33_0_68"/>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환각 ID 차단</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44" name="Google Shape;344;h32a9095667746e33_0_68"/>
          <p:cNvSpPr txBox="1"/>
          <p:nvPr/>
        </p:nvSpPr>
        <p:spPr>
          <a:xfrm>
            <a:off x="1143000" y="920715"/>
            <a:ext cx="128016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3600" b="1" i="0" u="none" strike="noStrike" cap="none">
                <a:solidFill>
                  <a:srgbClr val="CBDDEF"/>
                </a:solidFill>
                <a:latin typeface="Arial"/>
                <a:ea typeface="Arial"/>
                <a:cs typeface="Arial"/>
                <a:sym typeface="Arial"/>
              </a:rPr>
              <a:t>Q1</a:t>
            </a:r>
            <a:endParaRPr/>
          </a:p>
        </p:txBody>
      </p:sp>
      <p:sp>
        <p:nvSpPr>
          <p:cNvPr id="345" name="Google Shape;345;h32a9095667746e33_0_68"/>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질문</a:t>
            </a:r>
            <a:endParaRPr/>
          </a:p>
        </p:txBody>
      </p:sp>
      <p:sp>
        <p:nvSpPr>
          <p:cNvPr id="346" name="Google Shape;346;h32a9095667746e33_0_68"/>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LLM이 문장을 쓰다가 없는 법령 ID나 취약점 ID를 지어내면 어떻게 막나요?</a:t>
            </a:r>
            <a:endParaRPr/>
          </a:p>
        </p:txBody>
      </p:sp>
      <p:sp>
        <p:nvSpPr>
          <p:cNvPr id="347" name="Google Shape;347;h32a9095667746e33_0_68"/>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답변 요점</a:t>
            </a:r>
            <a:endParaRPr/>
          </a:p>
        </p:txBody>
      </p:sp>
      <p:sp>
        <p:nvSpPr>
          <p:cNvPr id="348" name="Google Shape;348;h32a9095667746e33_0_68"/>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원본 ID 목록과 대조 (keep)</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없는 ID는 제거 + 경고 기록</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근거 없는 위험은 통째 삭제</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주입 시험 8종 모두 탐지</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 name="Google Shape;318;h32a9095667746e33_0_68"/>
          <p:cNvGrpSpPr/>
          <p:nvPr/>
        </p:nvGrpSpPr>
        <p:grpSpPr>
          <a:xfrm>
            <a:off x="-1081199" y="3274283"/>
            <a:ext cx="20615733" cy="7012716"/>
            <a:chOff x="-99239" y="-86"/>
            <a:chExt cx="27487644" cy="9350288"/>
          </a:xfrm>
        </p:grpSpPr>
        <p:grpSp>
          <p:nvGrpSpPr>
            <p:cNvPr id="319" name="Google Shape;319;h32a9095667746e33_0_68"/>
            <p:cNvGrpSpPr/>
            <p:nvPr/>
          </p:nvGrpSpPr>
          <p:grpSpPr>
            <a:xfrm rot="-5400000">
              <a:off x="11107617" y="-11206942"/>
              <a:ext cx="4770761" cy="27184472"/>
              <a:chOff x="0" y="-38100"/>
              <a:chExt cx="1831597" cy="10436700"/>
            </a:xfrm>
          </p:grpSpPr>
          <p:sp>
            <p:nvSpPr>
              <p:cNvPr id="320" name="Google Shape;320;h32a9095667746e33_0_68"/>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21" name="Google Shape;321;h32a9095667746e33_0_68"/>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2" name="Google Shape;322;h32a9095667746e33_0_68"/>
            <p:cNvGrpSpPr/>
            <p:nvPr/>
          </p:nvGrpSpPr>
          <p:grpSpPr>
            <a:xfrm rot="-5400000">
              <a:off x="11637133" y="-6401070"/>
              <a:ext cx="4579844" cy="26922700"/>
              <a:chOff x="0" y="-38100"/>
              <a:chExt cx="1758300" cy="10336200"/>
            </a:xfrm>
          </p:grpSpPr>
          <p:sp>
            <p:nvSpPr>
              <p:cNvPr id="323" name="Google Shape;323;h32a9095667746e33_0_68"/>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24" name="Google Shape;324;h32a9095667746e33_0_68"/>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5" name="Google Shape;325;h32a9095667746e33_0_68"/>
          <p:cNvGrpSpPr/>
          <p:nvPr/>
        </p:nvGrpSpPr>
        <p:grpSpPr>
          <a:xfrm>
            <a:off x="731085" y="622850"/>
            <a:ext cx="16825838" cy="9050174"/>
            <a:chOff x="0" y="-108814"/>
            <a:chExt cx="22434451" cy="12066898"/>
          </a:xfrm>
        </p:grpSpPr>
        <p:grpSp>
          <p:nvGrpSpPr>
            <p:cNvPr id="326" name="Google Shape;326;h32a9095667746e33_0_68"/>
            <p:cNvGrpSpPr/>
            <p:nvPr/>
          </p:nvGrpSpPr>
          <p:grpSpPr>
            <a:xfrm>
              <a:off x="26537" y="10214891"/>
              <a:ext cx="22386840" cy="1743193"/>
              <a:chOff x="0" y="-47625"/>
              <a:chExt cx="9809754" cy="763855"/>
            </a:xfrm>
          </p:grpSpPr>
          <p:sp>
            <p:nvSpPr>
              <p:cNvPr id="327" name="Google Shape;327;h32a9095667746e33_0_68"/>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28" name="Google Shape;328;h32a9095667746e33_0_68"/>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h32a9095667746e33_0_68"/>
            <p:cNvGrpSpPr/>
            <p:nvPr/>
          </p:nvGrpSpPr>
          <p:grpSpPr>
            <a:xfrm>
              <a:off x="0" y="-108814"/>
              <a:ext cx="22434451" cy="11946166"/>
              <a:chOff x="0" y="-47625"/>
              <a:chExt cx="9819000" cy="5228539"/>
            </a:xfrm>
          </p:grpSpPr>
          <p:sp>
            <p:nvSpPr>
              <p:cNvPr id="330" name="Google Shape;330;h32a9095667746e33_0_68"/>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331" name="Google Shape;331;h32a9095667746e33_0_68"/>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h32a9095667746e33_0_68"/>
          <p:cNvGrpSpPr/>
          <p:nvPr/>
        </p:nvGrpSpPr>
        <p:grpSpPr>
          <a:xfrm>
            <a:off x="763743" y="662704"/>
            <a:ext cx="16759942" cy="1561150"/>
            <a:chOff x="0" y="-38100"/>
            <a:chExt cx="8581200" cy="799319"/>
          </a:xfrm>
        </p:grpSpPr>
        <p:sp>
          <p:nvSpPr>
            <p:cNvPr id="333" name="Google Shape;333;h32a9095667746e33_0_68"/>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334" name="Google Shape;334;h32a9095667746e33_0_68"/>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h32a9095667746e33_0_68"/>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36" name="Google Shape;336;h32a9095667746e33_0_68"/>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37" name="Google Shape;337;h32a9095667746e33_0_68"/>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38" name="Google Shape;338;h32a9095667746e33_0_68"/>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39" name="Google Shape;339;h32a9095667746e33_0_68"/>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0" name="Google Shape;340;h32a9095667746e33_0_68"/>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1" name="Google Shape;341;h32a9095667746e33_0_68"/>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2" name="Google Shape;342;h32a9095667746e33_0_68"/>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3" name="Google Shape;343;h32a9095667746e33_0_68"/>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4단계 사례 검색</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44" name="Google Shape;344;h32a9095667746e33_0_68"/>
          <p:cNvSpPr txBox="1"/>
          <p:nvPr/>
        </p:nvSpPr>
        <p:spPr>
          <a:xfrm>
            <a:off x="1143000" y="920715"/>
            <a:ext cx="128016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3600" b="1" i="0" u="none" strike="noStrike" cap="none">
                <a:solidFill>
                  <a:srgbClr val="CBDDEF"/>
                </a:solidFill>
                <a:latin typeface="Arial"/>
                <a:ea typeface="Arial"/>
                <a:cs typeface="Arial"/>
                <a:sym typeface="Arial"/>
              </a:rPr>
              <a:t>Q2</a:t>
            </a:r>
            <a:endParaRPr/>
          </a:p>
        </p:txBody>
      </p:sp>
      <p:sp>
        <p:nvSpPr>
          <p:cNvPr id="345" name="Google Shape;345;h32a9095667746e33_0_68"/>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질문</a:t>
            </a:r>
            <a:endParaRPr/>
          </a:p>
        </p:txBody>
      </p:sp>
      <p:sp>
        <p:nvSpPr>
          <p:cNvPr id="346" name="Google Shape;346;h32a9095667746e33_0_68"/>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유사 사례를 유사도만으로 찾으면 엉뚱한 사례가 나오지 않나요? 4단계 등급은 어떻게 구현했나요?</a:t>
            </a:r>
            <a:endParaRPr/>
          </a:p>
        </p:txBody>
      </p:sp>
      <p:sp>
        <p:nvSpPr>
          <p:cNvPr id="347" name="Google Shape;347;h32a9095667746e33_0_68"/>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답변 요점</a:t>
            </a:r>
            <a:endParaRPr/>
          </a:p>
        </p:txBody>
      </p:sp>
      <p:sp>
        <p:nvSpPr>
          <p:cNvPr id="348" name="Google Shape;348;h32a9095667746e33_0_68"/>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동일 결함: ISMS-P AND 취약점</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같은 유형: 취약점 태그 일치</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관련 통제: ISMS-P만 일치</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참고: 유사도만 → 인용 금지</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 name="Google Shape;318;h32a9095667746e33_0_68"/>
          <p:cNvGrpSpPr/>
          <p:nvPr/>
        </p:nvGrpSpPr>
        <p:grpSpPr>
          <a:xfrm>
            <a:off x="-1081199" y="3274283"/>
            <a:ext cx="20615733" cy="7012716"/>
            <a:chOff x="-99239" y="-86"/>
            <a:chExt cx="27487644" cy="9350288"/>
          </a:xfrm>
        </p:grpSpPr>
        <p:grpSp>
          <p:nvGrpSpPr>
            <p:cNvPr id="319" name="Google Shape;319;h32a9095667746e33_0_68"/>
            <p:cNvGrpSpPr/>
            <p:nvPr/>
          </p:nvGrpSpPr>
          <p:grpSpPr>
            <a:xfrm rot="-5400000">
              <a:off x="11107617" y="-11206942"/>
              <a:ext cx="4770761" cy="27184472"/>
              <a:chOff x="0" y="-38100"/>
              <a:chExt cx="1831597" cy="10436700"/>
            </a:xfrm>
          </p:grpSpPr>
          <p:sp>
            <p:nvSpPr>
              <p:cNvPr id="320" name="Google Shape;320;h32a9095667746e33_0_68"/>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21" name="Google Shape;321;h32a9095667746e33_0_68"/>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2" name="Google Shape;322;h32a9095667746e33_0_68"/>
            <p:cNvGrpSpPr/>
            <p:nvPr/>
          </p:nvGrpSpPr>
          <p:grpSpPr>
            <a:xfrm rot="-5400000">
              <a:off x="11637133" y="-6401070"/>
              <a:ext cx="4579844" cy="26922700"/>
              <a:chOff x="0" y="-38100"/>
              <a:chExt cx="1758300" cy="10336200"/>
            </a:xfrm>
          </p:grpSpPr>
          <p:sp>
            <p:nvSpPr>
              <p:cNvPr id="323" name="Google Shape;323;h32a9095667746e33_0_68"/>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24" name="Google Shape;324;h32a9095667746e33_0_68"/>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5" name="Google Shape;325;h32a9095667746e33_0_68"/>
          <p:cNvGrpSpPr/>
          <p:nvPr/>
        </p:nvGrpSpPr>
        <p:grpSpPr>
          <a:xfrm>
            <a:off x="731085" y="622850"/>
            <a:ext cx="16825838" cy="9050174"/>
            <a:chOff x="0" y="-108814"/>
            <a:chExt cx="22434451" cy="12066898"/>
          </a:xfrm>
        </p:grpSpPr>
        <p:grpSp>
          <p:nvGrpSpPr>
            <p:cNvPr id="326" name="Google Shape;326;h32a9095667746e33_0_68"/>
            <p:cNvGrpSpPr/>
            <p:nvPr/>
          </p:nvGrpSpPr>
          <p:grpSpPr>
            <a:xfrm>
              <a:off x="26537" y="10214891"/>
              <a:ext cx="22386840" cy="1743193"/>
              <a:chOff x="0" y="-47625"/>
              <a:chExt cx="9809754" cy="763855"/>
            </a:xfrm>
          </p:grpSpPr>
          <p:sp>
            <p:nvSpPr>
              <p:cNvPr id="327" name="Google Shape;327;h32a9095667746e33_0_68"/>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28" name="Google Shape;328;h32a9095667746e33_0_68"/>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h32a9095667746e33_0_68"/>
            <p:cNvGrpSpPr/>
            <p:nvPr/>
          </p:nvGrpSpPr>
          <p:grpSpPr>
            <a:xfrm>
              <a:off x="0" y="-108814"/>
              <a:ext cx="22434451" cy="11946166"/>
              <a:chOff x="0" y="-47625"/>
              <a:chExt cx="9819000" cy="5228539"/>
            </a:xfrm>
          </p:grpSpPr>
          <p:sp>
            <p:nvSpPr>
              <p:cNvPr id="330" name="Google Shape;330;h32a9095667746e33_0_68"/>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331" name="Google Shape;331;h32a9095667746e33_0_68"/>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h32a9095667746e33_0_68"/>
          <p:cNvGrpSpPr/>
          <p:nvPr/>
        </p:nvGrpSpPr>
        <p:grpSpPr>
          <a:xfrm>
            <a:off x="763743" y="662704"/>
            <a:ext cx="16759942" cy="1561150"/>
            <a:chOff x="0" y="-38100"/>
            <a:chExt cx="8581200" cy="799319"/>
          </a:xfrm>
        </p:grpSpPr>
        <p:sp>
          <p:nvSpPr>
            <p:cNvPr id="333" name="Google Shape;333;h32a9095667746e33_0_68"/>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334" name="Google Shape;334;h32a9095667746e33_0_68"/>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h32a9095667746e33_0_68"/>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36" name="Google Shape;336;h32a9095667746e33_0_68"/>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37" name="Google Shape;337;h32a9095667746e33_0_68"/>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38" name="Google Shape;338;h32a9095667746e33_0_68"/>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39" name="Google Shape;339;h32a9095667746e33_0_68"/>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0" name="Google Shape;340;h32a9095667746e33_0_68"/>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1" name="Google Shape;341;h32a9095667746e33_0_68"/>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2" name="Google Shape;342;h32a9095667746e33_0_68"/>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3" name="Google Shape;343;h32a9095667746e33_0_68"/>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상한을 넘는 사례 금액</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44" name="Google Shape;344;h32a9095667746e33_0_68"/>
          <p:cNvSpPr txBox="1"/>
          <p:nvPr/>
        </p:nvSpPr>
        <p:spPr>
          <a:xfrm>
            <a:off x="1143000" y="920715"/>
            <a:ext cx="128016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3600" b="1" i="0" u="none" strike="noStrike" cap="none">
                <a:solidFill>
                  <a:srgbClr val="CBDDEF"/>
                </a:solidFill>
                <a:latin typeface="Arial"/>
                <a:ea typeface="Arial"/>
                <a:cs typeface="Arial"/>
                <a:sym typeface="Arial"/>
              </a:rPr>
              <a:t>Q3</a:t>
            </a:r>
            <a:endParaRPr/>
          </a:p>
        </p:txBody>
      </p:sp>
      <p:sp>
        <p:nvSpPr>
          <p:cNvPr id="345" name="Google Shape;345;h32a9095667746e33_0_68"/>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질문</a:t>
            </a:r>
            <a:endParaRPr/>
          </a:p>
        </p:txBody>
      </p:sp>
      <p:sp>
        <p:nvSpPr>
          <p:cNvPr id="346" name="Google Shape;346;h32a9095667746e33_0_68"/>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유사 사례 과징금 중앙값이 고객사 법정 상한보다 훨씬 크면 보고서 신뢰도가 떨어지지 않나요?</a:t>
            </a:r>
            <a:endParaRPr/>
          </a:p>
        </p:txBody>
      </p:sp>
      <p:sp>
        <p:nvSpPr>
          <p:cNvPr id="347" name="Google Shape;347;h32a9095667746e33_0_68"/>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답변 요점</a:t>
            </a:r>
            <a:endParaRPr/>
          </a:p>
        </p:txBody>
      </p:sp>
      <p:sp>
        <p:nvSpPr>
          <p:cNvPr id="348" name="Google Shape;348;h32a9095667746e33_0_68"/>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중앙값 &gt; 상한이면 경고 생성</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경영진용 각주에 자동 표시</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실무진용 부록 4.3에 경고문</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상한 초과 사례 수도 집계</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 name="Google Shape;318;h32a9095667746e33_0_68"/>
          <p:cNvGrpSpPr/>
          <p:nvPr/>
        </p:nvGrpSpPr>
        <p:grpSpPr>
          <a:xfrm>
            <a:off x="-1081199" y="3274283"/>
            <a:ext cx="20615733" cy="7012716"/>
            <a:chOff x="-99239" y="-86"/>
            <a:chExt cx="27487644" cy="9350288"/>
          </a:xfrm>
        </p:grpSpPr>
        <p:grpSp>
          <p:nvGrpSpPr>
            <p:cNvPr id="319" name="Google Shape;319;h32a9095667746e33_0_68"/>
            <p:cNvGrpSpPr/>
            <p:nvPr/>
          </p:nvGrpSpPr>
          <p:grpSpPr>
            <a:xfrm rot="-5400000">
              <a:off x="11107617" y="-11206942"/>
              <a:ext cx="4770761" cy="27184472"/>
              <a:chOff x="0" y="-38100"/>
              <a:chExt cx="1831597" cy="10436700"/>
            </a:xfrm>
          </p:grpSpPr>
          <p:sp>
            <p:nvSpPr>
              <p:cNvPr id="320" name="Google Shape;320;h32a9095667746e33_0_68"/>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21" name="Google Shape;321;h32a9095667746e33_0_68"/>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2" name="Google Shape;322;h32a9095667746e33_0_68"/>
            <p:cNvGrpSpPr/>
            <p:nvPr/>
          </p:nvGrpSpPr>
          <p:grpSpPr>
            <a:xfrm rot="-5400000">
              <a:off x="11637133" y="-6401070"/>
              <a:ext cx="4579844" cy="26922700"/>
              <a:chOff x="0" y="-38100"/>
              <a:chExt cx="1758300" cy="10336200"/>
            </a:xfrm>
          </p:grpSpPr>
          <p:sp>
            <p:nvSpPr>
              <p:cNvPr id="323" name="Google Shape;323;h32a9095667746e33_0_68"/>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24" name="Google Shape;324;h32a9095667746e33_0_68"/>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5" name="Google Shape;325;h32a9095667746e33_0_68"/>
          <p:cNvGrpSpPr/>
          <p:nvPr/>
        </p:nvGrpSpPr>
        <p:grpSpPr>
          <a:xfrm>
            <a:off x="731085" y="622850"/>
            <a:ext cx="16825838" cy="9050174"/>
            <a:chOff x="0" y="-108814"/>
            <a:chExt cx="22434451" cy="12066898"/>
          </a:xfrm>
        </p:grpSpPr>
        <p:grpSp>
          <p:nvGrpSpPr>
            <p:cNvPr id="326" name="Google Shape;326;h32a9095667746e33_0_68"/>
            <p:cNvGrpSpPr/>
            <p:nvPr/>
          </p:nvGrpSpPr>
          <p:grpSpPr>
            <a:xfrm>
              <a:off x="26537" y="10214891"/>
              <a:ext cx="22386840" cy="1743193"/>
              <a:chOff x="0" y="-47625"/>
              <a:chExt cx="9809754" cy="763855"/>
            </a:xfrm>
          </p:grpSpPr>
          <p:sp>
            <p:nvSpPr>
              <p:cNvPr id="327" name="Google Shape;327;h32a9095667746e33_0_68"/>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28" name="Google Shape;328;h32a9095667746e33_0_68"/>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h32a9095667746e33_0_68"/>
            <p:cNvGrpSpPr/>
            <p:nvPr/>
          </p:nvGrpSpPr>
          <p:grpSpPr>
            <a:xfrm>
              <a:off x="0" y="-108814"/>
              <a:ext cx="22434451" cy="11946166"/>
              <a:chOff x="0" y="-47625"/>
              <a:chExt cx="9819000" cy="5228539"/>
            </a:xfrm>
          </p:grpSpPr>
          <p:sp>
            <p:nvSpPr>
              <p:cNvPr id="330" name="Google Shape;330;h32a9095667746e33_0_68"/>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331" name="Google Shape;331;h32a9095667746e33_0_68"/>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h32a9095667746e33_0_68"/>
          <p:cNvGrpSpPr/>
          <p:nvPr/>
        </p:nvGrpSpPr>
        <p:grpSpPr>
          <a:xfrm>
            <a:off x="763743" y="662704"/>
            <a:ext cx="16759942" cy="1561150"/>
            <a:chOff x="0" y="-38100"/>
            <a:chExt cx="8581200" cy="799319"/>
          </a:xfrm>
        </p:grpSpPr>
        <p:sp>
          <p:nvSpPr>
            <p:cNvPr id="333" name="Google Shape;333;h32a9095667746e33_0_68"/>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334" name="Google Shape;334;h32a9095667746e33_0_68"/>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h32a9095667746e33_0_68"/>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36" name="Google Shape;336;h32a9095667746e33_0_68"/>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37" name="Google Shape;337;h32a9095667746e33_0_68"/>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38" name="Google Shape;338;h32a9095667746e33_0_68"/>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39" name="Google Shape;339;h32a9095667746e33_0_68"/>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0" name="Google Shape;340;h32a9095667746e33_0_68"/>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1" name="Google Shape;341;h32a9095667746e33_0_68"/>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2" name="Google Shape;342;h32a9095667746e33_0_68"/>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3" name="Google Shape;343;h32a9095667746e33_0_68"/>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금액은 템플릿이</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44" name="Google Shape;344;h32a9095667746e33_0_68"/>
          <p:cNvSpPr txBox="1"/>
          <p:nvPr/>
        </p:nvSpPr>
        <p:spPr>
          <a:xfrm>
            <a:off x="1143000" y="920715"/>
            <a:ext cx="128016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3600" b="1" i="0" u="none" strike="noStrike" cap="none">
                <a:solidFill>
                  <a:srgbClr val="CBDDEF"/>
                </a:solidFill>
                <a:latin typeface="Arial"/>
                <a:ea typeface="Arial"/>
                <a:cs typeface="Arial"/>
                <a:sym typeface="Arial"/>
              </a:rPr>
              <a:t>Q4</a:t>
            </a:r>
            <a:endParaRPr/>
          </a:p>
        </p:txBody>
      </p:sp>
      <p:sp>
        <p:nvSpPr>
          <p:cNvPr id="345" name="Google Shape;345;h32a9095667746e33_0_68"/>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질문</a:t>
            </a:r>
            <a:endParaRPr/>
          </a:p>
        </p:txBody>
      </p:sp>
      <p:sp>
        <p:nvSpPr>
          <p:cNvPr id="346" name="Google Shape;346;h32a9095667746e33_0_68"/>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LLM이 금액을 문장에 못 쓰게 했는데, 최종 PDF의 원화 금액은 어떻게 들어가나요?</a:t>
            </a:r>
            <a:endParaRPr/>
          </a:p>
        </p:txBody>
      </p:sp>
      <p:sp>
        <p:nvSpPr>
          <p:cNvPr id="347" name="Google Shape;347;h32a9095667746e33_0_68"/>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답변 요점</a:t>
            </a:r>
            <a:endParaRPr/>
          </a:p>
        </p:txBody>
      </p:sp>
      <p:sp>
        <p:nvSpPr>
          <p:cNvPr id="348" name="Google Shape;348;h32a9095667746e33_0_68"/>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LLM 입력에서 금액 제외</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LLM은 ID와 문장만 출력</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enrich()가 원본 데이터 결합</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템플릿이 금액 직접 출력</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 name="Google Shape;318;h32a9095667746e33_0_68"/>
          <p:cNvGrpSpPr/>
          <p:nvPr/>
        </p:nvGrpSpPr>
        <p:grpSpPr>
          <a:xfrm>
            <a:off x="-1081199" y="3274283"/>
            <a:ext cx="20615733" cy="7012716"/>
            <a:chOff x="-99239" y="-86"/>
            <a:chExt cx="27487644" cy="9350288"/>
          </a:xfrm>
        </p:grpSpPr>
        <p:grpSp>
          <p:nvGrpSpPr>
            <p:cNvPr id="319" name="Google Shape;319;h32a9095667746e33_0_68"/>
            <p:cNvGrpSpPr/>
            <p:nvPr/>
          </p:nvGrpSpPr>
          <p:grpSpPr>
            <a:xfrm rot="-5400000">
              <a:off x="11107617" y="-11206942"/>
              <a:ext cx="4770761" cy="27184472"/>
              <a:chOff x="0" y="-38100"/>
              <a:chExt cx="1831597" cy="10436700"/>
            </a:xfrm>
          </p:grpSpPr>
          <p:sp>
            <p:nvSpPr>
              <p:cNvPr id="320" name="Google Shape;320;h32a9095667746e33_0_68"/>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21" name="Google Shape;321;h32a9095667746e33_0_68"/>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2" name="Google Shape;322;h32a9095667746e33_0_68"/>
            <p:cNvGrpSpPr/>
            <p:nvPr/>
          </p:nvGrpSpPr>
          <p:grpSpPr>
            <a:xfrm rot="-5400000">
              <a:off x="11637133" y="-6401070"/>
              <a:ext cx="4579844" cy="26922700"/>
              <a:chOff x="0" y="-38100"/>
              <a:chExt cx="1758300" cy="10336200"/>
            </a:xfrm>
          </p:grpSpPr>
          <p:sp>
            <p:nvSpPr>
              <p:cNvPr id="323" name="Google Shape;323;h32a9095667746e33_0_68"/>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24" name="Google Shape;324;h32a9095667746e33_0_68"/>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5" name="Google Shape;325;h32a9095667746e33_0_68"/>
          <p:cNvGrpSpPr/>
          <p:nvPr/>
        </p:nvGrpSpPr>
        <p:grpSpPr>
          <a:xfrm>
            <a:off x="731085" y="622850"/>
            <a:ext cx="16825838" cy="9050174"/>
            <a:chOff x="0" y="-108814"/>
            <a:chExt cx="22434451" cy="12066898"/>
          </a:xfrm>
        </p:grpSpPr>
        <p:grpSp>
          <p:nvGrpSpPr>
            <p:cNvPr id="326" name="Google Shape;326;h32a9095667746e33_0_68"/>
            <p:cNvGrpSpPr/>
            <p:nvPr/>
          </p:nvGrpSpPr>
          <p:grpSpPr>
            <a:xfrm>
              <a:off x="26537" y="10214891"/>
              <a:ext cx="22386840" cy="1743193"/>
              <a:chOff x="0" y="-47625"/>
              <a:chExt cx="9809754" cy="763855"/>
            </a:xfrm>
          </p:grpSpPr>
          <p:sp>
            <p:nvSpPr>
              <p:cNvPr id="327" name="Google Shape;327;h32a9095667746e33_0_68"/>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28" name="Google Shape;328;h32a9095667746e33_0_68"/>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h32a9095667746e33_0_68"/>
            <p:cNvGrpSpPr/>
            <p:nvPr/>
          </p:nvGrpSpPr>
          <p:grpSpPr>
            <a:xfrm>
              <a:off x="0" y="-108814"/>
              <a:ext cx="22434451" cy="11946166"/>
              <a:chOff x="0" y="-47625"/>
              <a:chExt cx="9819000" cy="5228539"/>
            </a:xfrm>
          </p:grpSpPr>
          <p:sp>
            <p:nvSpPr>
              <p:cNvPr id="330" name="Google Shape;330;h32a9095667746e33_0_68"/>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331" name="Google Shape;331;h32a9095667746e33_0_68"/>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h32a9095667746e33_0_68"/>
          <p:cNvGrpSpPr/>
          <p:nvPr/>
        </p:nvGrpSpPr>
        <p:grpSpPr>
          <a:xfrm>
            <a:off x="763743" y="662704"/>
            <a:ext cx="16759942" cy="1561150"/>
            <a:chOff x="0" y="-38100"/>
            <a:chExt cx="8581200" cy="799319"/>
          </a:xfrm>
        </p:grpSpPr>
        <p:sp>
          <p:nvSpPr>
            <p:cNvPr id="333" name="Google Shape;333;h32a9095667746e33_0_68"/>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334" name="Google Shape;334;h32a9095667746e33_0_68"/>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h32a9095667746e33_0_68"/>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36" name="Google Shape;336;h32a9095667746e33_0_68"/>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37" name="Google Shape;337;h32a9095667746e33_0_68"/>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38" name="Google Shape;338;h32a9095667746e33_0_68"/>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39" name="Google Shape;339;h32a9095667746e33_0_68"/>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0" name="Google Shape;340;h32a9095667746e33_0_68"/>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1" name="Google Shape;341;h32a9095667746e33_0_68"/>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2" name="Google Shape;342;h32a9095667746e33_0_68"/>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3" name="Google Shape;343;h32a9095667746e33_0_68"/>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모르는 항목 ID</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44" name="Google Shape;344;h32a9095667746e33_0_68"/>
          <p:cNvSpPr txBox="1"/>
          <p:nvPr/>
        </p:nvSpPr>
        <p:spPr>
          <a:xfrm>
            <a:off x="1143000" y="920715"/>
            <a:ext cx="128016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3600" b="1" i="0" u="none" strike="noStrike" cap="none">
                <a:solidFill>
                  <a:srgbClr val="CBDDEF"/>
                </a:solidFill>
                <a:latin typeface="Arial"/>
                <a:ea typeface="Arial"/>
                <a:cs typeface="Arial"/>
                <a:sym typeface="Arial"/>
              </a:rPr>
              <a:t>Q5</a:t>
            </a:r>
            <a:endParaRPr/>
          </a:p>
        </p:txBody>
      </p:sp>
      <p:sp>
        <p:nvSpPr>
          <p:cNvPr id="345" name="Google Shape;345;h32a9095667746e33_0_68"/>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질문</a:t>
            </a:r>
            <a:endParaRPr/>
          </a:p>
        </p:txBody>
      </p:sp>
      <p:sp>
        <p:nvSpPr>
          <p:cNvPr id="346" name="Google Shape;346;h32a9095667746e33_0_68"/>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스캐너가 업데이트되어 카탈로그에 없는 새 항목 ID(예: W-99)를 넘기면 엔진이 멈추나요?</a:t>
            </a:r>
            <a:endParaRPr/>
          </a:p>
        </p:txBody>
      </p:sp>
      <p:sp>
        <p:nvSpPr>
          <p:cNvPr id="347" name="Google Shape;347;h32a9095667746e33_0_68"/>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답변 요점</a:t>
            </a:r>
            <a:endParaRPr/>
          </a:p>
        </p:txBody>
      </p:sp>
      <p:sp>
        <p:nvSpPr>
          <p:cNvPr id="348" name="Google Shape;348;h32a9095667746e33_0_68"/>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이름 일치로 1차 연결</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ID 앞부분으로 2차 연결</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없으면 빈칸 + 콘솔 안내</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W-99 시험: PDF 정상 생성</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 name="Google Shape;318;h32a9095667746e33_0_68"/>
          <p:cNvGrpSpPr/>
          <p:nvPr/>
        </p:nvGrpSpPr>
        <p:grpSpPr>
          <a:xfrm>
            <a:off x="-1081199" y="3274283"/>
            <a:ext cx="20615733" cy="7012716"/>
            <a:chOff x="-99239" y="-86"/>
            <a:chExt cx="27487644" cy="9350288"/>
          </a:xfrm>
        </p:grpSpPr>
        <p:grpSp>
          <p:nvGrpSpPr>
            <p:cNvPr id="319" name="Google Shape;319;h32a9095667746e33_0_68"/>
            <p:cNvGrpSpPr/>
            <p:nvPr/>
          </p:nvGrpSpPr>
          <p:grpSpPr>
            <a:xfrm rot="-5400000">
              <a:off x="11107617" y="-11206942"/>
              <a:ext cx="4770761" cy="27184472"/>
              <a:chOff x="0" y="-38100"/>
              <a:chExt cx="1831597" cy="10436700"/>
            </a:xfrm>
          </p:grpSpPr>
          <p:sp>
            <p:nvSpPr>
              <p:cNvPr id="320" name="Google Shape;320;h32a9095667746e33_0_68"/>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21" name="Google Shape;321;h32a9095667746e33_0_68"/>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2" name="Google Shape;322;h32a9095667746e33_0_68"/>
            <p:cNvGrpSpPr/>
            <p:nvPr/>
          </p:nvGrpSpPr>
          <p:grpSpPr>
            <a:xfrm rot="-5400000">
              <a:off x="11637133" y="-6401070"/>
              <a:ext cx="4579844" cy="26922700"/>
              <a:chOff x="0" y="-38100"/>
              <a:chExt cx="1758300" cy="10336200"/>
            </a:xfrm>
          </p:grpSpPr>
          <p:sp>
            <p:nvSpPr>
              <p:cNvPr id="323" name="Google Shape;323;h32a9095667746e33_0_68"/>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24" name="Google Shape;324;h32a9095667746e33_0_68"/>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5" name="Google Shape;325;h32a9095667746e33_0_68"/>
          <p:cNvGrpSpPr/>
          <p:nvPr/>
        </p:nvGrpSpPr>
        <p:grpSpPr>
          <a:xfrm>
            <a:off x="731085" y="622850"/>
            <a:ext cx="16825838" cy="9050174"/>
            <a:chOff x="0" y="-108814"/>
            <a:chExt cx="22434451" cy="12066898"/>
          </a:xfrm>
        </p:grpSpPr>
        <p:grpSp>
          <p:nvGrpSpPr>
            <p:cNvPr id="326" name="Google Shape;326;h32a9095667746e33_0_68"/>
            <p:cNvGrpSpPr/>
            <p:nvPr/>
          </p:nvGrpSpPr>
          <p:grpSpPr>
            <a:xfrm>
              <a:off x="26537" y="10214891"/>
              <a:ext cx="22386840" cy="1743193"/>
              <a:chOff x="0" y="-47625"/>
              <a:chExt cx="9809754" cy="763855"/>
            </a:xfrm>
          </p:grpSpPr>
          <p:sp>
            <p:nvSpPr>
              <p:cNvPr id="327" name="Google Shape;327;h32a9095667746e33_0_68"/>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28" name="Google Shape;328;h32a9095667746e33_0_68"/>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h32a9095667746e33_0_68"/>
            <p:cNvGrpSpPr/>
            <p:nvPr/>
          </p:nvGrpSpPr>
          <p:grpSpPr>
            <a:xfrm>
              <a:off x="0" y="-108814"/>
              <a:ext cx="22434451" cy="11946166"/>
              <a:chOff x="0" y="-47625"/>
              <a:chExt cx="9819000" cy="5228539"/>
            </a:xfrm>
          </p:grpSpPr>
          <p:sp>
            <p:nvSpPr>
              <p:cNvPr id="330" name="Google Shape;330;h32a9095667746e33_0_68"/>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331" name="Google Shape;331;h32a9095667746e33_0_68"/>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h32a9095667746e33_0_68"/>
          <p:cNvGrpSpPr/>
          <p:nvPr/>
        </p:nvGrpSpPr>
        <p:grpSpPr>
          <a:xfrm>
            <a:off x="763743" y="662704"/>
            <a:ext cx="16759942" cy="1561150"/>
            <a:chOff x="0" y="-38100"/>
            <a:chExt cx="8581200" cy="799319"/>
          </a:xfrm>
        </p:grpSpPr>
        <p:sp>
          <p:nvSpPr>
            <p:cNvPr id="333" name="Google Shape;333;h32a9095667746e33_0_68"/>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334" name="Google Shape;334;h32a9095667746e33_0_68"/>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h32a9095667746e33_0_68"/>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36" name="Google Shape;336;h32a9095667746e33_0_68"/>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37" name="Google Shape;337;h32a9095667746e33_0_68"/>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38" name="Google Shape;338;h32a9095667746e33_0_68"/>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39" name="Google Shape;339;h32a9095667746e33_0_68"/>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0" name="Google Shape;340;h32a9095667746e33_0_68"/>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1" name="Google Shape;341;h32a9095667746e33_0_68"/>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2" name="Google Shape;342;h32a9095667746e33_0_68"/>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3" name="Google Shape;343;h32a9095667746e33_0_68"/>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우선순위 점수</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44" name="Google Shape;344;h32a9095667746e33_0_68"/>
          <p:cNvSpPr txBox="1"/>
          <p:nvPr/>
        </p:nvSpPr>
        <p:spPr>
          <a:xfrm>
            <a:off x="1143000" y="920715"/>
            <a:ext cx="128016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3600" b="1" i="0" u="none" strike="noStrike" cap="none">
                <a:solidFill>
                  <a:srgbClr val="CBDDEF"/>
                </a:solidFill>
                <a:latin typeface="Arial"/>
                <a:ea typeface="Arial"/>
                <a:cs typeface="Arial"/>
                <a:sym typeface="Arial"/>
              </a:rPr>
              <a:t>Q6</a:t>
            </a:r>
            <a:endParaRPr/>
          </a:p>
        </p:txBody>
      </p:sp>
      <p:sp>
        <p:nvSpPr>
          <p:cNvPr id="345" name="Google Shape;345;h32a9095667746e33_0_68"/>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질문</a:t>
            </a:r>
            <a:endParaRPr/>
          </a:p>
        </p:txBody>
      </p:sp>
      <p:sp>
        <p:nvSpPr>
          <p:cNvPr id="346" name="Google Shape;346;h32a9095667746e33_0_68"/>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실무진용 부록 4.4에서 '주석 내 정보 누출'은 4.5점, '에러페이지 정보 노출'은 3.0점입니다. 어떻게 계산되나요?</a:t>
            </a:r>
            <a:endParaRPr/>
          </a:p>
        </p:txBody>
      </p:sp>
      <p:sp>
        <p:nvSpPr>
          <p:cNvPr id="347" name="Google Shape;347;h32a9095667746e33_0_68"/>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답변 요점</a:t>
            </a:r>
            <a:endParaRPr/>
          </a:p>
        </p:txBody>
      </p:sp>
      <p:sp>
        <p:nvSpPr>
          <p:cNvPr id="348" name="Google Shape;348;h32a9095667746e33_0_68"/>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심각도 상3·중2·하1</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개인정보 자산 1.0, 아니면 0.3</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 (1 + 0.5 × 사례 근거)</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3×1×1.5=4.5 / 2×1×1.5=3.0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 name="Google Shape;318;h32a9095667746e33_0_68"/>
          <p:cNvGrpSpPr/>
          <p:nvPr/>
        </p:nvGrpSpPr>
        <p:grpSpPr>
          <a:xfrm>
            <a:off x="-1081199" y="3274283"/>
            <a:ext cx="20615733" cy="7012716"/>
            <a:chOff x="-99239" y="-86"/>
            <a:chExt cx="27487644" cy="9350288"/>
          </a:xfrm>
        </p:grpSpPr>
        <p:grpSp>
          <p:nvGrpSpPr>
            <p:cNvPr id="319" name="Google Shape;319;h32a9095667746e33_0_68"/>
            <p:cNvGrpSpPr/>
            <p:nvPr/>
          </p:nvGrpSpPr>
          <p:grpSpPr>
            <a:xfrm rot="-5400000">
              <a:off x="11107617" y="-11206942"/>
              <a:ext cx="4770761" cy="27184472"/>
              <a:chOff x="0" y="-38100"/>
              <a:chExt cx="1831597" cy="10436700"/>
            </a:xfrm>
          </p:grpSpPr>
          <p:sp>
            <p:nvSpPr>
              <p:cNvPr id="320" name="Google Shape;320;h32a9095667746e33_0_68"/>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21" name="Google Shape;321;h32a9095667746e33_0_68"/>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2" name="Google Shape;322;h32a9095667746e33_0_68"/>
            <p:cNvGrpSpPr/>
            <p:nvPr/>
          </p:nvGrpSpPr>
          <p:grpSpPr>
            <a:xfrm rot="-5400000">
              <a:off x="11637133" y="-6401070"/>
              <a:ext cx="4579844" cy="26922700"/>
              <a:chOff x="0" y="-38100"/>
              <a:chExt cx="1758300" cy="10336200"/>
            </a:xfrm>
          </p:grpSpPr>
          <p:sp>
            <p:nvSpPr>
              <p:cNvPr id="323" name="Google Shape;323;h32a9095667746e33_0_68"/>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24" name="Google Shape;324;h32a9095667746e33_0_68"/>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5" name="Google Shape;325;h32a9095667746e33_0_68"/>
          <p:cNvGrpSpPr/>
          <p:nvPr/>
        </p:nvGrpSpPr>
        <p:grpSpPr>
          <a:xfrm>
            <a:off x="731085" y="622850"/>
            <a:ext cx="16825838" cy="9050174"/>
            <a:chOff x="0" y="-108814"/>
            <a:chExt cx="22434451" cy="12066898"/>
          </a:xfrm>
        </p:grpSpPr>
        <p:grpSp>
          <p:nvGrpSpPr>
            <p:cNvPr id="326" name="Google Shape;326;h32a9095667746e33_0_68"/>
            <p:cNvGrpSpPr/>
            <p:nvPr/>
          </p:nvGrpSpPr>
          <p:grpSpPr>
            <a:xfrm>
              <a:off x="26537" y="10214891"/>
              <a:ext cx="22386840" cy="1743193"/>
              <a:chOff x="0" y="-47625"/>
              <a:chExt cx="9809754" cy="763855"/>
            </a:xfrm>
          </p:grpSpPr>
          <p:sp>
            <p:nvSpPr>
              <p:cNvPr id="327" name="Google Shape;327;h32a9095667746e33_0_68"/>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28" name="Google Shape;328;h32a9095667746e33_0_68"/>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h32a9095667746e33_0_68"/>
            <p:cNvGrpSpPr/>
            <p:nvPr/>
          </p:nvGrpSpPr>
          <p:grpSpPr>
            <a:xfrm>
              <a:off x="0" y="-108814"/>
              <a:ext cx="22434451" cy="11946166"/>
              <a:chOff x="0" y="-47625"/>
              <a:chExt cx="9819000" cy="5228539"/>
            </a:xfrm>
          </p:grpSpPr>
          <p:sp>
            <p:nvSpPr>
              <p:cNvPr id="330" name="Google Shape;330;h32a9095667746e33_0_68"/>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331" name="Google Shape;331;h32a9095667746e33_0_68"/>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h32a9095667746e33_0_68"/>
          <p:cNvGrpSpPr/>
          <p:nvPr/>
        </p:nvGrpSpPr>
        <p:grpSpPr>
          <a:xfrm>
            <a:off x="763743" y="662704"/>
            <a:ext cx="16759942" cy="1561150"/>
            <a:chOff x="0" y="-38100"/>
            <a:chExt cx="8581200" cy="799319"/>
          </a:xfrm>
        </p:grpSpPr>
        <p:sp>
          <p:nvSpPr>
            <p:cNvPr id="333" name="Google Shape;333;h32a9095667746e33_0_68"/>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334" name="Google Shape;334;h32a9095667746e33_0_68"/>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h32a9095667746e33_0_68"/>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36" name="Google Shape;336;h32a9095667746e33_0_68"/>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37" name="Google Shape;337;h32a9095667746e33_0_68"/>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38" name="Google Shape;338;h32a9095667746e33_0_68"/>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39" name="Google Shape;339;h32a9095667746e33_0_68"/>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0" name="Google Shape;340;h32a9095667746e33_0_68"/>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1" name="Google Shape;341;h32a9095667746e33_0_68"/>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2" name="Google Shape;342;h32a9095667746e33_0_68"/>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3" name="Google Shape;343;h32a9095667746e33_0_68"/>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노출액 제외</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44" name="Google Shape;344;h32a9095667746e33_0_68"/>
          <p:cNvSpPr txBox="1"/>
          <p:nvPr/>
        </p:nvSpPr>
        <p:spPr>
          <a:xfrm>
            <a:off x="1143000" y="920715"/>
            <a:ext cx="128016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3600" b="1" i="0" u="none" strike="noStrike" cap="none">
                <a:solidFill>
                  <a:srgbClr val="CBDDEF"/>
                </a:solidFill>
                <a:latin typeface="Arial"/>
                <a:ea typeface="Arial"/>
                <a:cs typeface="Arial"/>
                <a:sym typeface="Arial"/>
              </a:rPr>
              <a:t>Q7</a:t>
            </a:r>
            <a:endParaRPr/>
          </a:p>
        </p:txBody>
      </p:sp>
      <p:sp>
        <p:nvSpPr>
          <p:cNvPr id="345" name="Google Shape;345;h32a9095667746e33_0_68"/>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질문</a:t>
            </a:r>
            <a:endParaRPr/>
          </a:p>
        </p:txBody>
      </p:sp>
      <p:sp>
        <p:nvSpPr>
          <p:cNvPr id="346" name="Google Shape;346;h32a9095667746e33_0_68"/>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'에러페이지 정보 노출'은 위험도가 '중'인데 왜 과징금 계산에서 빠졌나요?</a:t>
            </a:r>
            <a:endParaRPr/>
          </a:p>
        </p:txBody>
      </p:sp>
      <p:sp>
        <p:nvSpPr>
          <p:cNvPr id="347" name="Google Shape;347;h32a9095667746e33_0_68"/>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답변 요점</a:t>
            </a:r>
            <a:endParaRPr/>
          </a:p>
        </p:txBody>
      </p:sp>
      <p:sp>
        <p:nvSpPr>
          <p:cNvPr id="348" name="Google Shape;348;h32a9095667746e33_0_68"/>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관련 법 조항 매핑 없음</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 ISMS-P 심사 리스크로만</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양호·비개인정보 자산도 제외</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제외 사유는 부록 4.5에 공개</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 name="Google Shape;318;h32a9095667746e33_0_68"/>
          <p:cNvGrpSpPr/>
          <p:nvPr/>
        </p:nvGrpSpPr>
        <p:grpSpPr>
          <a:xfrm>
            <a:off x="-1081199" y="3274283"/>
            <a:ext cx="20615733" cy="7012716"/>
            <a:chOff x="-99239" y="-86"/>
            <a:chExt cx="27487644" cy="9350288"/>
          </a:xfrm>
        </p:grpSpPr>
        <p:grpSp>
          <p:nvGrpSpPr>
            <p:cNvPr id="319" name="Google Shape;319;h32a9095667746e33_0_68"/>
            <p:cNvGrpSpPr/>
            <p:nvPr/>
          </p:nvGrpSpPr>
          <p:grpSpPr>
            <a:xfrm rot="-5400000">
              <a:off x="11107617" y="-11206942"/>
              <a:ext cx="4770761" cy="27184472"/>
              <a:chOff x="0" y="-38100"/>
              <a:chExt cx="1831597" cy="10436700"/>
            </a:xfrm>
          </p:grpSpPr>
          <p:sp>
            <p:nvSpPr>
              <p:cNvPr id="320" name="Google Shape;320;h32a9095667746e33_0_68"/>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21" name="Google Shape;321;h32a9095667746e33_0_68"/>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2" name="Google Shape;322;h32a9095667746e33_0_68"/>
            <p:cNvGrpSpPr/>
            <p:nvPr/>
          </p:nvGrpSpPr>
          <p:grpSpPr>
            <a:xfrm rot="-5400000">
              <a:off x="11637133" y="-6401070"/>
              <a:ext cx="4579844" cy="26922700"/>
              <a:chOff x="0" y="-38100"/>
              <a:chExt cx="1758300" cy="10336200"/>
            </a:xfrm>
          </p:grpSpPr>
          <p:sp>
            <p:nvSpPr>
              <p:cNvPr id="323" name="Google Shape;323;h32a9095667746e33_0_68"/>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24" name="Google Shape;324;h32a9095667746e33_0_68"/>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5" name="Google Shape;325;h32a9095667746e33_0_68"/>
          <p:cNvGrpSpPr/>
          <p:nvPr/>
        </p:nvGrpSpPr>
        <p:grpSpPr>
          <a:xfrm>
            <a:off x="731085" y="622850"/>
            <a:ext cx="16825838" cy="9050174"/>
            <a:chOff x="0" y="-108814"/>
            <a:chExt cx="22434451" cy="12066898"/>
          </a:xfrm>
        </p:grpSpPr>
        <p:grpSp>
          <p:nvGrpSpPr>
            <p:cNvPr id="326" name="Google Shape;326;h32a9095667746e33_0_68"/>
            <p:cNvGrpSpPr/>
            <p:nvPr/>
          </p:nvGrpSpPr>
          <p:grpSpPr>
            <a:xfrm>
              <a:off x="26537" y="10214891"/>
              <a:ext cx="22386840" cy="1743193"/>
              <a:chOff x="0" y="-47625"/>
              <a:chExt cx="9809754" cy="763855"/>
            </a:xfrm>
          </p:grpSpPr>
          <p:sp>
            <p:nvSpPr>
              <p:cNvPr id="327" name="Google Shape;327;h32a9095667746e33_0_68"/>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28" name="Google Shape;328;h32a9095667746e33_0_68"/>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h32a9095667746e33_0_68"/>
            <p:cNvGrpSpPr/>
            <p:nvPr/>
          </p:nvGrpSpPr>
          <p:grpSpPr>
            <a:xfrm>
              <a:off x="0" y="-108814"/>
              <a:ext cx="22434451" cy="11946166"/>
              <a:chOff x="0" y="-47625"/>
              <a:chExt cx="9819000" cy="5228539"/>
            </a:xfrm>
          </p:grpSpPr>
          <p:sp>
            <p:nvSpPr>
              <p:cNvPr id="330" name="Google Shape;330;h32a9095667746e33_0_68"/>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331" name="Google Shape;331;h32a9095667746e33_0_68"/>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h32a9095667746e33_0_68"/>
          <p:cNvGrpSpPr/>
          <p:nvPr/>
        </p:nvGrpSpPr>
        <p:grpSpPr>
          <a:xfrm>
            <a:off x="763743" y="662704"/>
            <a:ext cx="16759942" cy="1561150"/>
            <a:chOff x="0" y="-38100"/>
            <a:chExt cx="8581200" cy="799319"/>
          </a:xfrm>
        </p:grpSpPr>
        <p:sp>
          <p:nvSpPr>
            <p:cNvPr id="333" name="Google Shape;333;h32a9095667746e33_0_68"/>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334" name="Google Shape;334;h32a9095667746e33_0_68"/>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h32a9095667746e33_0_68"/>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36" name="Google Shape;336;h32a9095667746e33_0_68"/>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37" name="Google Shape;337;h32a9095667746e33_0_68"/>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38" name="Google Shape;338;h32a9095667746e33_0_68"/>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39" name="Google Shape;339;h32a9095667746e33_0_68"/>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0" name="Google Shape;340;h32a9095667746e33_0_68"/>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1" name="Google Shape;341;h32a9095667746e33_0_68"/>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2" name="Google Shape;342;h32a9095667746e33_0_68"/>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3" name="Google Shape;343;h32a9095667746e33_0_68"/>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상한 vs 사례 중앙값</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44" name="Google Shape;344;h32a9095667746e33_0_68"/>
          <p:cNvSpPr txBox="1"/>
          <p:nvPr/>
        </p:nvSpPr>
        <p:spPr>
          <a:xfrm>
            <a:off x="1143000" y="920715"/>
            <a:ext cx="128016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3600" b="1" i="0" u="none" strike="noStrike" cap="none">
                <a:solidFill>
                  <a:srgbClr val="CBDDEF"/>
                </a:solidFill>
                <a:latin typeface="Arial"/>
                <a:ea typeface="Arial"/>
                <a:cs typeface="Arial"/>
                <a:sym typeface="Arial"/>
              </a:rPr>
              <a:t>Q8</a:t>
            </a:r>
            <a:endParaRPr/>
          </a:p>
        </p:txBody>
      </p:sp>
      <p:sp>
        <p:nvSpPr>
          <p:cNvPr id="345" name="Google Shape;345;h32a9095667746e33_0_68"/>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질문</a:t>
            </a:r>
            <a:endParaRPr/>
          </a:p>
        </p:txBody>
      </p:sp>
      <p:sp>
        <p:nvSpPr>
          <p:cNvPr id="346" name="Google Shape;346;h32a9095667746e33_0_68"/>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경영진용 5쪽에서 법정 상한은 1억 5,000만 원인데 사례 중앙값은 20억 3,550만 원입니다. 혼란스럽지 않나요?</a:t>
            </a:r>
            <a:endParaRPr/>
          </a:p>
        </p:txBody>
      </p:sp>
      <p:sp>
        <p:nvSpPr>
          <p:cNvPr id="347" name="Google Shape;347;h32a9095667746e33_0_68"/>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답변 요점</a:t>
            </a:r>
            <a:endParaRPr/>
          </a:p>
        </p:txBody>
      </p:sp>
      <p:sp>
        <p:nvSpPr>
          <p:cNvPr id="348" name="Google Shape;348;h32a9095667746e33_0_68"/>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상한은 최대치, 사례는 참고값</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조건부 각주가 자동 출력</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사례 금액은 표에만 표시</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LLM 문장에는 금액 0건</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 name="Google Shape;318;h32a9095667746e33_0_68"/>
          <p:cNvGrpSpPr/>
          <p:nvPr/>
        </p:nvGrpSpPr>
        <p:grpSpPr>
          <a:xfrm>
            <a:off x="-1081199" y="3274283"/>
            <a:ext cx="20615733" cy="7012716"/>
            <a:chOff x="-99239" y="-86"/>
            <a:chExt cx="27487644" cy="9350288"/>
          </a:xfrm>
        </p:grpSpPr>
        <p:grpSp>
          <p:nvGrpSpPr>
            <p:cNvPr id="319" name="Google Shape;319;h32a9095667746e33_0_68"/>
            <p:cNvGrpSpPr/>
            <p:nvPr/>
          </p:nvGrpSpPr>
          <p:grpSpPr>
            <a:xfrm rot="-5400000">
              <a:off x="11107617" y="-11206942"/>
              <a:ext cx="4770761" cy="27184472"/>
              <a:chOff x="0" y="-38100"/>
              <a:chExt cx="1831597" cy="10436700"/>
            </a:xfrm>
          </p:grpSpPr>
          <p:sp>
            <p:nvSpPr>
              <p:cNvPr id="320" name="Google Shape;320;h32a9095667746e33_0_68"/>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21" name="Google Shape;321;h32a9095667746e33_0_68"/>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2" name="Google Shape;322;h32a9095667746e33_0_68"/>
            <p:cNvGrpSpPr/>
            <p:nvPr/>
          </p:nvGrpSpPr>
          <p:grpSpPr>
            <a:xfrm rot="-5400000">
              <a:off x="11637133" y="-6401070"/>
              <a:ext cx="4579844" cy="26922700"/>
              <a:chOff x="0" y="-38100"/>
              <a:chExt cx="1758300" cy="10336200"/>
            </a:xfrm>
          </p:grpSpPr>
          <p:sp>
            <p:nvSpPr>
              <p:cNvPr id="323" name="Google Shape;323;h32a9095667746e33_0_68"/>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24" name="Google Shape;324;h32a9095667746e33_0_68"/>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5" name="Google Shape;325;h32a9095667746e33_0_68"/>
          <p:cNvGrpSpPr/>
          <p:nvPr/>
        </p:nvGrpSpPr>
        <p:grpSpPr>
          <a:xfrm>
            <a:off x="731085" y="622850"/>
            <a:ext cx="16825838" cy="9050174"/>
            <a:chOff x="0" y="-108814"/>
            <a:chExt cx="22434451" cy="12066898"/>
          </a:xfrm>
        </p:grpSpPr>
        <p:grpSp>
          <p:nvGrpSpPr>
            <p:cNvPr id="326" name="Google Shape;326;h32a9095667746e33_0_68"/>
            <p:cNvGrpSpPr/>
            <p:nvPr/>
          </p:nvGrpSpPr>
          <p:grpSpPr>
            <a:xfrm>
              <a:off x="26537" y="10214891"/>
              <a:ext cx="22386840" cy="1743193"/>
              <a:chOff x="0" y="-47625"/>
              <a:chExt cx="9809754" cy="763855"/>
            </a:xfrm>
          </p:grpSpPr>
          <p:sp>
            <p:nvSpPr>
              <p:cNvPr id="327" name="Google Shape;327;h32a9095667746e33_0_68"/>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28" name="Google Shape;328;h32a9095667746e33_0_68"/>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h32a9095667746e33_0_68"/>
            <p:cNvGrpSpPr/>
            <p:nvPr/>
          </p:nvGrpSpPr>
          <p:grpSpPr>
            <a:xfrm>
              <a:off x="0" y="-108814"/>
              <a:ext cx="22434451" cy="11946166"/>
              <a:chOff x="0" y="-47625"/>
              <a:chExt cx="9819000" cy="5228539"/>
            </a:xfrm>
          </p:grpSpPr>
          <p:sp>
            <p:nvSpPr>
              <p:cNvPr id="330" name="Google Shape;330;h32a9095667746e33_0_68"/>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331" name="Google Shape;331;h32a9095667746e33_0_68"/>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h32a9095667746e33_0_68"/>
          <p:cNvGrpSpPr/>
          <p:nvPr/>
        </p:nvGrpSpPr>
        <p:grpSpPr>
          <a:xfrm>
            <a:off x="763743" y="662704"/>
            <a:ext cx="16759942" cy="1561150"/>
            <a:chOff x="0" y="-38100"/>
            <a:chExt cx="8581200" cy="799319"/>
          </a:xfrm>
        </p:grpSpPr>
        <p:sp>
          <p:nvSpPr>
            <p:cNvPr id="333" name="Google Shape;333;h32a9095667746e33_0_68"/>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334" name="Google Shape;334;h32a9095667746e33_0_68"/>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h32a9095667746e33_0_68"/>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36" name="Google Shape;336;h32a9095667746e33_0_68"/>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37" name="Google Shape;337;h32a9095667746e33_0_68"/>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38" name="Google Shape;338;h32a9095667746e33_0_68"/>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39" name="Google Shape;339;h32a9095667746e33_0_68"/>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0" name="Google Shape;340;h32a9095667746e33_0_68"/>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1" name="Google Shape;341;h32a9095667746e33_0_68"/>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2" name="Google Shape;342;h32a9095667746e33_0_68"/>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3" name="Google Shape;343;h32a9095667746e33_0_68"/>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10% 특례 시나리오</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44" name="Google Shape;344;h32a9095667746e33_0_68"/>
          <p:cNvSpPr txBox="1"/>
          <p:nvPr/>
        </p:nvSpPr>
        <p:spPr>
          <a:xfrm>
            <a:off x="1143000" y="920715"/>
            <a:ext cx="128016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3600" b="1" i="0" u="none" strike="noStrike" cap="none">
                <a:solidFill>
                  <a:srgbClr val="CBDDEF"/>
                </a:solidFill>
                <a:latin typeface="Arial"/>
                <a:ea typeface="Arial"/>
                <a:cs typeface="Arial"/>
                <a:sym typeface="Arial"/>
              </a:rPr>
              <a:t>Q9</a:t>
            </a:r>
            <a:endParaRPr/>
          </a:p>
        </p:txBody>
      </p:sp>
      <p:sp>
        <p:nvSpPr>
          <p:cNvPr id="345" name="Google Shape;345;h32a9095667746e33_0_68"/>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질문</a:t>
            </a:r>
            <a:endParaRPr/>
          </a:p>
        </p:txBody>
      </p:sp>
      <p:sp>
        <p:nvSpPr>
          <p:cNvPr id="346" name="Google Shape;346;h32a9095667746e33_0_68"/>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요건에 해당하지 않는 '10% 특례 시나리오(5억 원)'를 왜 굳이 보여주나요?</a:t>
            </a:r>
            <a:endParaRPr/>
          </a:p>
        </p:txBody>
      </p:sp>
      <p:sp>
        <p:nvSpPr>
          <p:cNvPr id="347" name="Google Shape;347;h32a9095667746e33_0_68"/>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답변 요점</a:t>
            </a:r>
            <a:endParaRPr/>
          </a:p>
        </p:txBody>
      </p:sp>
      <p:sp>
        <p:nvSpPr>
          <p:cNvPr id="348" name="Google Shape;348;h32a9095667746e33_0_68"/>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요건 3가지를 코드로 점검</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해당 없으면 회색 + '해당 없음'</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대응을 잘못했을 때의 상한</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예상액이 아닌 시나리오</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 name="Google Shape;318;h32a9095667746e33_0_68"/>
          <p:cNvGrpSpPr/>
          <p:nvPr/>
        </p:nvGrpSpPr>
        <p:grpSpPr>
          <a:xfrm>
            <a:off x="-1081199" y="3274283"/>
            <a:ext cx="20615733" cy="7012716"/>
            <a:chOff x="-99239" y="-86"/>
            <a:chExt cx="27487644" cy="9350288"/>
          </a:xfrm>
        </p:grpSpPr>
        <p:grpSp>
          <p:nvGrpSpPr>
            <p:cNvPr id="319" name="Google Shape;319;h32a9095667746e33_0_68"/>
            <p:cNvGrpSpPr/>
            <p:nvPr/>
          </p:nvGrpSpPr>
          <p:grpSpPr>
            <a:xfrm rot="-5400000">
              <a:off x="11107617" y="-11206942"/>
              <a:ext cx="4770761" cy="27184472"/>
              <a:chOff x="0" y="-38100"/>
              <a:chExt cx="1831597" cy="10436700"/>
            </a:xfrm>
          </p:grpSpPr>
          <p:sp>
            <p:nvSpPr>
              <p:cNvPr id="320" name="Google Shape;320;h32a9095667746e33_0_68"/>
              <p:cNvSpPr/>
              <p:nvPr/>
            </p:nvSpPr>
            <p:spPr>
              <a:xfrm>
                <a:off x="0" y="0"/>
                <a:ext cx="1831597" cy="10398600"/>
              </a:xfrm>
              <a:custGeom>
                <a:avLst/>
                <a:gdLst/>
                <a:ahLst/>
                <a:cxnLst/>
                <a:rect l="l" t="t" r="r" b="b"/>
                <a:pathLst>
                  <a:path w="1831597" h="10398600" extrusionOk="0">
                    <a:moveTo>
                      <a:pt x="0" y="0"/>
                    </a:moveTo>
                    <a:lnTo>
                      <a:pt x="1831597" y="0"/>
                    </a:lnTo>
                    <a:lnTo>
                      <a:pt x="1831597" y="10398600"/>
                    </a:lnTo>
                    <a:lnTo>
                      <a:pt x="0" y="10398600"/>
                    </a:lnTo>
                    <a:close/>
                  </a:path>
                </a:pathLst>
              </a:custGeom>
              <a:solidFill>
                <a:srgbClr val="CBDDEF"/>
              </a:solidFill>
              <a:ln>
                <a:noFill/>
              </a:ln>
            </p:spPr>
          </p:sp>
          <p:sp>
            <p:nvSpPr>
              <p:cNvPr id="321" name="Google Shape;321;h32a9095667746e33_0_68"/>
              <p:cNvSpPr txBox="1"/>
              <p:nvPr/>
            </p:nvSpPr>
            <p:spPr>
              <a:xfrm>
                <a:off x="0" y="-38100"/>
                <a:ext cx="1831500" cy="104367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2" name="Google Shape;322;h32a9095667746e33_0_68"/>
            <p:cNvGrpSpPr/>
            <p:nvPr/>
          </p:nvGrpSpPr>
          <p:grpSpPr>
            <a:xfrm rot="-5400000">
              <a:off x="11637133" y="-6401070"/>
              <a:ext cx="4579844" cy="26922700"/>
              <a:chOff x="0" y="-38100"/>
              <a:chExt cx="1758300" cy="10336200"/>
            </a:xfrm>
          </p:grpSpPr>
          <p:sp>
            <p:nvSpPr>
              <p:cNvPr id="323" name="Google Shape;323;h32a9095667746e33_0_68"/>
              <p:cNvSpPr/>
              <p:nvPr/>
            </p:nvSpPr>
            <p:spPr>
              <a:xfrm>
                <a:off x="0" y="0"/>
                <a:ext cx="1758210" cy="10298040"/>
              </a:xfrm>
              <a:custGeom>
                <a:avLst/>
                <a:gdLst/>
                <a:ahLst/>
                <a:cxnLst/>
                <a:rect l="l" t="t" r="r" b="b"/>
                <a:pathLst>
                  <a:path w="1758210" h="10298040" extrusionOk="0">
                    <a:moveTo>
                      <a:pt x="0" y="0"/>
                    </a:moveTo>
                    <a:lnTo>
                      <a:pt x="1758210" y="0"/>
                    </a:lnTo>
                    <a:lnTo>
                      <a:pt x="1758210" y="10298040"/>
                    </a:lnTo>
                    <a:lnTo>
                      <a:pt x="0" y="10298040"/>
                    </a:lnTo>
                    <a:close/>
                  </a:path>
                </a:pathLst>
              </a:custGeom>
              <a:solidFill>
                <a:srgbClr val="94B6DA"/>
              </a:solidFill>
              <a:ln>
                <a:noFill/>
              </a:ln>
            </p:spPr>
          </p:sp>
          <p:sp>
            <p:nvSpPr>
              <p:cNvPr id="324" name="Google Shape;324;h32a9095667746e33_0_68"/>
              <p:cNvSpPr txBox="1"/>
              <p:nvPr/>
            </p:nvSpPr>
            <p:spPr>
              <a:xfrm>
                <a:off x="0" y="-38100"/>
                <a:ext cx="1758300" cy="10336200"/>
              </a:xfrm>
              <a:prstGeom prst="rect">
                <a:avLst/>
              </a:prstGeom>
              <a:noFill/>
              <a:ln>
                <a:noFill/>
              </a:ln>
            </p:spPr>
            <p:txBody>
              <a:bodyPr spcFirstLastPara="1" wrap="square" lIns="27000" tIns="27000" rIns="27000" bIns="27000"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5" name="Google Shape;325;h32a9095667746e33_0_68"/>
          <p:cNvGrpSpPr/>
          <p:nvPr/>
        </p:nvGrpSpPr>
        <p:grpSpPr>
          <a:xfrm>
            <a:off x="731085" y="622850"/>
            <a:ext cx="16825838" cy="9050174"/>
            <a:chOff x="0" y="-108814"/>
            <a:chExt cx="22434451" cy="12066898"/>
          </a:xfrm>
        </p:grpSpPr>
        <p:grpSp>
          <p:nvGrpSpPr>
            <p:cNvPr id="326" name="Google Shape;326;h32a9095667746e33_0_68"/>
            <p:cNvGrpSpPr/>
            <p:nvPr/>
          </p:nvGrpSpPr>
          <p:grpSpPr>
            <a:xfrm>
              <a:off x="26537" y="10214891"/>
              <a:ext cx="22386840" cy="1743193"/>
              <a:chOff x="0" y="-47625"/>
              <a:chExt cx="9809754" cy="763855"/>
            </a:xfrm>
          </p:grpSpPr>
          <p:sp>
            <p:nvSpPr>
              <p:cNvPr id="327" name="Google Shape;327;h32a9095667746e33_0_68"/>
              <p:cNvSpPr/>
              <p:nvPr/>
            </p:nvSpPr>
            <p:spPr>
              <a:xfrm>
                <a:off x="0" y="0"/>
                <a:ext cx="9809754" cy="716230"/>
              </a:xfrm>
              <a:custGeom>
                <a:avLst/>
                <a:gdLst/>
                <a:ahLst/>
                <a:cxnLst/>
                <a:rect l="l" t="t" r="r" b="b"/>
                <a:pathLst>
                  <a:path w="9809754" h="716230" extrusionOk="0">
                    <a:moveTo>
                      <a:pt x="0" y="0"/>
                    </a:moveTo>
                    <a:lnTo>
                      <a:pt x="9809754" y="0"/>
                    </a:lnTo>
                    <a:lnTo>
                      <a:pt x="9809754" y="716230"/>
                    </a:lnTo>
                    <a:lnTo>
                      <a:pt x="0" y="716230"/>
                    </a:lnTo>
                    <a:close/>
                  </a:path>
                </a:pathLst>
              </a:custGeom>
              <a:solidFill>
                <a:srgbClr val="20538B"/>
              </a:solidFill>
              <a:ln w="38100" cap="sq" cmpd="sng">
                <a:solidFill>
                  <a:srgbClr val="20538B"/>
                </a:solidFill>
                <a:prstDash val="solid"/>
                <a:miter lim="8000"/>
                <a:headEnd type="none" w="sm" len="sm"/>
                <a:tailEnd type="none" w="sm" len="sm"/>
              </a:ln>
            </p:spPr>
          </p:sp>
          <p:sp>
            <p:nvSpPr>
              <p:cNvPr id="328" name="Google Shape;328;h32a9095667746e33_0_68"/>
              <p:cNvSpPr txBox="1"/>
              <p:nvPr/>
            </p:nvSpPr>
            <p:spPr>
              <a:xfrm>
                <a:off x="0" y="-47625"/>
                <a:ext cx="9809700" cy="7638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h32a9095667746e33_0_68"/>
            <p:cNvGrpSpPr/>
            <p:nvPr/>
          </p:nvGrpSpPr>
          <p:grpSpPr>
            <a:xfrm>
              <a:off x="0" y="-108814"/>
              <a:ext cx="22434451" cy="11946166"/>
              <a:chOff x="0" y="-47625"/>
              <a:chExt cx="9819000" cy="5228539"/>
            </a:xfrm>
          </p:grpSpPr>
          <p:sp>
            <p:nvSpPr>
              <p:cNvPr id="330" name="Google Shape;330;h32a9095667746e33_0_68"/>
              <p:cNvSpPr/>
              <p:nvPr/>
            </p:nvSpPr>
            <p:spPr>
              <a:xfrm>
                <a:off x="0" y="0"/>
                <a:ext cx="9818922" cy="5180914"/>
              </a:xfrm>
              <a:custGeom>
                <a:avLst/>
                <a:gdLst/>
                <a:ahLst/>
                <a:cxnLst/>
                <a:rect l="l" t="t" r="r" b="b"/>
                <a:pathLst>
                  <a:path w="9818922" h="5180914" extrusionOk="0">
                    <a:moveTo>
                      <a:pt x="0" y="0"/>
                    </a:moveTo>
                    <a:lnTo>
                      <a:pt x="9818922" y="0"/>
                    </a:lnTo>
                    <a:lnTo>
                      <a:pt x="9818922" y="5180914"/>
                    </a:lnTo>
                    <a:lnTo>
                      <a:pt x="0" y="5180914"/>
                    </a:lnTo>
                    <a:close/>
                  </a:path>
                </a:pathLst>
              </a:custGeom>
              <a:solidFill>
                <a:srgbClr val="FFFFFF"/>
              </a:solidFill>
              <a:ln w="38100" cap="sq" cmpd="sng">
                <a:solidFill>
                  <a:srgbClr val="20538B"/>
                </a:solidFill>
                <a:prstDash val="solid"/>
                <a:miter lim="8000"/>
                <a:headEnd type="none" w="sm" len="sm"/>
                <a:tailEnd type="none" w="sm" len="sm"/>
              </a:ln>
            </p:spPr>
          </p:sp>
          <p:sp>
            <p:nvSpPr>
              <p:cNvPr id="331" name="Google Shape;331;h32a9095667746e33_0_68"/>
              <p:cNvSpPr txBox="1"/>
              <p:nvPr/>
            </p:nvSpPr>
            <p:spPr>
              <a:xfrm>
                <a:off x="0" y="-47625"/>
                <a:ext cx="9819000" cy="5228400"/>
              </a:xfrm>
              <a:prstGeom prst="rect">
                <a:avLst/>
              </a:prstGeom>
              <a:noFill/>
              <a:ln>
                <a:noFill/>
              </a:ln>
            </p:spPr>
            <p:txBody>
              <a:bodyPr spcFirstLastPara="1" wrap="square" lIns="50800" tIns="50800" rIns="50800" bIns="50800" anchor="ctr" anchorCtr="0">
                <a:noAutofit/>
              </a:bodyPr>
              <a:lstStyle/>
              <a:p>
                <a:pPr marL="0" marR="0" lvl="0" indent="0" algn="ctr" rtl="0">
                  <a:lnSpc>
                    <a:spcPct val="17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h32a9095667746e33_0_68"/>
          <p:cNvGrpSpPr/>
          <p:nvPr/>
        </p:nvGrpSpPr>
        <p:grpSpPr>
          <a:xfrm>
            <a:off x="763743" y="662704"/>
            <a:ext cx="16759942" cy="1561150"/>
            <a:chOff x="0" y="-38100"/>
            <a:chExt cx="8581200" cy="799319"/>
          </a:xfrm>
        </p:grpSpPr>
        <p:sp>
          <p:nvSpPr>
            <p:cNvPr id="333" name="Google Shape;333;h32a9095667746e33_0_68"/>
            <p:cNvSpPr/>
            <p:nvPr/>
          </p:nvSpPr>
          <p:spPr>
            <a:xfrm>
              <a:off x="0" y="0"/>
              <a:ext cx="8581180" cy="761219"/>
            </a:xfrm>
            <a:custGeom>
              <a:avLst/>
              <a:gdLst/>
              <a:ahLst/>
              <a:cxnLst/>
              <a:rect l="l" t="t" r="r" b="b"/>
              <a:pathLst>
                <a:path w="8581180" h="761219" extrusionOk="0">
                  <a:moveTo>
                    <a:pt x="0" y="0"/>
                  </a:moveTo>
                  <a:lnTo>
                    <a:pt x="8581180" y="0"/>
                  </a:lnTo>
                  <a:lnTo>
                    <a:pt x="8581180" y="761219"/>
                  </a:lnTo>
                  <a:lnTo>
                    <a:pt x="0" y="761219"/>
                  </a:lnTo>
                  <a:close/>
                </a:path>
              </a:pathLst>
            </a:custGeom>
            <a:solidFill>
              <a:srgbClr val="EEF6FF"/>
            </a:solidFill>
            <a:ln w="9525" cap="sq" cmpd="sng">
              <a:solidFill>
                <a:srgbClr val="20538B"/>
              </a:solidFill>
              <a:prstDash val="solid"/>
              <a:miter lim="8000"/>
              <a:headEnd type="none" w="sm" len="sm"/>
              <a:tailEnd type="none" w="sm" len="sm"/>
            </a:ln>
          </p:spPr>
        </p:sp>
        <p:sp>
          <p:nvSpPr>
            <p:cNvPr id="334" name="Google Shape;334;h32a9095667746e33_0_68"/>
            <p:cNvSpPr txBox="1"/>
            <p:nvPr/>
          </p:nvSpPr>
          <p:spPr>
            <a:xfrm>
              <a:off x="0" y="-38100"/>
              <a:ext cx="8581200" cy="799200"/>
            </a:xfrm>
            <a:prstGeom prst="rect">
              <a:avLst/>
            </a:prstGeom>
            <a:noFill/>
            <a:ln>
              <a:noFill/>
            </a:ln>
          </p:spPr>
          <p:txBody>
            <a:bodyPr spcFirstLastPara="1" wrap="square" lIns="39175" tIns="39175" rIns="39175" bIns="39175" anchor="ctr" anchorCtr="0">
              <a:noAutofit/>
            </a:bodyPr>
            <a:lstStyle/>
            <a:p>
              <a:pPr marL="0" marR="0" lvl="0" indent="0" algn="ctr" rtl="0">
                <a:lnSpc>
                  <a:spcPct val="155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h32a9095667746e33_0_68"/>
          <p:cNvSpPr/>
          <p:nvPr/>
        </p:nvSpPr>
        <p:spPr>
          <a:xfrm>
            <a:off x="15531691" y="160918"/>
            <a:ext cx="996214" cy="1021758"/>
          </a:xfrm>
          <a:custGeom>
            <a:avLst/>
            <a:gdLst/>
            <a:ahLst/>
            <a:cxnLst/>
            <a:rect l="l" t="t" r="r" b="b"/>
            <a:pathLst>
              <a:path w="996214" h="1021758" extrusionOk="0">
                <a:moveTo>
                  <a:pt x="0" y="0"/>
                </a:moveTo>
                <a:lnTo>
                  <a:pt x="996214" y="0"/>
                </a:lnTo>
                <a:lnTo>
                  <a:pt x="996214" y="1021758"/>
                </a:lnTo>
                <a:lnTo>
                  <a:pt x="0" y="1021758"/>
                </a:lnTo>
                <a:lnTo>
                  <a:pt x="0" y="0"/>
                </a:lnTo>
                <a:close/>
              </a:path>
            </a:pathLst>
          </a:custGeom>
          <a:blipFill rotWithShape="1">
            <a:blip r:embed="rId3">
              <a:alphaModFix/>
            </a:blip>
            <a:stretch>
              <a:fillRect/>
            </a:stretch>
          </a:blipFill>
          <a:ln>
            <a:noFill/>
          </a:ln>
        </p:spPr>
      </p:sp>
      <p:sp>
        <p:nvSpPr>
          <p:cNvPr id="336" name="Google Shape;336;h32a9095667746e33_0_68"/>
          <p:cNvSpPr/>
          <p:nvPr/>
        </p:nvSpPr>
        <p:spPr>
          <a:xfrm>
            <a:off x="2089657" y="2795323"/>
            <a:ext cx="6626200" cy="6016752"/>
          </a:xfrm>
          <a:custGeom>
            <a:avLst/>
            <a:gdLst/>
            <a:ahLst/>
            <a:cxnLst/>
            <a:rect l="l" t="t" r="r" b="b"/>
            <a:pathLst>
              <a:path w="895130" h="812800" extrusionOk="0">
                <a:moveTo>
                  <a:pt x="0" y="0"/>
                </a:moveTo>
                <a:lnTo>
                  <a:pt x="895130" y="0"/>
                </a:lnTo>
                <a:lnTo>
                  <a:pt x="895130" y="812800"/>
                </a:lnTo>
                <a:lnTo>
                  <a:pt x="0" y="812800"/>
                </a:lnTo>
                <a:close/>
              </a:path>
            </a:pathLst>
          </a:custGeom>
          <a:blipFill rotWithShape="1">
            <a:blip r:embed="rId4">
              <a:alphaModFix/>
            </a:blip>
            <a:stretch>
              <a:fillRect/>
            </a:stretch>
          </a:blipFill>
          <a:ln w="19050" cap="sq" cmpd="sng">
            <a:solidFill>
              <a:srgbClr val="20538B"/>
            </a:solidFill>
            <a:prstDash val="solid"/>
            <a:miter lim="8000"/>
            <a:headEnd type="none" w="sm" len="sm"/>
            <a:tailEnd type="none" w="sm" len="sm"/>
          </a:ln>
        </p:spPr>
      </p:sp>
      <p:sp>
        <p:nvSpPr>
          <p:cNvPr id="337" name="Google Shape;337;h32a9095667746e33_0_68"/>
          <p:cNvSpPr/>
          <p:nvPr/>
        </p:nvSpPr>
        <p:spPr>
          <a:xfrm>
            <a:off x="9363698" y="3007766"/>
            <a:ext cx="272321" cy="272321"/>
          </a:xfrm>
          <a:custGeom>
            <a:avLst/>
            <a:gdLst/>
            <a:ahLst/>
            <a:cxnLst/>
            <a:rect l="l" t="t" r="r" b="b"/>
            <a:pathLst>
              <a:path w="272321" h="272321" extrusionOk="0">
                <a:moveTo>
                  <a:pt x="0" y="0"/>
                </a:moveTo>
                <a:lnTo>
                  <a:pt x="272321" y="0"/>
                </a:lnTo>
                <a:lnTo>
                  <a:pt x="272321" y="272321"/>
                </a:lnTo>
                <a:lnTo>
                  <a:pt x="0" y="272321"/>
                </a:lnTo>
                <a:lnTo>
                  <a:pt x="0" y="0"/>
                </a:lnTo>
                <a:close/>
              </a:path>
            </a:pathLst>
          </a:custGeom>
          <a:blipFill rotWithShape="1">
            <a:blip r:embed="rId5">
              <a:alphaModFix/>
            </a:blip>
            <a:stretch>
              <a:fillRect/>
            </a:stretch>
          </a:blipFill>
          <a:ln>
            <a:noFill/>
          </a:ln>
        </p:spPr>
      </p:sp>
      <p:sp>
        <p:nvSpPr>
          <p:cNvPr id="338" name="Google Shape;338;h32a9095667746e33_0_68"/>
          <p:cNvSpPr/>
          <p:nvPr/>
        </p:nvSpPr>
        <p:spPr>
          <a:xfrm>
            <a:off x="9363698" y="5956387"/>
            <a:ext cx="272321" cy="272321"/>
          </a:xfrm>
          <a:custGeom>
            <a:avLst/>
            <a:gdLst/>
            <a:ahLst/>
            <a:cxnLst/>
            <a:rect l="l" t="t" r="r" b="b"/>
            <a:pathLst>
              <a:path w="272321" h="272321" extrusionOk="0">
                <a:moveTo>
                  <a:pt x="0" y="0"/>
                </a:moveTo>
                <a:lnTo>
                  <a:pt x="272321" y="0"/>
                </a:lnTo>
                <a:lnTo>
                  <a:pt x="272321" y="272322"/>
                </a:lnTo>
                <a:lnTo>
                  <a:pt x="0" y="272322"/>
                </a:lnTo>
                <a:lnTo>
                  <a:pt x="0" y="0"/>
                </a:lnTo>
                <a:close/>
              </a:path>
            </a:pathLst>
          </a:custGeom>
          <a:blipFill rotWithShape="1">
            <a:blip r:embed="rId5">
              <a:alphaModFix/>
            </a:blip>
            <a:stretch>
              <a:fillRect/>
            </a:stretch>
          </a:blipFill>
          <a:ln>
            <a:noFill/>
          </a:ln>
        </p:spPr>
      </p:sp>
      <p:sp>
        <p:nvSpPr>
          <p:cNvPr id="339" name="Google Shape;339;h32a9095667746e33_0_68"/>
          <p:cNvSpPr/>
          <p:nvPr/>
        </p:nvSpPr>
        <p:spPr>
          <a:xfrm>
            <a:off x="9757649" y="6649649"/>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0" name="Google Shape;340;h32a9095667746e33_0_68"/>
          <p:cNvSpPr/>
          <p:nvPr/>
        </p:nvSpPr>
        <p:spPr>
          <a:xfrm>
            <a:off x="9757649" y="7203687"/>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1" name="Google Shape;341;h32a9095667746e33_0_68"/>
          <p:cNvSpPr/>
          <p:nvPr/>
        </p:nvSpPr>
        <p:spPr>
          <a:xfrm>
            <a:off x="9757649" y="7757725"/>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2" name="Google Shape;342;h32a9095667746e33_0_68"/>
          <p:cNvSpPr/>
          <p:nvPr/>
        </p:nvSpPr>
        <p:spPr>
          <a:xfrm>
            <a:off x="9757649" y="8311763"/>
            <a:ext cx="311065" cy="230188"/>
          </a:xfrm>
          <a:custGeom>
            <a:avLst/>
            <a:gdLst/>
            <a:ahLst/>
            <a:cxnLst/>
            <a:rect l="l" t="t" r="r" b="b"/>
            <a:pathLst>
              <a:path w="311065" h="230188" extrusionOk="0">
                <a:moveTo>
                  <a:pt x="0" y="0"/>
                </a:moveTo>
                <a:lnTo>
                  <a:pt x="311065" y="0"/>
                </a:lnTo>
                <a:lnTo>
                  <a:pt x="311065" y="230188"/>
                </a:lnTo>
                <a:lnTo>
                  <a:pt x="0" y="230188"/>
                </a:lnTo>
                <a:lnTo>
                  <a:pt x="0" y="0"/>
                </a:lnTo>
                <a:close/>
              </a:path>
            </a:pathLst>
          </a:custGeom>
          <a:blipFill rotWithShape="1">
            <a:blip r:embed="rId6">
              <a:alphaModFix/>
            </a:blip>
            <a:stretch>
              <a:fillRect/>
            </a:stretch>
          </a:blipFill>
          <a:ln>
            <a:noFill/>
          </a:ln>
        </p:spPr>
      </p:sp>
      <p:sp>
        <p:nvSpPr>
          <p:cNvPr id="343" name="Google Shape;343;h32a9095667746e33_0_68"/>
          <p:cNvSpPr txBox="1"/>
          <p:nvPr/>
        </p:nvSpPr>
        <p:spPr>
          <a:xfrm>
            <a:off x="2395002" y="893150"/>
            <a:ext cx="7885500" cy="2247300"/>
          </a:xfrm>
          <a:prstGeom prst="rect">
            <a:avLst/>
          </a:prstGeom>
          <a:noFill/>
          <a:ln>
            <a:noFill/>
          </a:ln>
        </p:spPr>
        <p:txBody>
          <a:bodyPr spcFirstLastPara="1" wrap="square" lIns="0" tIns="0" rIns="0" bIns="0" anchor="t" anchorCtr="0">
            <a:spAutoFit/>
          </a:bodyPr>
          <a:lstStyle/>
          <a:p>
            <a:pPr marL="0" marR="0" lvl="0" indent="0" algn="l" rtl="0">
              <a:lnSpc>
                <a:spcPct val="192000"/>
              </a:lnSpc>
              <a:spcBef>
                <a:spcPts val="0"/>
              </a:spcBef>
              <a:spcAft>
                <a:spcPts val="0"/>
              </a:spcAft>
              <a:buNone/>
            </a:pPr>
            <a:r>
              <a:rPr lang="en-US" sz="5000" b="1" i="0" u="none" strike="noStrike" cap="none">
                <a:solidFill>
                  <a:srgbClr val="20538B"/>
                </a:solidFill>
                <a:latin typeface="Arial"/>
                <a:ea typeface="Arial"/>
                <a:cs typeface="Arial"/>
                <a:sym typeface="Arial"/>
              </a:rPr>
              <a:t>검토 전 표시</a:t>
            </a:r>
            <a:endParaRPr/>
          </a:p>
          <a:p>
            <a:pPr marL="0" marR="0" lvl="0" indent="0" algn="l" rtl="0">
              <a:lnSpc>
                <a:spcPct val="192000"/>
              </a:lnSpc>
              <a:spcBef>
                <a:spcPts val="0"/>
              </a:spcBef>
              <a:spcAft>
                <a:spcPts val="0"/>
              </a:spcAft>
              <a:buNone/>
            </a:pPr>
            <a:endParaRPr sz="5000" b="1" i="0" u="none" strike="noStrike" cap="none">
              <a:solidFill>
                <a:srgbClr val="20538B"/>
              </a:solidFill>
              <a:latin typeface="Arial"/>
              <a:ea typeface="Arial"/>
              <a:cs typeface="Arial"/>
              <a:sym typeface="Arial"/>
            </a:endParaRPr>
          </a:p>
        </p:txBody>
      </p:sp>
      <p:sp>
        <p:nvSpPr>
          <p:cNvPr id="344" name="Google Shape;344;h32a9095667746e33_0_68"/>
          <p:cNvSpPr txBox="1"/>
          <p:nvPr/>
        </p:nvSpPr>
        <p:spPr>
          <a:xfrm>
            <a:off x="1143000" y="920715"/>
            <a:ext cx="1280160" cy="751200"/>
          </a:xfrm>
          <a:prstGeom prst="rect">
            <a:avLst/>
          </a:prstGeom>
          <a:noFill/>
          <a:ln>
            <a:noFill/>
          </a:ln>
        </p:spPr>
        <p:txBody>
          <a:bodyPr spcFirstLastPara="1" wrap="square" lIns="0" tIns="0" rIns="0" bIns="0" anchor="t" anchorCtr="0">
            <a:spAutoFit/>
          </a:bodyPr>
          <a:lstStyle/>
          <a:p>
            <a:pPr marL="0" marR="0" lvl="0" indent="0" algn="l" rtl="0">
              <a:lnSpc>
                <a:spcPct val="192009"/>
              </a:lnSpc>
              <a:spcBef>
                <a:spcPts val="0"/>
              </a:spcBef>
              <a:spcAft>
                <a:spcPts val="0"/>
              </a:spcAft>
              <a:buNone/>
            </a:pPr>
            <a:r>
              <a:rPr lang="en-US" sz="3600" b="1" i="0" u="none" strike="noStrike" cap="none">
                <a:solidFill>
                  <a:srgbClr val="CBDDEF"/>
                </a:solidFill>
                <a:latin typeface="Arial"/>
                <a:ea typeface="Arial"/>
                <a:cs typeface="Arial"/>
                <a:sym typeface="Arial"/>
              </a:rPr>
              <a:t>Q10</a:t>
            </a:r>
            <a:endParaRPr/>
          </a:p>
        </p:txBody>
      </p:sp>
      <p:sp>
        <p:nvSpPr>
          <p:cNvPr id="345" name="Google Shape;345;h32a9095667746e33_0_68"/>
          <p:cNvSpPr txBox="1"/>
          <p:nvPr/>
        </p:nvSpPr>
        <p:spPr>
          <a:xfrm>
            <a:off x="9757649" y="285396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질문</a:t>
            </a:r>
            <a:endParaRPr/>
          </a:p>
        </p:txBody>
      </p:sp>
      <p:sp>
        <p:nvSpPr>
          <p:cNvPr id="346" name="Google Shape;346;h32a9095667746e33_0_68"/>
          <p:cNvSpPr txBox="1"/>
          <p:nvPr/>
        </p:nvSpPr>
        <p:spPr>
          <a:xfrm>
            <a:off x="9757649" y="3597209"/>
            <a:ext cx="6567300" cy="1995000"/>
          </a:xfrm>
          <a:prstGeom prst="rect">
            <a:avLst/>
          </a:prstGeom>
          <a:noFill/>
          <a:ln>
            <a:noFill/>
          </a:ln>
        </p:spPr>
        <p:txBody>
          <a:bodyPr spcFirstLastPara="1" wrap="square" lIns="0" tIns="0" rIns="0" bIns="0" anchor="t" anchorCtr="0">
            <a:spAutoFit/>
          </a:bodyPr>
          <a:lstStyle/>
          <a:p>
            <a:pPr marL="0" marR="0" lvl="0" indent="0" algn="l" rtl="0">
              <a:lnSpc>
                <a:spcPct val="155000"/>
              </a:lnSpc>
              <a:spcBef>
                <a:spcPts val="0"/>
              </a:spcBef>
              <a:spcAft>
                <a:spcPts val="0"/>
              </a:spcAft>
              <a:buNone/>
            </a:pPr>
            <a:r>
              <a:rPr lang="en-US" sz="1800" b="0" i="0" u="none" strike="noStrike" cap="none">
                <a:solidFill>
                  <a:srgbClr val="94B6DA"/>
                </a:solidFill>
                <a:latin typeface="Arial"/>
                <a:ea typeface="Arial"/>
                <a:cs typeface="Arial"/>
                <a:sym typeface="Arial"/>
              </a:rPr>
              <a:t>AI가 법령과 인증기준을 자동으로 매핑했는데, 왜 '검토 전' 상태를 따로 두었나요?</a:t>
            </a:r>
            <a:endParaRPr/>
          </a:p>
        </p:txBody>
      </p:sp>
      <p:sp>
        <p:nvSpPr>
          <p:cNvPr id="347" name="Google Shape;347;h32a9095667746e33_0_68"/>
          <p:cNvSpPr txBox="1"/>
          <p:nvPr/>
        </p:nvSpPr>
        <p:spPr>
          <a:xfrm>
            <a:off x="9757649" y="5797273"/>
            <a:ext cx="6140400" cy="43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1" i="0" u="none" strike="noStrike" cap="none">
                <a:solidFill>
                  <a:srgbClr val="20538B"/>
                </a:solidFill>
                <a:latin typeface="Arial"/>
                <a:ea typeface="Arial"/>
                <a:cs typeface="Arial"/>
                <a:sym typeface="Arial"/>
              </a:rPr>
              <a:t>답변 요점</a:t>
            </a:r>
            <a:endParaRPr/>
          </a:p>
        </p:txBody>
      </p:sp>
      <p:sp>
        <p:nvSpPr>
          <p:cNvPr id="348" name="Google Shape;348;h32a9095667746e33_0_68"/>
          <p:cNvSpPr txBox="1"/>
          <p:nvPr/>
        </p:nvSpPr>
        <p:spPr>
          <a:xfrm>
            <a:off x="10280413" y="6397348"/>
            <a:ext cx="4957200" cy="2357400"/>
          </a:xfrm>
          <a:prstGeom prst="rect">
            <a:avLst/>
          </a:prstGeom>
          <a:noFill/>
          <a:ln>
            <a:noFill/>
          </a:ln>
        </p:spPr>
        <p:txBody>
          <a:bodyPr spcFirstLastPara="1" wrap="square" lIns="0" tIns="0" rIns="0" bIns="0" anchor="t" anchorCtr="0">
            <a:spAutoFit/>
          </a:bodyPr>
          <a:lstStyle/>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module3가 reviewed: False로 전달</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보고서에 '검토 전' 배지</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LLM은 '위반 소지'로만 서술</a:t>
            </a:r>
            <a:endParaRPr/>
          </a:p>
          <a:p>
            <a:pPr marL="0" marR="0" lvl="0" indent="0" algn="l" rtl="0">
              <a:lnSpc>
                <a:spcPct val="222061"/>
              </a:lnSpc>
              <a:spcBef>
                <a:spcPts val="0"/>
              </a:spcBef>
              <a:spcAft>
                <a:spcPts val="0"/>
              </a:spcAft>
              <a:buNone/>
            </a:pPr>
            <a:r>
              <a:rPr lang="en-US" sz="1999" b="0" i="0" u="none" strike="noStrike" cap="none">
                <a:solidFill>
                  <a:srgbClr val="20538B"/>
                </a:solidFill>
                <a:latin typeface="Arial"/>
                <a:ea typeface="Arial"/>
                <a:cs typeface="Arial"/>
                <a:sym typeface="Arial"/>
              </a:rPr>
              <a:t>검토 전 건수를 결론에 명시</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5050</Words>
  <Application>Microsoft Macintosh PowerPoint</Application>
  <PresentationFormat>사용자 지정</PresentationFormat>
  <Paragraphs>396</Paragraphs>
  <Slides>24</Slides>
  <Notes>24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24</vt:i4>
      </vt:variant>
    </vt:vector>
  </HeadingPairs>
  <TitlesOfParts>
    <vt:vector size="28" baseType="lpstr">
      <vt:lpstr>Calibri</vt:lpstr>
      <vt:lpstr>Arial</vt:lpstr>
      <vt:lpstr>Poppins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L2tmaniac</cp:lastModifiedBy>
  <cp:revision>1</cp:revision>
  <dcterms:created xsi:type="dcterms:W3CDTF">2006-08-16T00:00:00Z</dcterms:created>
  <dcterms:modified xsi:type="dcterms:W3CDTF">2026-10-06T22:51:04Z</dcterms:modified>
</cp:coreProperties>
</file>